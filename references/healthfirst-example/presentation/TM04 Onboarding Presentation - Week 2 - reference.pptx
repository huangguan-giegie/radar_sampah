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5b2a36c87f410f" /><Relationship Type="http://schemas.openxmlformats.org/officeDocument/2006/relationships/extended-properties" Target="/docProps/app.xml" Id="R7c14d871239344f2" /><Relationship Type="http://schemas.openxmlformats.org/officeDocument/2006/relationships/officeDocument" Target="/ppt/presentation.xml" Id="R89cb56950abc4d40" /></Relationships>
</file>

<file path=ppt/presentation.xml><?xml version="1.0" encoding="utf-8"?>
<p:presentation xmlns:p="http://schemas.openxmlformats.org/presentationml/2006/main">
  <p:sldMasterIdLst>
    <p:sldMasterId xmlns:r="http://schemas.openxmlformats.org/officeDocument/2006/relationships" id="2147483648" r:id="Rf7aaadd78f7e4ef9"/>
    <p:sldMasterId xmlns:r="http://schemas.openxmlformats.org/officeDocument/2006/relationships" id="2147483660" r:id="R19a2ff4242d54918"/>
    <p:sldMasterId xmlns:r="http://schemas.openxmlformats.org/officeDocument/2006/relationships" id="2147483673" r:id="Rb135659fd00a492e"/>
  </p:sldMasterIdLst>
  <p:notesMasterIdLst>
    <p:notesMasterId xmlns:r="http://schemas.openxmlformats.org/officeDocument/2006/relationships" r:id="R038d892e78a54491"/>
  </p:notesMasterIdLst>
  <p:sldIdLst>
    <p:sldId xmlns:r="http://schemas.openxmlformats.org/officeDocument/2006/relationships" id="256" r:id="R1a42bca03f0a4767"/>
    <p:sldId xmlns:r="http://schemas.openxmlformats.org/officeDocument/2006/relationships" id="257" r:id="Rcc9add331a9d4a00"/>
    <p:sldId xmlns:r="http://schemas.openxmlformats.org/officeDocument/2006/relationships" id="258" r:id="R0c0dbebcd7974d32"/>
    <p:sldId xmlns:r="http://schemas.openxmlformats.org/officeDocument/2006/relationships" id="259" r:id="R565fabae5f6843c3"/>
    <p:sldId xmlns:r="http://schemas.openxmlformats.org/officeDocument/2006/relationships" id="260" r:id="Rb2642390920443d7"/>
    <p:sldId xmlns:r="http://schemas.openxmlformats.org/officeDocument/2006/relationships" id="261" r:id="Rb01590668d4146ce"/>
    <p:sldId xmlns:r="http://schemas.openxmlformats.org/officeDocument/2006/relationships" id="262" r:id="R515f665d351942e5"/>
    <p:sldId xmlns:r="http://schemas.openxmlformats.org/officeDocument/2006/relationships" id="263" r:id="R869b7f8203044124"/>
    <p:sldId xmlns:r="http://schemas.openxmlformats.org/officeDocument/2006/relationships" id="264" r:id="R57ce8e68d7ca4179"/>
    <p:sldId xmlns:r="http://schemas.openxmlformats.org/officeDocument/2006/relationships" id="265" r:id="R07e2dc7b8d7f46da"/>
    <p:sldId xmlns:r="http://schemas.openxmlformats.org/officeDocument/2006/relationships" id="266" r:id="Rf29177a5a69b4f16"/>
    <p:sldId xmlns:r="http://schemas.openxmlformats.org/officeDocument/2006/relationships" id="267" r:id="R66a38705a7fe4880"/>
    <p:sldId xmlns:r="http://schemas.openxmlformats.org/officeDocument/2006/relationships" id="268" r:id="R89eb392cb50b4867"/>
    <p:sldId xmlns:r="http://schemas.openxmlformats.org/officeDocument/2006/relationships" id="269" r:id="R614f142cdc2c4a0b"/>
    <p:sldId xmlns:r="http://schemas.openxmlformats.org/officeDocument/2006/relationships" id="270" r:id="R0e8a4f49c3094ec8"/>
    <p:sldId xmlns:r="http://schemas.openxmlformats.org/officeDocument/2006/relationships" id="271" r:id="R56f9746a7a114b20"/>
    <p:sldId xmlns:r="http://schemas.openxmlformats.org/officeDocument/2006/relationships" id="272" r:id="Rbf8881bb9d354b51"/>
    <p:sldId xmlns:r="http://schemas.openxmlformats.org/officeDocument/2006/relationships" id="273" r:id="R7db2c9886589444e"/>
    <p:sldId xmlns:r="http://schemas.openxmlformats.org/officeDocument/2006/relationships" id="274" r:id="R7d8433440ff6442f"/>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D028F1B8-63C7-492C-981C-25FE4FEC3208}">
  <a:tblStyle styleId="{D028F1B8-63C7-492C-981C-25FE4FEC320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df67bccf0174511" /><Relationship Type="http://schemas.openxmlformats.org/officeDocument/2006/relationships/slideMaster" Target="/ppt/slideMasters/slideMaster1.xml" Id="Rf7aaadd78f7e4ef9" /><Relationship Type="http://schemas.openxmlformats.org/officeDocument/2006/relationships/slideMaster" Target="/ppt/slideMasters/slideMaster2.xml" Id="R19a2ff4242d54918" /><Relationship Type="http://schemas.openxmlformats.org/officeDocument/2006/relationships/slideMaster" Target="/ppt/slideMasters/slideMaster3.xml" Id="Rb135659fd00a492e" /><Relationship Type="http://schemas.openxmlformats.org/officeDocument/2006/relationships/notesMaster" Target="/ppt/notesMasters/notesMaster1.xml" Id="R038d892e78a54491" /><Relationship Type="http://schemas.openxmlformats.org/officeDocument/2006/relationships/presProps" Target="/ppt/presProps.xml" Id="R5ccf541c334d4886" /><Relationship Type="http://schemas.openxmlformats.org/officeDocument/2006/relationships/viewProps" Target="/ppt/viewProps.xml" Id="R5ac5f223f99e4e6d" /><Relationship Type="http://schemas.openxmlformats.org/officeDocument/2006/relationships/tableStyles" Target="/ppt/tableStyles.xml" Id="Rd37c2d2db543448c" /><Relationship Type="http://schemas.openxmlformats.org/officeDocument/2006/relationships/slide" Target="/ppt/slides/slide1.xml" Id="R1a42bca03f0a4767" /><Relationship Type="http://schemas.openxmlformats.org/officeDocument/2006/relationships/slide" Target="/ppt/slides/slide2.xml" Id="Rcc9add331a9d4a00" /><Relationship Type="http://schemas.openxmlformats.org/officeDocument/2006/relationships/slide" Target="/ppt/slides/slide3.xml" Id="R0c0dbebcd7974d32" /><Relationship Type="http://schemas.openxmlformats.org/officeDocument/2006/relationships/slide" Target="/ppt/slides/slide4.xml" Id="R565fabae5f6843c3" /><Relationship Type="http://schemas.openxmlformats.org/officeDocument/2006/relationships/slide" Target="/ppt/slides/slide5.xml" Id="Rb2642390920443d7" /><Relationship Type="http://schemas.openxmlformats.org/officeDocument/2006/relationships/slide" Target="/ppt/slides/slide6.xml" Id="Rb01590668d4146ce" /><Relationship Type="http://schemas.openxmlformats.org/officeDocument/2006/relationships/slide" Target="/ppt/slides/slide7.xml" Id="R515f665d351942e5" /><Relationship Type="http://schemas.openxmlformats.org/officeDocument/2006/relationships/slide" Target="/ppt/slides/slide8.xml" Id="R869b7f8203044124" /><Relationship Type="http://schemas.openxmlformats.org/officeDocument/2006/relationships/slide" Target="/ppt/slides/slide9.xml" Id="R57ce8e68d7ca4179" /><Relationship Type="http://schemas.openxmlformats.org/officeDocument/2006/relationships/slide" Target="/ppt/slides/slide10.xml" Id="R07e2dc7b8d7f46da" /><Relationship Type="http://schemas.openxmlformats.org/officeDocument/2006/relationships/slide" Target="/ppt/slides/slide11.xml" Id="Rf29177a5a69b4f16" /><Relationship Type="http://schemas.openxmlformats.org/officeDocument/2006/relationships/slide" Target="/ppt/slides/slide12.xml" Id="R66a38705a7fe4880" /><Relationship Type="http://schemas.openxmlformats.org/officeDocument/2006/relationships/slide" Target="/ppt/slides/slide13.xml" Id="R89eb392cb50b4867" /><Relationship Type="http://schemas.openxmlformats.org/officeDocument/2006/relationships/slide" Target="/ppt/slides/slide14.xml" Id="R614f142cdc2c4a0b" /><Relationship Type="http://schemas.openxmlformats.org/officeDocument/2006/relationships/slide" Target="/ppt/slides/slide15.xml" Id="R0e8a4f49c3094ec8" /><Relationship Type="http://schemas.openxmlformats.org/officeDocument/2006/relationships/slide" Target="/ppt/slides/slide16.xml" Id="R56f9746a7a114b20" /><Relationship Type="http://schemas.openxmlformats.org/officeDocument/2006/relationships/slide" Target="/ppt/slides/slide17.xml" Id="Rbf8881bb9d354b51" /><Relationship Type="http://schemas.openxmlformats.org/officeDocument/2006/relationships/slide" Target="/ppt/slides/slide18.xml" Id="R7db2c9886589444e" /><Relationship Type="http://schemas.openxmlformats.org/officeDocument/2006/relationships/slide" Target="/ppt/slides/slide19.xml" Id="R7d8433440ff644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f0194de8eb694a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bf95201815461a" /><Relationship Type="http://schemas.openxmlformats.org/officeDocument/2006/relationships/notesMaster" Target="/ppt/notesMasters/notesMaster1.xml" Id="R34ddf2754ea848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5e0fdd8cc6444c" /><Relationship Type="http://schemas.openxmlformats.org/officeDocument/2006/relationships/notesMaster" Target="/ppt/notesMasters/notesMaster1.xml" Id="R5407adc01abd43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5964ada60f4888" /><Relationship Type="http://schemas.openxmlformats.org/officeDocument/2006/relationships/notesMaster" Target="/ppt/notesMasters/notesMaster1.xml" Id="Rfb99ca3b441a48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a861df49fd4f5e" /><Relationship Type="http://schemas.openxmlformats.org/officeDocument/2006/relationships/notesMaster" Target="/ppt/notesMasters/notesMaster1.xml" Id="R5f1c9ad4975c48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ff3390e5b14ca3" /><Relationship Type="http://schemas.openxmlformats.org/officeDocument/2006/relationships/notesMaster" Target="/ppt/notesMasters/notesMaster1.xml" Id="R0644bdd06c404b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38b360437a4e38" /><Relationship Type="http://schemas.openxmlformats.org/officeDocument/2006/relationships/notesMaster" Target="/ppt/notesMasters/notesMaster1.xml" Id="Rce2b396fa4d042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c09e33a2c74413" /><Relationship Type="http://schemas.openxmlformats.org/officeDocument/2006/relationships/notesMaster" Target="/ppt/notesMasters/notesMaster1.xml" Id="R209ef110fd3244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2c74dad4ad4255" /><Relationship Type="http://schemas.openxmlformats.org/officeDocument/2006/relationships/notesMaster" Target="/ppt/notesMasters/notesMaster1.xml" Id="Ra6556606ef174f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bf03d86aff49e6" /><Relationship Type="http://schemas.openxmlformats.org/officeDocument/2006/relationships/notesMaster" Target="/ppt/notesMasters/notesMaster1.xml" Id="R65cc32c2e98a4d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53762b4ad54684" /><Relationship Type="http://schemas.openxmlformats.org/officeDocument/2006/relationships/notesMaster" Target="/ppt/notesMasters/notesMaster1.xml" Id="R2ab4194ef4b545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4bbd8eb9dd43f8" /><Relationship Type="http://schemas.openxmlformats.org/officeDocument/2006/relationships/notesMaster" Target="/ppt/notesMasters/notesMaster1.xml" Id="Raa39ac4fde0a42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c55d8e0be64053" /><Relationship Type="http://schemas.openxmlformats.org/officeDocument/2006/relationships/notesMaster" Target="/ppt/notesMasters/notesMaster1.xml" Id="R88a44b95cda341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0895228197434e" /><Relationship Type="http://schemas.openxmlformats.org/officeDocument/2006/relationships/notesMaster" Target="/ppt/notesMasters/notesMaster1.xml" Id="R1753083a902f4b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87a21524e04796" /><Relationship Type="http://schemas.openxmlformats.org/officeDocument/2006/relationships/notesMaster" Target="/ppt/notesMasters/notesMaster1.xml" Id="R0ee693b4ffdf41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4678085a234e7c" /><Relationship Type="http://schemas.openxmlformats.org/officeDocument/2006/relationships/notesMaster" Target="/ppt/notesMasters/notesMaster1.xml" Id="R8da30ee303f0489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d75516f9264e6d" /><Relationship Type="http://schemas.openxmlformats.org/officeDocument/2006/relationships/notesMaster" Target="/ppt/notesMasters/notesMaster1.xml" Id="Rc40bb44de92a44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9d54ad06614909" /><Relationship Type="http://schemas.openxmlformats.org/officeDocument/2006/relationships/notesMaster" Target="/ppt/notesMasters/notesMaster1.xml" Id="R63d52501dabd43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a9b902503104500" /><Relationship Type="http://schemas.openxmlformats.org/officeDocument/2006/relationships/notesMaster" Target="/ppt/notesMasters/notesMaster1.xml" Id="R4b42f786b9e744c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a944d0ceddb4c4d" /><Relationship Type="http://schemas.openxmlformats.org/officeDocument/2006/relationships/notesMaster" Target="/ppt/notesMasters/notesMaster1.xml" Id="Rc00fe05143944f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[Sources]</a:t>
            </a:r>
          </a:p>
          <a:p xmlns:a="http://schemas.openxmlformats.org/drawingml/2006/main">
            <a:pPr marL="0" lvl="0" indent="0" algn="l">
              <a:spcBef>
                <a:spcPts val="0"/>
              </a:spcBef>
              <a:spcAft>
                <a:spcPts val="0"/>
              </a:spcAft>
              <a:buSzPts val="1200"/>
              <a:buNone/>
            </a:pPr>
            <a:r>
              <a:t>- Internal project source: TM04 Social Contract.docx, signed 1 August 2026.</a:t>
            </a:r>
          </a:p>
          <a:p xmlns:a="http://schemas.openxmlformats.org/drawingml/2006/main">
            <a:pPr marL="0" lvl="0" indent="0" algn="l">
              <a:spcBef>
                <a:spcPts val="0"/>
              </a:spcBef>
              <a:spcAft>
                <a:spcPts val="0"/>
              </a:spcAft>
              <a:buSzPts val="1200"/>
              <a:buNone/>
            </a:pPr>
            <a:r>
              <a:t>- Internal project source: Team 04 WhatsApp group, 1 August 2026, project flow and role discussion.</a:t>
            </a:r>
          </a:p>
          <a:p xmlns:a="http://schemas.openxmlformats.org/drawingml/2006/main">
            <a:pPr marL="0" lvl="0" indent="0" algn="l">
              <a:spcBef>
                <a:spcPts val="0"/>
              </a:spcBef>
              <a:spcAft>
                <a:spcPts val="0"/>
              </a:spcAft>
              <a:buSzPts val="120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Open with the elevator pitch. Say the headline, then give the 1-in-2 figure from NHMS 2023, then walk the three factors. Full narrative version of this statement is in the PGP.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Walk through the persona: who he is, then the three frustrations, then what motivates him. The full persona artefact with goals, previous experience and expectations sits in the PGP.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Anchored on one moment: the weeks after his company screening. The key link is Say and do to Pain — he does act, but the effort fades because nothing tells him what matters most.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[Sources]</a:t>
            </a:r>
          </a:p>
          <a:p xmlns:a="http://schemas.openxmlformats.org/drawingml/2006/main">
            <a:pPr marL="0" lvl="0" indent="0" algn="l">
              <a:spcBef>
                <a:spcPts val="0"/>
              </a:spcBef>
              <a:spcAft>
                <a:spcPts val="0"/>
              </a:spcAft>
              <a:buSzPts val="1200"/>
              <a:buNone/>
            </a:pPr>
            <a:r>
              <a:t>- Internal project source: TM04 Social Contract.docx, signed 1 August 2026.</a:t>
            </a:r>
          </a:p>
          <a:p xmlns:a="http://schemas.openxmlformats.org/drawingml/2006/main">
            <a:pPr marL="0" lvl="0" indent="0" algn="l">
              <a:spcBef>
                <a:spcPts val="0"/>
              </a:spcBef>
              <a:spcAft>
                <a:spcPts val="0"/>
              </a:spcAft>
              <a:buSzPts val="1200"/>
              <a:buNone/>
            </a:pPr>
            <a:r>
              <a:t>- Internal project source: Team 04 WhatsApp group, 1 August 2026, project flow and role discussion.</a:t>
            </a:r>
          </a:p>
          <a:p xmlns:a="http://schemas.openxmlformats.org/drawingml/2006/main">
            <a:pPr marL="0" lvl="0" indent="0" algn="l">
              <a:spcBef>
                <a:spcPts val="0"/>
              </a:spcBef>
              <a:spcAft>
                <a:spcPts val="0"/>
              </a:spcAft>
              <a:buSzPts val="120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[Sources]</a:t>
            </a:r>
          </a:p>
          <a:p xmlns:a="http://schemas.openxmlformats.org/drawingml/2006/main">
            <a:pPr marL="0" lvl="0" indent="0" algn="l">
              <a:spcBef>
                <a:spcPts val="0"/>
              </a:spcBef>
              <a:spcAft>
                <a:spcPts val="0"/>
              </a:spcAft>
              <a:buSzPts val="1200"/>
              <a:buNone/>
            </a:pPr>
            <a:r>
              <a:t>- Internal project source: TM04 Social Contract.docx, signed 1 August 2026.</a:t>
            </a:r>
          </a:p>
          <a:p xmlns:a="http://schemas.openxmlformats.org/drawingml/2006/main">
            <a:pPr marL="0" lvl="0" indent="0" algn="l">
              <a:spcBef>
                <a:spcPts val="0"/>
              </a:spcBef>
              <a:spcAft>
                <a:spcPts val="0"/>
              </a:spcAft>
              <a:buSzPts val="1200"/>
              <a:buNone/>
            </a:pPr>
            <a:r>
              <a:t>- Internal project source: Team 04 WhatsApp group, 1 August 2026, project flow and role discussion.</a:t>
            </a:r>
          </a:p>
          <a:p xmlns:a="http://schemas.openxmlformats.org/drawingml/2006/main">
            <a:pPr marL="0" lvl="0" indent="0" algn="l">
              <a:spcBef>
                <a:spcPts val="0"/>
              </a:spcBef>
              <a:spcAft>
                <a:spcPts val="0"/>
              </a:spcAft>
              <a:buSzPts val="120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[Sources]</a:t>
            </a:r>
          </a:p>
          <a:p xmlns:a="http://schemas.openxmlformats.org/drawingml/2006/main">
            <a:pPr marL="0" lvl="0" indent="0" algn="l">
              <a:spcBef>
                <a:spcPts val="0"/>
              </a:spcBef>
              <a:spcAft>
                <a:spcPts val="0"/>
              </a:spcAft>
              <a:buSzPts val="1200"/>
              <a:buNone/>
            </a:pPr>
            <a:r>
              <a:t>- Internal project source: TM04 Social Contract.docx, signed 1 August 2026.</a:t>
            </a:r>
          </a:p>
          <a:p xmlns:a="http://schemas.openxmlformats.org/drawingml/2006/main">
            <a:pPr marL="0" lvl="0" indent="0" algn="l">
              <a:spcBef>
                <a:spcPts val="0"/>
              </a:spcBef>
              <a:spcAft>
                <a:spcPts val="0"/>
              </a:spcAft>
              <a:buSzPts val="1200"/>
              <a:buNone/>
            </a:pPr>
            <a:r>
              <a:t>- Internal project source: Team 04 WhatsApp group, 1 August 2026, project flow and role discussion.</a:t>
            </a:r>
          </a:p>
          <a:p xmlns:a="http://schemas.openxmlformats.org/drawingml/2006/main">
            <a:pPr marL="0" lvl="0" indent="0" algn="l">
              <a:spcBef>
                <a:spcPts val="0"/>
              </a:spcBef>
              <a:spcAft>
                <a:spcPts val="0"/>
              </a:spcAft>
              <a:buSzPts val="120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[Sources]</a:t>
            </a:r>
          </a:p>
          <a:p xmlns:a="http://schemas.openxmlformats.org/drawingml/2006/main">
            <a:pPr marL="0" lvl="0" indent="0" algn="l">
              <a:spcBef>
                <a:spcPts val="0"/>
              </a:spcBef>
              <a:spcAft>
                <a:spcPts val="0"/>
              </a:spcAft>
              <a:buSzPts val="1200"/>
              <a:buNone/>
            </a:pPr>
            <a:r>
              <a:t>- Internal project source: TM04 Social Contract.docx, signed 1 August 2026.</a:t>
            </a:r>
          </a:p>
          <a:p xmlns:a="http://schemas.openxmlformats.org/drawingml/2006/main">
            <a:pPr marL="0" lvl="0" indent="0" algn="l">
              <a:spcBef>
                <a:spcPts val="0"/>
              </a:spcBef>
              <a:spcAft>
                <a:spcPts val="0"/>
              </a:spcAft>
              <a:buSzPts val="1200"/>
              <a:buNone/>
            </a:pPr>
            <a:r>
              <a:t>- Internal project source: Team 04 WhatsApp group, 1 August 2026, project flow and role discussion.</a:t>
            </a:r>
          </a:p>
          <a:p xmlns:a="http://schemas.openxmlformats.org/drawingml/2006/main">
            <a:pPr marL="0" lvl="0" indent="0" algn="l">
              <a:spcBef>
                <a:spcPts val="0"/>
              </a:spcBef>
              <a:spcAft>
                <a:spcPts val="0"/>
              </a:spcAft>
              <a:buSzPts val="120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The workflow begins when a user uploads a screening report or enters values they already know. Capture extracts the relevant numbers. Confirm keeps the user in control by asking them to verify those values. Compare places the confirmed data beside patterns in selected open datasets and Malaysian mortality context. Finally, Explain turns that evidence into accessible language and practical next steps. This is decision support, not a diagnosis, and we do not invent thresholds.</a:t>
            </a:r>
          </a:p>
          <a:p xmlns:a="http://schemas.openxmlformats.org/drawingml/2006/main">
            <a:pPr marL="0" lvl="0" indent="0" algn="l">
              <a:spcBef>
                <a:spcPts val="0"/>
              </a:spcBef>
              <a:spcAft>
                <a:spcPts val="0"/>
              </a:spcAft>
              <a:buSzPts val="1200"/>
              <a:buNone/>
            </a:pPr>
            <a:r>
              <a:t/>
            </a:r>
          </a:p>
          <a:p xmlns:a="http://schemas.openxmlformats.org/drawingml/2006/main">
            <a:pPr marL="0" lvl="0" indent="0" algn="l">
              <a:spcBef>
                <a:spcPts val="0"/>
              </a:spcBef>
              <a:spcAft>
                <a:spcPts val="0"/>
              </a:spcAft>
              <a:buSzPts val="1200"/>
              <a:buNone/>
            </a:pPr>
            <a:r>
              <a:t>[Sources]</a:t>
            </a:r>
          </a:p>
          <a:p xmlns:a="http://schemas.openxmlformats.org/drawingml/2006/main">
            <a:pPr marL="0" lvl="0" indent="0" algn="l">
              <a:spcBef>
                <a:spcPts val="0"/>
              </a:spcBef>
              <a:spcAft>
                <a:spcPts val="0"/>
              </a:spcAft>
              <a:buSzPts val="1200"/>
              <a:buNone/>
            </a:pPr>
            <a:r>
              <a:t>- Internal project source: Team 04 WhatsApp group, 1 August 2026, AI Workflow task allocation and project discussion.</a:t>
            </a:r>
          </a:p>
          <a:p xmlns:a="http://schemas.openxmlformats.org/drawingml/2006/main">
            <a:pPr marL="0" lvl="0" indent="0" algn="l">
              <a:spcBef>
                <a:spcPts val="0"/>
              </a:spcBef>
              <a:spcAft>
                <a:spcPts val="0"/>
              </a:spcAft>
              <a:buSzPts val="1200"/>
              <a:buNone/>
            </a:pPr>
            <a:r>
              <a:t>- Kaggle, Cardiovascular Disease Dataset: https://www.kaggle.com/datasets/sulianova/cardiovascular-disease-dataset</a:t>
            </a:r>
          </a:p>
          <a:p xmlns:a="http://schemas.openxmlformats.org/drawingml/2006/main">
            <a:pPr marL="0" lvl="0" indent="0" algn="l">
              <a:spcBef>
                <a:spcPts val="0"/>
              </a:spcBef>
              <a:spcAft>
                <a:spcPts val="0"/>
              </a:spcAft>
              <a:buSzPts val="1200"/>
              <a:buNone/>
            </a:pPr>
            <a:r>
              <a:t>- Kaggle, Diabetes Prediction Dataset: https://www.kaggle.com/datasets/iammustafatz/diabetes-prediction-dataset</a:t>
            </a:r>
          </a:p>
          <a:p xmlns:a="http://schemas.openxmlformats.org/drawingml/2006/main">
            <a:pPr marL="0" lvl="0" indent="0" algn="l">
              <a:spcBef>
                <a:spcPts val="0"/>
              </a:spcBef>
              <a:spcAft>
                <a:spcPts val="0"/>
              </a:spcAft>
              <a:buSzPts val="1200"/>
              <a:buNone/>
            </a:pPr>
            <a:r>
              <a:t>- Kaggle, Heart Failure Prediction: https://www.kaggle.com/datasets/fedesoriano/heart-failure-prediction</a:t>
            </a:r>
          </a:p>
          <a:p xmlns:a="http://schemas.openxmlformats.org/drawingml/2006/main">
            <a:pPr marL="0" lvl="0" indent="0" algn="l">
              <a:spcBef>
                <a:spcPts val="0"/>
              </a:spcBef>
              <a:spcAft>
                <a:spcPts val="0"/>
              </a:spcAft>
              <a:buSzPts val="1200"/>
              <a:buNone/>
            </a:pPr>
            <a:r>
              <a:t>- Kaggle, Stroke Prediction Dataset: https://www.kaggle.com/datasets/fedesoriano/stroke-prediction-dataset</a:t>
            </a:r>
          </a:p>
          <a:p xmlns:a="http://schemas.openxmlformats.org/drawingml/2006/main">
            <a:pPr marL="0" lvl="0" indent="0" algn="l">
              <a:spcBef>
                <a:spcPts val="0"/>
              </a:spcBef>
              <a:spcAft>
                <a:spcPts val="0"/>
              </a:spcAft>
              <a:buSzPts val="1200"/>
              <a:buNone/>
            </a:pPr>
            <a:r>
              <a:t>- Department of Statistics Malaysia (DOSM), Statistics on Causes of Death, Malaysia 2025: https://www.dosm.gov.my/portal-main/release-content/statistics-on-causes-of-death-malaysia-2025</a:t>
            </a:r>
          </a:p>
          <a:p xmlns:a="http://schemas.openxmlformats.org/drawingml/2006/main">
            <a:pPr marL="0" lvl="0" indent="0" algn="l">
              <a:spcBef>
                <a:spcPts val="0"/>
              </a:spcBef>
              <a:spcAft>
                <a:spcPts val="0"/>
              </a:spcAft>
              <a:buSzPts val="1200"/>
              <a:buNone/>
            </a:pPr>
            <a:r>
              <a:t>- OpenDOSM, Deaths by District &amp; Sex: https://open.dosm.gov.my/data-catalogue/deaths_district_sex</a:t>
            </a:r>
          </a:p>
          <a:p xmlns:a="http://schemas.openxmlformats.org/drawingml/2006/main">
            <a:pPr marL="0" lvl="0" indent="0" algn="l">
              <a:spcBef>
                <a:spcPts val="0"/>
              </a:spcBef>
              <a:spcAft>
                <a:spcPts val="0"/>
              </a:spcAft>
              <a:buSzPts val="1200"/>
              <a:buNone/>
            </a:pPr>
            <a:r>
              <a:t>- Generated illustration: OpenAI ImageGen, 2 August 2026. Prompt record: Use case: photorealistic-natural. Asset type: a supporting visual for an English university project presentation slide. Primary request: a calm, credible scene of a middle-aged Malaysian adult reviewing a generic physical health screening report at home, showing the human starting point of a health-data workflow. Scene/backdrop: a bright uncluttered dining table or home study, neutral background with subtle teal and navy accents that can sit beside an existing PowerPoint template. Subject: one adult around 45-55, everyday clothing, focused and comfortable, holding an unbranded paper report with no readable text. Style/medium: editorial lifestyle photography, natural light, realistic skin and paper texture, professional but not commercial. Composition/framing: wide landscape 16:9, subject placed on the right third with generous clean negative space on the left for slide copy, report visible but not legible. Lighting/mood: soft daylight, reassuring and practical. Color palette: warm neutrals with restrained teal/blue accents. Text (verbatim): none. Constraints: no logos, no watermark, no medical symbols, no readable numbers, no fake app interface, no diagnostic claims, no extra people, no text anywhere in the image.</a:t>
            </a:r>
          </a:p>
          <a:p xmlns:a="http://schemas.openxmlformats.org/drawingml/2006/main">
            <a:pPr marL="0" lvl="0" indent="0" algn="l">
              <a:spcBef>
                <a:spcPts val="0"/>
              </a:spcBef>
              <a:spcAft>
                <a:spcPts val="0"/>
              </a:spcAft>
              <a:buSzPts val="120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We deliberately constrain the response to three useful outputs. The Risk signal directs attention without claiming a diagnosis. The Plain-English summary explains the comparison and its evidence in accessible language. The Action card gives the user one practical next step. Together, these outputs reduce jargon while keeping the result transparent, cautious, and easy to act on. With these outputs defined, I will hand over to Su to show how the system architecture and code-quality approach support the workflow.</a:t>
            </a:r>
          </a:p>
          <a:p xmlns:a="http://schemas.openxmlformats.org/drawingml/2006/main">
            <a:pPr marL="0" lvl="0" indent="0" algn="l">
              <a:spcBef>
                <a:spcPts val="0"/>
              </a:spcBef>
              <a:spcAft>
                <a:spcPts val="0"/>
              </a:spcAft>
              <a:buSzPts val="1200"/>
              <a:buNone/>
            </a:pPr>
            <a:r>
              <a:t/>
            </a:r>
          </a:p>
          <a:p xmlns:a="http://schemas.openxmlformats.org/drawingml/2006/main">
            <a:pPr marL="0" lvl="0" indent="0" algn="l">
              <a:spcBef>
                <a:spcPts val="0"/>
              </a:spcBef>
              <a:spcAft>
                <a:spcPts val="0"/>
              </a:spcAft>
              <a:buSzPts val="1200"/>
              <a:buNone/>
            </a:pPr>
            <a:r>
              <a:t>[Sources]</a:t>
            </a:r>
          </a:p>
          <a:p xmlns:a="http://schemas.openxmlformats.org/drawingml/2006/main">
            <a:pPr marL="0" lvl="0" indent="0" algn="l">
              <a:spcBef>
                <a:spcPts val="0"/>
              </a:spcBef>
              <a:spcAft>
                <a:spcPts val="0"/>
              </a:spcAft>
              <a:buSzPts val="1200"/>
              <a:buNone/>
            </a:pPr>
            <a:r>
              <a:t>- Internal project source: Team 04 Social Contract, 1 August 2026, shared project goal and team responsibilities.</a:t>
            </a:r>
          </a:p>
          <a:p xmlns:a="http://schemas.openxmlformats.org/drawingml/2006/main">
            <a:pPr marL="0" lvl="0" indent="0" algn="l">
              <a:spcBef>
                <a:spcPts val="0"/>
              </a:spcBef>
              <a:spcAft>
                <a:spcPts val="0"/>
              </a:spcAft>
              <a:buSzPts val="1200"/>
              <a:buNone/>
            </a:pPr>
            <a:r>
              <a:t>- Kaggle and Malaysian open-data sources listed on Slide 9 and in the Slide 11 speaker notes.</a:t>
            </a:r>
          </a:p>
          <a:p xmlns:a="http://schemas.openxmlformats.org/drawingml/2006/main">
            <a:pPr marL="0" lvl="0" indent="0" algn="l">
              <a:spcBef>
                <a:spcPts val="0"/>
              </a:spcBef>
              <a:spcAft>
                <a:spcPts val="0"/>
              </a:spcAft>
              <a:buSzPts val="120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1e8d120fa241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f4d192615f4e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9d803cd1a843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9e88ad644d4b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f75027d3a74c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967a64b0234d6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2a0ce47d7a84b7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a9cf464a66244c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881ee83973f400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90798d9237d44e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336e20dd36c4e3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7a6977491d904d5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3c7168f4f6fc4746"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992fc0fde9084222"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e1285d61c7094aca"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1d927f764c3b4876"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be89fe475436498d"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96819ff9452a49fb"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3c4a540045cc42b4"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8139442473004558"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c96426f022ad4d5e"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984b744d65a34b40"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d87c8c15ad5448bb"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3.xml" Id="R3ad84e7640cf4ea0"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F68AF1EA-41DD-451A-8B9F-80BD1389294F}"/>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2DD92796-E61F-448C-8120-767834D7CC0F}"/>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30435840-FFBF-4F13-90A9-C2D5B4FFC97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F1EC895E-AEED-4D95-BFB3-D3D082BE9672}"/>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1467DEC3-467C-4A69-9C25-CC782FFDBD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1ED4B86F-6896-41EA-86BB-DB94912DD7FC}"/>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00BD7B52-A290-4A9F-BA3E-4D1737ECB8E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B4C7986D-F92B-490E-8DAE-7A16A64516F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74DD01CC-7406-4B56-BDE8-AA393C5D6CC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1D16B9AB-AEF9-4D4E-A7AD-813D42508A5F}"/>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A7D73CC3-7879-4A50-8F59-03311D31ACF5}"/>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9DB4C589-7E4E-4EE7-9384-FDAE1C9882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0F2EE10A-6EE1-48ED-98BD-DCE2CA223A1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FB7AEA56-DD4F-4037-A3C1-1F90794F64B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051042FD-3700-422B-BBCD-D049E5562AB0}"/>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EC3F8057-70A9-4312-A1F8-15957B13CDCE}"/>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995D69A2-CC17-4671-B692-D6F8941828B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9DEEF0F9-B843-42DE-B262-4D79769E2E36}"/>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E27C4CBC-99D2-4C11-B7A0-A38ED60B40F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628F646D-9226-446A-B441-6BC907B1B5CF}"/>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37" name="Google Shape;37;p9">
            <a:extLst xmlns:a="http://schemas.openxmlformats.org/drawingml/2006/main">
              <a:ext uri="{FF2B5EF4-FFF2-40B4-BE49-F238E27FC236}">
                <a16:creationId xmlns:a16="http://schemas.microsoft.com/office/drawing/2014/main" id="{EC282BB0-F490-400C-9A4B-785762D5F430}"/>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6FA70511-9790-4FAF-A293-807568679289}"/>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C3B9A1E9-A80F-42AD-9D37-B4513D31E6D8}"/>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BE6CDB97-1577-4A9D-8DF9-A31DDEB687C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0E96A68E-7FF4-4EC0-B583-8746A4615B96}"/>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A2849691-8833-4566-B8D9-60266D312B0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AE3BE037-4467-4005-BB15-E64B198B1F77}"/>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E5E52D4-0B3F-4390-B02F-6270465E37F4}"/>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34100B76-BBEB-4FC4-823F-94E50B2E04B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F07F1571-53BC-446E-861C-5367664F6F3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5" name="Google Shape;55;p14">
            <a:extLst xmlns:a="http://schemas.openxmlformats.org/drawingml/2006/main">
              <a:ext uri="{FF2B5EF4-FFF2-40B4-BE49-F238E27FC236}">
                <a16:creationId xmlns:a16="http://schemas.microsoft.com/office/drawing/2014/main" id="{4B02E92A-024A-4F10-A049-ECB045F5D47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57" name="Google Shape;57;p15">
            <a:extLst xmlns:a="http://schemas.openxmlformats.org/drawingml/2006/main">
              <a:ext uri="{FF2B5EF4-FFF2-40B4-BE49-F238E27FC236}">
                <a16:creationId xmlns:a16="http://schemas.microsoft.com/office/drawing/2014/main" id="{A4C2142D-4D08-411C-9C08-E087B3B6CAED}"/>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p:txBody>
      </p:sp>
      <p:sp>
        <p:nvSpPr>
          <p:cNvPr id="58" name="Google Shape;58;p15">
            <a:extLst xmlns:a="http://schemas.openxmlformats.org/drawingml/2006/main">
              <a:ext uri="{FF2B5EF4-FFF2-40B4-BE49-F238E27FC236}">
                <a16:creationId xmlns:a16="http://schemas.microsoft.com/office/drawing/2014/main" id="{480F79AD-39DA-4F79-A42F-2B2110434D81}"/>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59" name="Google Shape;59;p15">
            <a:extLst xmlns:a="http://schemas.openxmlformats.org/drawingml/2006/main">
              <a:ext uri="{FF2B5EF4-FFF2-40B4-BE49-F238E27FC236}">
                <a16:creationId xmlns:a16="http://schemas.microsoft.com/office/drawing/2014/main" id="{FDA2E4D0-5850-4428-9A3C-DB3D451D6D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61" name="Google Shape;61;p16">
            <a:extLst xmlns:a="http://schemas.openxmlformats.org/drawingml/2006/main">
              <a:ext uri="{FF2B5EF4-FFF2-40B4-BE49-F238E27FC236}">
                <a16:creationId xmlns:a16="http://schemas.microsoft.com/office/drawing/2014/main" id="{E306E9D4-D4AE-46A1-93CA-950EE2B9AC0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p:txBody>
      </p:sp>
      <p:sp>
        <p:nvSpPr>
          <p:cNvPr id="62" name="Google Shape;62;p16">
            <a:extLst xmlns:a="http://schemas.openxmlformats.org/drawingml/2006/main">
              <a:ext uri="{FF2B5EF4-FFF2-40B4-BE49-F238E27FC236}">
                <a16:creationId xmlns:a16="http://schemas.microsoft.com/office/drawing/2014/main" id="{D143C10B-6914-4D04-BCBA-CFFBBD9F16C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5.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64" name="Google Shape;64;p17">
            <a:extLst xmlns:a="http://schemas.openxmlformats.org/drawingml/2006/main">
              <a:ext uri="{FF2B5EF4-FFF2-40B4-BE49-F238E27FC236}">
                <a16:creationId xmlns:a16="http://schemas.microsoft.com/office/drawing/2014/main" id="{3501BE34-EBA5-4B3F-8399-8C109BE6AF6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65" name="Google Shape;65;p17">
            <a:extLst xmlns:a="http://schemas.openxmlformats.org/drawingml/2006/main">
              <a:ext uri="{FF2B5EF4-FFF2-40B4-BE49-F238E27FC236}">
                <a16:creationId xmlns:a16="http://schemas.microsoft.com/office/drawing/2014/main" id="{77F7383F-8318-414B-A630-6E3BBC97637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66" name="Google Shape;66;p17">
            <a:extLst xmlns:a="http://schemas.openxmlformats.org/drawingml/2006/main">
              <a:ext uri="{FF2B5EF4-FFF2-40B4-BE49-F238E27FC236}">
                <a16:creationId xmlns:a16="http://schemas.microsoft.com/office/drawing/2014/main" id="{C6507BA2-5376-46F9-8F7C-F899B16A05C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6.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68" name="Google Shape;68;p18">
            <a:extLst xmlns:a="http://schemas.openxmlformats.org/drawingml/2006/main">
              <a:ext uri="{FF2B5EF4-FFF2-40B4-BE49-F238E27FC236}">
                <a16:creationId xmlns:a16="http://schemas.microsoft.com/office/drawing/2014/main" id="{F01A7324-FDA1-4470-A0CC-E6F9D0C7EBE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69" name="Google Shape;69;p18">
            <a:extLst xmlns:a="http://schemas.openxmlformats.org/drawingml/2006/main">
              <a:ext uri="{FF2B5EF4-FFF2-40B4-BE49-F238E27FC236}">
                <a16:creationId xmlns:a16="http://schemas.microsoft.com/office/drawing/2014/main" id="{98468CEC-F387-47E1-8E3E-164B7E0313FA}"/>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70" name="Google Shape;70;p18">
            <a:extLst xmlns:a="http://schemas.openxmlformats.org/drawingml/2006/main">
              <a:ext uri="{FF2B5EF4-FFF2-40B4-BE49-F238E27FC236}">
                <a16:creationId xmlns:a16="http://schemas.microsoft.com/office/drawing/2014/main" id="{1922F5F7-2F4F-4BBD-A028-CD455F90173A}"/>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71" name="Google Shape;71;p18">
            <a:extLst xmlns:a="http://schemas.openxmlformats.org/drawingml/2006/main">
              <a:ext uri="{FF2B5EF4-FFF2-40B4-BE49-F238E27FC236}">
                <a16:creationId xmlns:a16="http://schemas.microsoft.com/office/drawing/2014/main" id="{B58DDE27-4704-4CD4-A8A2-C921BBABEC6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73" name="Google Shape;73;p19">
            <a:extLst xmlns:a="http://schemas.openxmlformats.org/drawingml/2006/main">
              <a:ext uri="{FF2B5EF4-FFF2-40B4-BE49-F238E27FC236}">
                <a16:creationId xmlns:a16="http://schemas.microsoft.com/office/drawing/2014/main" id="{1266909E-2DC8-433E-9B9F-916EE4CC1F0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74" name="Google Shape;74;p19">
            <a:extLst xmlns:a="http://schemas.openxmlformats.org/drawingml/2006/main">
              <a:ext uri="{FF2B5EF4-FFF2-40B4-BE49-F238E27FC236}">
                <a16:creationId xmlns:a16="http://schemas.microsoft.com/office/drawing/2014/main" id="{614EDC38-2BBA-4D06-AFE9-05AF4E9B44E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8.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76" name="Google Shape;76;p20">
            <a:extLst xmlns:a="http://schemas.openxmlformats.org/drawingml/2006/main">
              <a:ext uri="{FF2B5EF4-FFF2-40B4-BE49-F238E27FC236}">
                <a16:creationId xmlns:a16="http://schemas.microsoft.com/office/drawing/2014/main" id="{E94EFB52-328B-4CE4-94B8-F429AA2B2FF1}"/>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77" name="Google Shape;77;p20">
            <a:extLst xmlns:a="http://schemas.openxmlformats.org/drawingml/2006/main">
              <a:ext uri="{FF2B5EF4-FFF2-40B4-BE49-F238E27FC236}">
                <a16:creationId xmlns:a16="http://schemas.microsoft.com/office/drawing/2014/main" id="{DEAE5CA3-207B-4F3E-9E89-282366E3D9F7}"/>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78" name="Google Shape;78;p20">
            <a:extLst xmlns:a="http://schemas.openxmlformats.org/drawingml/2006/main">
              <a:ext uri="{FF2B5EF4-FFF2-40B4-BE49-F238E27FC236}">
                <a16:creationId xmlns:a16="http://schemas.microsoft.com/office/drawing/2014/main" id="{3512C865-4EE6-4305-894B-772ABE0F946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9.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80" name="Google Shape;80;p21">
            <a:extLst xmlns:a="http://schemas.openxmlformats.org/drawingml/2006/main">
              <a:ext uri="{FF2B5EF4-FFF2-40B4-BE49-F238E27FC236}">
                <a16:creationId xmlns:a16="http://schemas.microsoft.com/office/drawing/2014/main" id="{6C40BDEA-9286-4502-BADE-8589DD9BABAD}"/>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p:txBody>
      </p:sp>
      <p:sp>
        <p:nvSpPr>
          <p:cNvPr id="81" name="Google Shape;81;p21">
            <a:extLst xmlns:a="http://schemas.openxmlformats.org/drawingml/2006/main">
              <a:ext uri="{FF2B5EF4-FFF2-40B4-BE49-F238E27FC236}">
                <a16:creationId xmlns:a16="http://schemas.microsoft.com/office/drawing/2014/main" id="{A1BDA34A-E725-4DD8-82B5-0EE6FBAD684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20.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83" name="Google Shape;83;p22">
            <a:extLst xmlns:a="http://schemas.openxmlformats.org/drawingml/2006/main">
              <a:ext uri="{FF2B5EF4-FFF2-40B4-BE49-F238E27FC236}">
                <a16:creationId xmlns:a16="http://schemas.microsoft.com/office/drawing/2014/main" id="{782D68C4-1A83-4AF6-BAF2-A5978085E6CC}"/>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SzPts val="1800"/>
              <a:buFont typeface="Arial"/>
              <a:buNone/>
            </a:pPr>
            <a:r>
              <a:t/>
            </a:r>
          </a:p>
        </p:txBody>
      </p:sp>
      <p:sp>
        <p:nvSpPr>
          <p:cNvPr id="84" name="Google Shape;84;p22">
            <a:extLst xmlns:a="http://schemas.openxmlformats.org/drawingml/2006/main">
              <a:ext uri="{FF2B5EF4-FFF2-40B4-BE49-F238E27FC236}">
                <a16:creationId xmlns:a16="http://schemas.microsoft.com/office/drawing/2014/main" id="{C9E79648-6DE0-40CB-8DB7-212345C89578}"/>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p:txBody>
      </p:sp>
      <p:sp>
        <p:nvSpPr>
          <p:cNvPr id="85" name="Google Shape;85;p22">
            <a:extLst xmlns:a="http://schemas.openxmlformats.org/drawingml/2006/main">
              <a:ext uri="{FF2B5EF4-FFF2-40B4-BE49-F238E27FC236}">
                <a16:creationId xmlns:a16="http://schemas.microsoft.com/office/drawing/2014/main" id="{B6788AD7-B649-4251-BC1F-0F94655BD0EB}"/>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86" name="Google Shape;86;p22">
            <a:extLst xmlns:a="http://schemas.openxmlformats.org/drawingml/2006/main">
              <a:ext uri="{FF2B5EF4-FFF2-40B4-BE49-F238E27FC236}">
                <a16:creationId xmlns:a16="http://schemas.microsoft.com/office/drawing/2014/main" id="{BD80D746-4B70-49E5-BB6E-34B643FBE00C}"/>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87" name="Google Shape;87;p22">
            <a:extLst xmlns:a="http://schemas.openxmlformats.org/drawingml/2006/main">
              <a:ext uri="{FF2B5EF4-FFF2-40B4-BE49-F238E27FC236}">
                <a16:creationId xmlns:a16="http://schemas.microsoft.com/office/drawing/2014/main" id="{53520A49-848A-4D54-BA91-60F72428B17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21.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89" name="Google Shape;89;p23">
            <a:extLst xmlns:a="http://schemas.openxmlformats.org/drawingml/2006/main">
              <a:ext uri="{FF2B5EF4-FFF2-40B4-BE49-F238E27FC236}">
                <a16:creationId xmlns:a16="http://schemas.microsoft.com/office/drawing/2014/main" id="{FF9C1E43-E0E6-40FB-A109-2A93DA16D20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stStyle>
          <a:p xmlns:a="http://schemas.openxmlformats.org/drawingml/2006/main"/>
        </p:txBody>
      </p:sp>
      <p:sp>
        <p:nvSpPr>
          <p:cNvPr id="90" name="Google Shape;90;p23">
            <a:extLst xmlns:a="http://schemas.openxmlformats.org/drawingml/2006/main">
              <a:ext uri="{FF2B5EF4-FFF2-40B4-BE49-F238E27FC236}">
                <a16:creationId xmlns:a16="http://schemas.microsoft.com/office/drawing/2014/main" id="{C7211648-3BB9-4BFC-BECD-E206A2AB9B7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22.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92" name="Google Shape;92;p24">
            <a:extLst xmlns:a="http://schemas.openxmlformats.org/drawingml/2006/main">
              <a:ext uri="{FF2B5EF4-FFF2-40B4-BE49-F238E27FC236}">
                <a16:creationId xmlns:a16="http://schemas.microsoft.com/office/drawing/2014/main" id="{55E89570-D295-4452-89D7-382C45DA7CE3}"/>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r>
              <a:t>xx%</a:t>
            </a:r>
          </a:p>
        </p:txBody>
      </p:sp>
      <p:sp>
        <p:nvSpPr>
          <p:cNvPr id="93" name="Google Shape;93;p24">
            <a:extLst xmlns:a="http://schemas.openxmlformats.org/drawingml/2006/main">
              <a:ext uri="{FF2B5EF4-FFF2-40B4-BE49-F238E27FC236}">
                <a16:creationId xmlns:a16="http://schemas.microsoft.com/office/drawing/2014/main" id="{AA1FA758-A8E6-49D9-AD38-99F5EA1371DC}"/>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xmlns:a="http://schemas.openxmlformats.org/drawingml/2006/main"/>
        </p:txBody>
      </p:sp>
      <p:sp>
        <p:nvSpPr>
          <p:cNvPr id="94" name="Google Shape;94;p24">
            <a:extLst xmlns:a="http://schemas.openxmlformats.org/drawingml/2006/main">
              <a:ext uri="{FF2B5EF4-FFF2-40B4-BE49-F238E27FC236}">
                <a16:creationId xmlns:a16="http://schemas.microsoft.com/office/drawing/2014/main" id="{381877CE-A5DD-4B66-8E07-DD0A3B0FB43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None/>
              <a:defRPr/>
            </a:lvl1pPr>
            <a:lvl2pPr marL="0" marR="0" indent="0" algn="r">
              <a:spcBef>
                <a:spcPts val="0"/>
              </a:spcBef>
              <a:spcAft>
                <a:spcPts val="0"/>
              </a:spcAft>
              <a:buClr>
                <a:schemeClr val="dk2"/>
              </a:buClr>
              <a:buSzPts val="1000"/>
              <a:buNone/>
              <a:defRPr/>
            </a:lvl2pPr>
            <a:lvl3pPr marL="0" marR="0" indent="0" algn="r">
              <a:spcBef>
                <a:spcPts val="0"/>
              </a:spcBef>
              <a:spcAft>
                <a:spcPts val="0"/>
              </a:spcAft>
              <a:buClr>
                <a:schemeClr val="dk2"/>
              </a:buClr>
              <a:buSzPts val="1000"/>
              <a:buNone/>
              <a:defRPr/>
            </a:lvl3pPr>
            <a:lvl4pPr marL="0" marR="0" indent="0" algn="r">
              <a:spcBef>
                <a:spcPts val="0"/>
              </a:spcBef>
              <a:spcAft>
                <a:spcPts val="0"/>
              </a:spcAft>
              <a:buClr>
                <a:schemeClr val="dk2"/>
              </a:buClr>
              <a:buSzPts val="1000"/>
              <a:buNone/>
              <a:defRPr/>
            </a:lvl4pPr>
            <a:lvl5pPr marL="0" marR="0" indent="0" algn="r">
              <a:spcBef>
                <a:spcPts val="0"/>
              </a:spcBef>
              <a:spcAft>
                <a:spcPts val="0"/>
              </a:spcAft>
              <a:buClr>
                <a:schemeClr val="dk2"/>
              </a:buClr>
              <a:buSzPts val="1000"/>
              <a:buNone/>
              <a:defRPr/>
            </a:lvl5pPr>
            <a:lvl6pPr marL="0" marR="0" indent="0" algn="r">
              <a:spcBef>
                <a:spcPts val="0"/>
              </a:spcBef>
              <a:spcAft>
                <a:spcPts val="0"/>
              </a:spcAft>
              <a:buClr>
                <a:schemeClr val="dk2"/>
              </a:buClr>
              <a:buSzPts val="1000"/>
              <a:buNone/>
              <a:defRPr/>
            </a:lvl6pPr>
            <a:lvl7pPr marL="0" marR="0" indent="0" algn="r">
              <a:spcBef>
                <a:spcPts val="0"/>
              </a:spcBef>
              <a:spcAft>
                <a:spcPts val="0"/>
              </a:spcAft>
              <a:buClr>
                <a:schemeClr val="dk2"/>
              </a:buClr>
              <a:buSzPts val="1000"/>
              <a:buNone/>
              <a:defRPr/>
            </a:lvl7pPr>
            <a:lvl8pPr marL="0" marR="0" indent="0" algn="r">
              <a:spcBef>
                <a:spcPts val="0"/>
              </a:spcBef>
              <a:spcAft>
                <a:spcPts val="0"/>
              </a:spcAft>
              <a:buClr>
                <a:schemeClr val="dk2"/>
              </a:buClr>
              <a:buSzPts val="1000"/>
              <a:buNone/>
              <a:defRPr/>
            </a:lvl8pPr>
            <a:lvl9pPr marL="0" marR="0" indent="0" algn="r">
              <a:spcBef>
                <a:spcPts val="0"/>
              </a:spcBef>
              <a:spcAft>
                <a:spcPts val="0"/>
              </a:spcAft>
              <a:buClr>
                <a:schemeClr val="dk2"/>
              </a:buClr>
              <a:buSzPts val="1000"/>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23.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4.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9b9b569adb4ffb" /><Relationship Type="http://schemas.openxmlformats.org/officeDocument/2006/relationships/slideLayout" Target="/ppt/slideLayouts/slideLayout1.xml" Id="R107167d52aa34209" /><Relationship Type="http://schemas.openxmlformats.org/officeDocument/2006/relationships/slideLayout" Target="/ppt/slideLayouts/slideLayout2.xml" Id="R32a1f0a6238444a2" /><Relationship Type="http://schemas.openxmlformats.org/officeDocument/2006/relationships/slideLayout" Target="/ppt/slideLayouts/slideLayout3.xml" Id="Rc17df157a3d84b80" /><Relationship Type="http://schemas.openxmlformats.org/officeDocument/2006/relationships/slideLayout" Target="/ppt/slideLayouts/slideLayout4.xml" Id="Rad3b7a37e21743bc" /><Relationship Type="http://schemas.openxmlformats.org/officeDocument/2006/relationships/slideLayout" Target="/ppt/slideLayouts/slideLayout5.xml" Id="R430fe140af7b4b74" /><Relationship Type="http://schemas.openxmlformats.org/officeDocument/2006/relationships/slideLayout" Target="/ppt/slideLayouts/slideLayout6.xml" Id="R203a6d8d9b05496f" /><Relationship Type="http://schemas.openxmlformats.org/officeDocument/2006/relationships/slideLayout" Target="/ppt/slideLayouts/slideLayout7.xml" Id="Rcd8c8836e05f4f49" /><Relationship Type="http://schemas.openxmlformats.org/officeDocument/2006/relationships/slideLayout" Target="/ppt/slideLayouts/slideLayout8.xml" Id="R3826f0e643dd4986" /><Relationship Type="http://schemas.openxmlformats.org/officeDocument/2006/relationships/slideLayout" Target="/ppt/slideLayouts/slideLayout9.xml" Id="R29f7cb75e8084809" /><Relationship Type="http://schemas.openxmlformats.org/officeDocument/2006/relationships/slideLayout" Target="/ppt/slideLayouts/slideLayout10.xml" Id="Re341a4c7669c4076" /><Relationship Type="http://schemas.openxmlformats.org/officeDocument/2006/relationships/slideLayout" Target="/ppt/slideLayouts/slideLayout11.xml" Id="Rc9f5604ddc1948d3"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e5323e1a22b465a" /><Relationship Type="http://schemas.openxmlformats.org/officeDocument/2006/relationships/slideLayout" Target="/ppt/slideLayouts/slideLayout12.xml" Id="Rcb76700133a14eed" /><Relationship Type="http://schemas.openxmlformats.org/officeDocument/2006/relationships/slideLayout" Target="/ppt/slideLayouts/slideLayout13.xml" Id="Rde05f1edbc3b464d" /><Relationship Type="http://schemas.openxmlformats.org/officeDocument/2006/relationships/slideLayout" Target="/ppt/slideLayouts/slideLayout14.xml" Id="R5fdae26ce3d84475" /><Relationship Type="http://schemas.openxmlformats.org/officeDocument/2006/relationships/slideLayout" Target="/ppt/slideLayouts/slideLayout15.xml" Id="R9861e42ce44348ac" /><Relationship Type="http://schemas.openxmlformats.org/officeDocument/2006/relationships/slideLayout" Target="/ppt/slideLayouts/slideLayout16.xml" Id="R3ae3b4c27bac4339" /><Relationship Type="http://schemas.openxmlformats.org/officeDocument/2006/relationships/slideLayout" Target="/ppt/slideLayouts/slideLayout17.xml" Id="R69cf4324967d4d1a" /><Relationship Type="http://schemas.openxmlformats.org/officeDocument/2006/relationships/slideLayout" Target="/ppt/slideLayouts/slideLayout18.xml" Id="R56b2e03c3b4e4069" /><Relationship Type="http://schemas.openxmlformats.org/officeDocument/2006/relationships/slideLayout" Target="/ppt/slideLayouts/slideLayout19.xml" Id="Rd33459a9e38d4aee" /><Relationship Type="http://schemas.openxmlformats.org/officeDocument/2006/relationships/slideLayout" Target="/ppt/slideLayouts/slideLayout20.xml" Id="R0bd58a25edbe44c3" /><Relationship Type="http://schemas.openxmlformats.org/officeDocument/2006/relationships/slideLayout" Target="/ppt/slideLayouts/slideLayout21.xml" Id="R6489aa1851994ebb" /><Relationship Type="http://schemas.openxmlformats.org/officeDocument/2006/relationships/slideLayout" Target="/ppt/slideLayouts/slideLayout22.xml" Id="R3408dd2869934c7f" /><Relationship Type="http://schemas.openxmlformats.org/officeDocument/2006/relationships/slideLayout" Target="/ppt/slideLayouts/slideLayout23.xml" Id="Ra000ede190094d8d"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f025992e72754bd3" /><Relationship Type="http://schemas.openxmlformats.org/officeDocument/2006/relationships/slideLayout" Target="/ppt/slideLayouts/slideLayout24.xml" Id="R9e648ab535444496"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BDD49D21-5247-4661-9FF3-61763F542D6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8718B611-3704-4843-AB22-1EA514BE243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7B0BAE52-6170-4253-B7B1-CF7A456FBB4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07167d52aa34209"/>
    <p:sldLayoutId xmlns:r="http://schemas.openxmlformats.org/officeDocument/2006/relationships" id="2147483650" r:id="R32a1f0a6238444a2"/>
    <p:sldLayoutId xmlns:r="http://schemas.openxmlformats.org/officeDocument/2006/relationships" id="2147483651" r:id="Rc17df157a3d84b80"/>
    <p:sldLayoutId xmlns:r="http://schemas.openxmlformats.org/officeDocument/2006/relationships" id="2147483652" r:id="Rad3b7a37e21743bc"/>
    <p:sldLayoutId xmlns:r="http://schemas.openxmlformats.org/officeDocument/2006/relationships" id="2147483653" r:id="R430fe140af7b4b74"/>
    <p:sldLayoutId xmlns:r="http://schemas.openxmlformats.org/officeDocument/2006/relationships" id="2147483654" r:id="R203a6d8d9b05496f"/>
    <p:sldLayoutId xmlns:r="http://schemas.openxmlformats.org/officeDocument/2006/relationships" id="2147483655" r:id="Rcd8c8836e05f4f49"/>
    <p:sldLayoutId xmlns:r="http://schemas.openxmlformats.org/officeDocument/2006/relationships" id="2147483656" r:id="R3826f0e643dd4986"/>
    <p:sldLayoutId xmlns:r="http://schemas.openxmlformats.org/officeDocument/2006/relationships" id="2147483657" r:id="R29f7cb75e8084809"/>
    <p:sldLayoutId xmlns:r="http://schemas.openxmlformats.org/officeDocument/2006/relationships" id="2147483658" r:id="Re341a4c7669c4076"/>
    <p:sldLayoutId xmlns:r="http://schemas.openxmlformats.org/officeDocument/2006/relationships" id="2147483659" r:id="Rc9f5604ddc1948d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742C80C8-0D16-4381-B1FF-C89F106DB36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D3505411-7FDD-4236-BAAF-D424B655A93A}"/>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1DE4A7CE-F91A-452A-851D-EBC55428401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spcBef>
                <a:spcPts val="0"/>
              </a:spcBef>
              <a:spcAft>
                <a:spcPts val="0"/>
              </a:spcAft>
              <a:buClr>
                <a:schemeClr val="dk2"/>
              </a:buClr>
              <a:buSzPts val="1000"/>
              <a:buFont typeface="Arial"/>
              <a:buNone/>
              <a:defRPr sz="1000">
                <a:solidFill>
                  <a:schemeClr val="dk2"/>
                </a:solidFill>
              </a:defRPr>
            </a:lvl1pPr>
            <a:lvl2pPr marL="0" marR="0" indent="0" algn="r">
              <a:spcBef>
                <a:spcPts val="0"/>
              </a:spcBef>
              <a:spcAft>
                <a:spcPts val="0"/>
              </a:spcAft>
              <a:buClr>
                <a:schemeClr val="dk2"/>
              </a:buClr>
              <a:buSzPts val="1000"/>
              <a:buFont typeface="Arial"/>
              <a:buNone/>
              <a:defRPr sz="1000">
                <a:solidFill>
                  <a:schemeClr val="dk2"/>
                </a:solidFill>
              </a:defRPr>
            </a:lvl2pPr>
            <a:lvl3pPr marL="0" marR="0" indent="0" algn="r">
              <a:spcBef>
                <a:spcPts val="0"/>
              </a:spcBef>
              <a:spcAft>
                <a:spcPts val="0"/>
              </a:spcAft>
              <a:buClr>
                <a:schemeClr val="dk2"/>
              </a:buClr>
              <a:buSzPts val="1000"/>
              <a:buFont typeface="Arial"/>
              <a:buNone/>
              <a:defRPr sz="1000">
                <a:solidFill>
                  <a:schemeClr val="dk2"/>
                </a:solidFill>
              </a:defRPr>
            </a:lvl3pPr>
            <a:lvl4pPr marL="0" marR="0" indent="0" algn="r">
              <a:spcBef>
                <a:spcPts val="0"/>
              </a:spcBef>
              <a:spcAft>
                <a:spcPts val="0"/>
              </a:spcAft>
              <a:buClr>
                <a:schemeClr val="dk2"/>
              </a:buClr>
              <a:buSzPts val="1000"/>
              <a:buFont typeface="Arial"/>
              <a:buNone/>
              <a:defRPr sz="1000">
                <a:solidFill>
                  <a:schemeClr val="dk2"/>
                </a:solidFill>
              </a:defRPr>
            </a:lvl4pPr>
            <a:lvl5pPr marL="0" marR="0" indent="0" algn="r">
              <a:spcBef>
                <a:spcPts val="0"/>
              </a:spcBef>
              <a:spcAft>
                <a:spcPts val="0"/>
              </a:spcAft>
              <a:buClr>
                <a:schemeClr val="dk2"/>
              </a:buClr>
              <a:buSzPts val="1000"/>
              <a:buFont typeface="Arial"/>
              <a:buNone/>
              <a:defRPr sz="1000">
                <a:solidFill>
                  <a:schemeClr val="dk2"/>
                </a:solidFill>
              </a:defRPr>
            </a:lvl5pPr>
            <a:lvl6pPr marL="0" marR="0" indent="0" algn="r">
              <a:spcBef>
                <a:spcPts val="0"/>
              </a:spcBef>
              <a:spcAft>
                <a:spcPts val="0"/>
              </a:spcAft>
              <a:buClr>
                <a:schemeClr val="dk2"/>
              </a:buClr>
              <a:buSzPts val="1000"/>
              <a:buFont typeface="Arial"/>
              <a:buNone/>
              <a:defRPr sz="1000">
                <a:solidFill>
                  <a:schemeClr val="dk2"/>
                </a:solidFill>
              </a:defRPr>
            </a:lvl6pPr>
            <a:lvl7pPr marL="0" marR="0" indent="0" algn="r">
              <a:spcBef>
                <a:spcPts val="0"/>
              </a:spcBef>
              <a:spcAft>
                <a:spcPts val="0"/>
              </a:spcAft>
              <a:buClr>
                <a:schemeClr val="dk2"/>
              </a:buClr>
              <a:buSzPts val="1000"/>
              <a:buFont typeface="Arial"/>
              <a:buNone/>
              <a:defRPr sz="1000">
                <a:solidFill>
                  <a:schemeClr val="dk2"/>
                </a:solidFill>
              </a:defRPr>
            </a:lvl7pPr>
            <a:lvl8pPr marL="0" marR="0" indent="0" algn="r">
              <a:spcBef>
                <a:spcPts val="0"/>
              </a:spcBef>
              <a:spcAft>
                <a:spcPts val="0"/>
              </a:spcAft>
              <a:buClr>
                <a:schemeClr val="dk2"/>
              </a:buClr>
              <a:buSzPts val="1000"/>
              <a:buFont typeface="Arial"/>
              <a:buNone/>
              <a:defRPr sz="1000">
                <a:solidFill>
                  <a:schemeClr val="dk2"/>
                </a:solidFill>
              </a:defRPr>
            </a:lvl8pPr>
            <a:lvl9pPr marL="0" marR="0" indent="0" algn="r">
              <a:spcBef>
                <a:spcPts val="0"/>
              </a:spcBef>
              <a:spcAft>
                <a:spcPts val="0"/>
              </a:spcAft>
              <a:buClr>
                <a:schemeClr val="dk2"/>
              </a:buClr>
              <a:buSzPts val="1000"/>
              <a:buFont typeface="Arial"/>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cb76700133a14eed"/>
    <p:sldLayoutId xmlns:r="http://schemas.openxmlformats.org/officeDocument/2006/relationships" id="2147483662" r:id="Rde05f1edbc3b464d"/>
    <p:sldLayoutId xmlns:r="http://schemas.openxmlformats.org/officeDocument/2006/relationships" id="2147483663" r:id="R5fdae26ce3d84475"/>
    <p:sldLayoutId xmlns:r="http://schemas.openxmlformats.org/officeDocument/2006/relationships" id="2147483664" r:id="R9861e42ce44348ac"/>
    <p:sldLayoutId xmlns:r="http://schemas.openxmlformats.org/officeDocument/2006/relationships" id="2147483665" r:id="R3ae3b4c27bac4339"/>
    <p:sldLayoutId xmlns:r="http://schemas.openxmlformats.org/officeDocument/2006/relationships" id="2147483666" r:id="R69cf4324967d4d1a"/>
    <p:sldLayoutId xmlns:r="http://schemas.openxmlformats.org/officeDocument/2006/relationships" id="2147483667" r:id="R56b2e03c3b4e4069"/>
    <p:sldLayoutId xmlns:r="http://schemas.openxmlformats.org/officeDocument/2006/relationships" id="2147483668" r:id="Rd33459a9e38d4aee"/>
    <p:sldLayoutId xmlns:r="http://schemas.openxmlformats.org/officeDocument/2006/relationships" id="2147483669" r:id="R0bd58a25edbe44c3"/>
    <p:sldLayoutId xmlns:r="http://schemas.openxmlformats.org/officeDocument/2006/relationships" id="2147483670" r:id="R6489aa1851994ebb"/>
    <p:sldLayoutId xmlns:r="http://schemas.openxmlformats.org/officeDocument/2006/relationships" id="2147483671" r:id="R3408dd2869934c7f"/>
    <p:sldLayoutId xmlns:r="http://schemas.openxmlformats.org/officeDocument/2006/relationships" id="2147483672" r:id="Ra000ede190094d8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4" r:id="R9e648ab53544449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525b091ba10f4419" /><Relationship Type="http://schemas.openxmlformats.org/officeDocument/2006/relationships/notesSlide" Target="/ppt/notesSlides/notesSlide1.xml" Id="Rc8f1de2ad00c45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c6de496e8aa241ce" /><Relationship Type="http://schemas.openxmlformats.org/officeDocument/2006/relationships/notesSlide" Target="/ppt/notesSlides/notesSlide2.xml" Id="Raae1b8e31a1243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4.xml" Id="Re5a2dde6d4434dc7" /><Relationship Type="http://schemas.openxmlformats.org/officeDocument/2006/relationships/image" Target="/ppt/media/image.png" Id="Ra20d82879ec1424b" /><Relationship Type="http://schemas.openxmlformats.org/officeDocument/2006/relationships/notesSlide" Target="/ppt/notesSlides/notesSlide3.xml" Id="Rf41072411d8645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4.xml" Id="R8dee5bd098e24d65" /><Relationship Type="http://schemas.openxmlformats.org/officeDocument/2006/relationships/image" Target="/ppt/media/image2.png" Id="Rb0fb8d43eeb14b0e" /><Relationship Type="http://schemas.openxmlformats.org/officeDocument/2006/relationships/notesSlide" Target="/ppt/notesSlides/notesSlide4.xml" Id="R68562360951b4b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4.xml" Id="R6155d78cdfa84113" /><Relationship Type="http://schemas.openxmlformats.org/officeDocument/2006/relationships/image" Target="/ppt/media/image2.png" Id="Rca97528b095c42eb" /><Relationship Type="http://schemas.openxmlformats.org/officeDocument/2006/relationships/notesSlide" Target="/ppt/notesSlides/notesSlide5.xml" Id="R5e929cb70d5641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13a90f4829304652" /><Relationship Type="http://schemas.openxmlformats.org/officeDocument/2006/relationships/image" Target="/ppt/media/image3.png" Id="R5f16093a79404bdf" /><Relationship Type="http://schemas.openxmlformats.org/officeDocument/2006/relationships/notesSlide" Target="/ppt/notesSlides/notesSlide6.xml" Id="R51cedcce39f04f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cfd1ab4f40bd473a" /><Relationship Type="http://schemas.openxmlformats.org/officeDocument/2006/relationships/image" Target="/ppt/media/image3.png" Id="R123a8d386c74494e" /><Relationship Type="http://schemas.openxmlformats.org/officeDocument/2006/relationships/notesSlide" Target="/ppt/notesSlides/notesSlide7.xml" Id="R312d122510ef49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779a452928e74ab8" /><Relationship Type="http://schemas.openxmlformats.org/officeDocument/2006/relationships/image" Target="/ppt/media/image3.png" Id="R93c89904858a4e8f" /><Relationship Type="http://schemas.openxmlformats.org/officeDocument/2006/relationships/notesSlide" Target="/ppt/notesSlides/notesSlide8.xml" Id="R84df66aacb3f41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3.xml" Id="Rfd5da1b511914036" /><Relationship Type="http://schemas.openxmlformats.org/officeDocument/2006/relationships/hyperlink" Target="http://kaggle.com/datasets/sulianova/cardiovascular-disease-dataset" TargetMode="External" Id="R73d681fa8af44681" /><Relationship Type="http://schemas.openxmlformats.org/officeDocument/2006/relationships/hyperlink" Target="http://kaggle.com/datasets/iammustafatz/diabetes-prediction-dataset" TargetMode="External" Id="R30abf23ae1dc4605" /><Relationship Type="http://schemas.openxmlformats.org/officeDocument/2006/relationships/hyperlink" Target="http://kaggle.com/datasets/fedesoriano/heart-failure-prediction" TargetMode="External" Id="Rf6c11f3475f54ace" /><Relationship Type="http://schemas.openxmlformats.org/officeDocument/2006/relationships/hyperlink" Target="http://kaggle.com/datasets/fedesoriano/stroke-prediction-dataset" TargetMode="External" Id="R5fd3faf7da6b4c17" /><Relationship Type="http://schemas.openxmlformats.org/officeDocument/2006/relationships/hyperlink" Target="http://dosm.gov.my/" TargetMode="External" Id="R16e919de7e594359" /><Relationship Type="http://schemas.openxmlformats.org/officeDocument/2006/relationships/hyperlink" Target="http://open.dosm.gov.my/data-catalogue/deaths_district_sex" TargetMode="External" Id="R1b9fd8d3ef2f496b" /><Relationship Type="http://schemas.openxmlformats.org/officeDocument/2006/relationships/notesSlide" Target="/ppt/notesSlides/notesSlide9.xml" Id="R6a9f9e01bca34a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3.xml" Id="R7d542b0bc8544758" /><Relationship Type="http://schemas.openxmlformats.org/officeDocument/2006/relationships/image" Target="/ppt/media/image4.png" Id="Rfe990c9e57c741f5" /><Relationship Type="http://schemas.openxmlformats.org/officeDocument/2006/relationships/image" Target="/ppt/media/image5.png" Id="R0061b7649cf941aa" /><Relationship Type="http://schemas.openxmlformats.org/officeDocument/2006/relationships/image" Target="/ppt/media/image6.png" Id="R084849dab1504384" /><Relationship Type="http://schemas.openxmlformats.org/officeDocument/2006/relationships/notesSlide" Target="/ppt/notesSlides/notesSlide10.xml" Id="R4878b7e3d61647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3.xml" Id="R645e3de58a7a4f48" /><Relationship Type="http://schemas.openxmlformats.org/officeDocument/2006/relationships/image" Target="/ppt/media/image7.png" Id="Rf514b3010b874468" /><Relationship Type="http://schemas.openxmlformats.org/officeDocument/2006/relationships/notesSlide" Target="/ppt/notesSlides/notesSlide11.xml" Id="Rdc6289e944674b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3.xml" Id="R922f0fe15bff44df" /><Relationship Type="http://schemas.openxmlformats.org/officeDocument/2006/relationships/notesSlide" Target="/ppt/notesSlides/notesSlide12.xml" Id="R2d36266874dc49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bb0c9cec89c74383" /><Relationship Type="http://schemas.openxmlformats.org/officeDocument/2006/relationships/notesSlide" Target="/ppt/notesSlides/notesSlide13.xml" Id="Rceeeff50dea943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3.xml" Id="R06b2a45f1a864d55" /><Relationship Type="http://schemas.openxmlformats.org/officeDocument/2006/relationships/notesSlide" Target="/ppt/notesSlides/notesSlide14.xml" Id="R56587524e98f44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3.xml" Id="R6dce008f4bcd4538" /><Relationship Type="http://schemas.openxmlformats.org/officeDocument/2006/relationships/image" Target="/ppt/media/image8.png" Id="R7cca94cc2a2943a3" /><Relationship Type="http://schemas.openxmlformats.org/officeDocument/2006/relationships/image" Target="/ppt/media/image9.png" Id="R27a7941fcdc8470b" /><Relationship Type="http://schemas.openxmlformats.org/officeDocument/2006/relationships/image" Target="/ppt/media/image10.png" Id="R1fbab92dd6714e04" /><Relationship Type="http://schemas.openxmlformats.org/officeDocument/2006/relationships/image" Target="/ppt/media/image11.png" Id="R7961a8a12cba496e" /><Relationship Type="http://schemas.openxmlformats.org/officeDocument/2006/relationships/image" Target="/ppt/media/image12.png" Id="R39181a4a62484bdc" /><Relationship Type="http://schemas.openxmlformats.org/officeDocument/2006/relationships/image" Target="/ppt/media/image13.png" Id="R7e0a3fa43c05460a" /><Relationship Type="http://schemas.openxmlformats.org/officeDocument/2006/relationships/notesSlide" Target="/ppt/notesSlides/notesSlide15.xml" Id="Ra652766333df47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3.xml" Id="R7c90c7bdcadd4483" /><Relationship Type="http://schemas.openxmlformats.org/officeDocument/2006/relationships/notesSlide" Target="/ppt/notesSlides/notesSlide16.xml" Id="Re78f738e5cca4c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3.xml" Id="R803c9da951614301" /><Relationship Type="http://schemas.openxmlformats.org/officeDocument/2006/relationships/notesSlide" Target="/ppt/notesSlides/notesSlide17.xml" Id="Rd7edf2c0dc494e0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3.xml" Id="Re2ebeb36afe74dc4" /><Relationship Type="http://schemas.openxmlformats.org/officeDocument/2006/relationships/notesSlide" Target="/ppt/notesSlides/notesSlide18.xml" Id="R487defb42ddb419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3.xml" Id="R4b5d9a4f6ef140b0" /><Relationship Type="http://schemas.openxmlformats.org/officeDocument/2006/relationships/notesSlide" Target="/ppt/notesSlides/notesSlide19.xml" Id="R74dad81d26a3467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2" name="Google Shape;102;p28">
            <a:extLst xmlns:a="http://schemas.openxmlformats.org/drawingml/2006/main">
              <a:ext uri="{FF2B5EF4-FFF2-40B4-BE49-F238E27FC236}">
                <a16:creationId xmlns:a16="http://schemas.microsoft.com/office/drawing/2014/main" id="{E18581AC-5DFD-40C6-9405-83445FCF6E6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lvl="0" indent="0" algn="l">
              <a:spcBef>
                <a:spcPts val="0"/>
              </a:spcBef>
              <a:spcAft>
                <a:spcPts val="0"/>
              </a:spcAft>
              <a:buNone/>
            </a:pPr>
            <a:r>
              <a:t>Contents Guide</a:t>
            </a:r>
          </a:p>
        </p:txBody>
      </p:sp>
      <p:sp>
        <p:nvSpPr>
          <p:cNvPr id="103" name="Google Shape;103;p28">
            <a:extLst xmlns:a="http://schemas.openxmlformats.org/drawingml/2006/main">
              <a:ext uri="{FF2B5EF4-FFF2-40B4-BE49-F238E27FC236}">
                <a16:creationId xmlns:a16="http://schemas.microsoft.com/office/drawing/2014/main" id="{854FC8D9-5881-455D-90AD-29E6FD46ED78}"/>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fontScale="73777"/>
          </a:bodyPr>
          <a:lstStyle xmlns:a="http://schemas.openxmlformats.org/drawingml/2006/main"/>
          <a:p xmlns:a="http://schemas.openxmlformats.org/drawingml/2006/main">
            <a:pPr marL="0" lvl="0" indent="0" algn="l">
              <a:spcBef>
                <a:spcPts val="0"/>
              </a:spcBef>
              <a:spcAft>
                <a:spcPts val="0"/>
              </a:spcAft>
              <a:buNone/>
            </a:pPr>
            <a:r>
              <a:t>Problem Statement</a:t>
            </a:r>
          </a:p>
          <a:p xmlns:a="http://schemas.openxmlformats.org/drawingml/2006/main">
            <a:pPr marL="0" lvl="0" indent="0" algn="l">
              <a:spcBef>
                <a:spcPts val="1200"/>
              </a:spcBef>
              <a:spcAft>
                <a:spcPts val="0"/>
              </a:spcAft>
              <a:buNone/>
            </a:pPr>
            <a:r>
              <a:t>Persona</a:t>
            </a:r>
          </a:p>
          <a:p xmlns:a="http://schemas.openxmlformats.org/drawingml/2006/main">
            <a:pPr marL="0" lvl="0" indent="0" algn="l">
              <a:spcBef>
                <a:spcPts val="1200"/>
              </a:spcBef>
              <a:spcAft>
                <a:spcPts val="0"/>
              </a:spcAft>
              <a:buNone/>
            </a:pPr>
            <a:r>
              <a:t>Epic/User Stories (add LeanKit Board)</a:t>
            </a:r>
          </a:p>
          <a:p xmlns:a="http://schemas.openxmlformats.org/drawingml/2006/main">
            <a:pPr marL="0" lvl="0" indent="0" algn="l">
              <a:spcBef>
                <a:spcPts val="1200"/>
              </a:spcBef>
              <a:spcAft>
                <a:spcPts val="0"/>
              </a:spcAft>
              <a:buNone/>
            </a:pPr>
            <a:r>
              <a:t>Open Data</a:t>
            </a:r>
          </a:p>
          <a:p xmlns:a="http://schemas.openxmlformats.org/drawingml/2006/main">
            <a:pPr marL="0" lvl="0" indent="0" algn="l">
              <a:spcBef>
                <a:spcPts val="1200"/>
              </a:spcBef>
              <a:spcAft>
                <a:spcPts val="0"/>
              </a:spcAft>
              <a:buNone/>
            </a:pPr>
            <a:r>
              <a:t>AI Workflow</a:t>
            </a:r>
          </a:p>
          <a:p xmlns:a="http://schemas.openxmlformats.org/drawingml/2006/main">
            <a:pPr marL="0" lvl="0" indent="0" algn="l">
              <a:spcBef>
                <a:spcPts val="1200"/>
              </a:spcBef>
              <a:spcAft>
                <a:spcPts val="0"/>
              </a:spcAft>
              <a:buNone/>
            </a:pPr>
            <a:r>
              <a:t>System Diagram &amp; Code Quality</a:t>
            </a:r>
          </a:p>
          <a:p xmlns:a="http://schemas.openxmlformats.org/drawingml/2006/main">
            <a:pPr marL="0" lvl="0" indent="0" algn="l">
              <a:spcBef>
                <a:spcPts val="1200"/>
              </a:spcBef>
              <a:spcAft>
                <a:spcPts val="1200"/>
              </a:spcAft>
              <a:buNone/>
            </a:pPr>
            <a:r>
              <a:t>Security Plan</a:t>
            </a:r>
          </a:p>
          <a:p xmlns:a="http://schemas.openxmlformats.org/drawingml/2006/main">
            <a:pPr marL="0" lvl="0" indent="0" algn="l">
              <a:spcBef>
                <a:spcPts val="1200"/>
              </a:spcBef>
              <a:spcAft>
                <a:spcPts val="1200"/>
              </a:spcAft>
              <a:buNone/>
            </a:pPr>
            <a:r>
              <a:t>Innovation</a:t>
            </a:r>
          </a:p>
        </p:txBody>
      </p:sp>
    </p:spTree>
    <p:extLst>
      <p:ext uri="{BB962C8B-B14F-4D97-AF65-F5344CB8AC3E}">
        <p14:creationId xmlns:p14="http://schemas.microsoft.com/office/powerpoint/2010/main" val="592795345"/>
      </p:ext>
    </p:extLst>
  </p:cSld>
</p:sld>
</file>

<file path=ppt/slides/slide2.xml><?xml version="1.0" encoding="utf-8"?>
<p:sld xmlns:p="http://schemas.openxmlformats.org/presentationml/2006/main">
  <p:cSld>
    <p:bg>
      <p:bgPr>
        <a:solidFill xmlns:a="http://schemas.openxmlformats.org/drawingml/2006/main">
          <a:srgbClr val="FEFEFE"/>
        </a:solidFill>
      </p:bgPr>
    </p:bg>
    <p:spTree>
      <p:nvGrpSpPr>
        <p:cNvPr id="1" name=""/>
        <p:cNvGrpSpPr/>
        <p:nvPr/>
      </p:nvGrpSpPr>
      <p:grpSpPr>
        <a:xfrm xmlns:a="http://schemas.openxmlformats.org/drawingml/2006/main"/>
      </p:grpSpPr>
      <p:sp>
        <p:nvSpPr>
          <p:cNvPr id="109" name="Google Shape;109;p29">
            <a:extLst xmlns:a="http://schemas.openxmlformats.org/drawingml/2006/main">
              <a:ext uri="{FF2B5EF4-FFF2-40B4-BE49-F238E27FC236}">
                <a16:creationId xmlns:a16="http://schemas.microsoft.com/office/drawing/2014/main" id="{18D04A0E-F6BA-4590-AB85-E273A47505FF}"/>
              </a:ext>
            </a:extLst>
          </p:cNvPr>
          <p:cNvSpPr>
            <a:spLocks xmlns:a="http://schemas.openxmlformats.org/drawingml/2006/main" noGrp="1"/>
          </p:cNvSpPr>
          <p:nvPr/>
        </p:nvSpPr>
        <p:spPr>
          <a:xfrm xmlns:a="http://schemas.openxmlformats.org/drawingml/2006/main">
            <a:off x="5367338" y="1397588"/>
            <a:ext cx="3443288" cy="12314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324F"/>
              </a:buClr>
              <a:buSzPts val="4000"/>
              <a:buFont typeface="Arial"/>
              <a:buNone/>
            </a:pPr>
            <a:r>
              <a:rPr sz="4000" b="1" i="0" u="none" cap="none">
                <a:solidFill>
                  <a:srgbClr val="16324F"/>
                </a:solidFill>
                <a:latin typeface="Arial"/>
                <a:ea typeface="Arial"/>
                <a:cs typeface="Arial"/>
              </a:rPr>
              <a:t>HealthFirst</a:t>
            </a:r>
          </a:p>
        </p:txBody>
      </p:sp>
      <p:sp>
        <p:nvSpPr>
          <p:cNvPr id="110" name="Google Shape;110;p29">
            <a:extLst xmlns:a="http://schemas.openxmlformats.org/drawingml/2006/main">
              <a:ext uri="{FF2B5EF4-FFF2-40B4-BE49-F238E27FC236}">
                <a16:creationId xmlns:a16="http://schemas.microsoft.com/office/drawing/2014/main" id="{4BF27C0D-7D46-4724-AF3A-A840D357EA76}"/>
              </a:ext>
            </a:extLst>
          </p:cNvPr>
          <p:cNvSpPr>
            <a:spLocks xmlns:a="http://schemas.openxmlformats.org/drawingml/2006/main" noGrp="1"/>
          </p:cNvSpPr>
          <p:nvPr/>
        </p:nvSpPr>
        <p:spPr>
          <a:xfrm xmlns:a="http://schemas.openxmlformats.org/drawingml/2006/main">
            <a:off x="5367338" y="850529"/>
            <a:ext cx="3443288"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2A9D8F"/>
              </a:buClr>
              <a:buSzPts val="2100"/>
              <a:buFont typeface="Arial"/>
              <a:buNone/>
            </a:pPr>
            <a:r>
              <a:rPr sz="2100" b="1" i="0" u="none" cap="none">
                <a:solidFill>
                  <a:srgbClr val="2A9D8F"/>
                </a:solidFill>
                <a:latin typeface="Arial"/>
                <a:ea typeface="Arial"/>
                <a:cs typeface="Arial"/>
              </a:rPr>
              <a:t>Onboarding Project</a:t>
            </a:r>
          </a:p>
        </p:txBody>
      </p:sp>
      <p:sp>
        <p:nvSpPr>
          <p:cNvPr id="111" name="Google Shape;111;p29">
            <a:extLst xmlns:a="http://schemas.openxmlformats.org/drawingml/2006/main">
              <a:ext uri="{FF2B5EF4-FFF2-40B4-BE49-F238E27FC236}">
                <a16:creationId xmlns:a16="http://schemas.microsoft.com/office/drawing/2014/main" id="{0BA167B3-17E0-4506-8449-B01023197450}"/>
              </a:ext>
            </a:extLst>
          </p:cNvPr>
          <p:cNvSpPr>
            <a:spLocks xmlns:a="http://schemas.openxmlformats.org/drawingml/2006/main" noGrp="1"/>
          </p:cNvSpPr>
          <p:nvPr/>
        </p:nvSpPr>
        <p:spPr>
          <a:xfrm xmlns:a="http://schemas.openxmlformats.org/drawingml/2006/main">
            <a:off x="5367338" y="430795"/>
            <a:ext cx="3443288" cy="1077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18"/>
              </a:lnSpc>
              <a:spcBef>
                <a:spcPts val="0"/>
              </a:spcBef>
              <a:spcAft>
                <a:spcPts val="0"/>
              </a:spcAft>
              <a:buSzPts val="1800"/>
              <a:buFont typeface="Arial"/>
              <a:buNone/>
            </a:pPr>
            <a:r>
              <a:t/>
            </a:r>
          </a:p>
        </p:txBody>
      </p:sp>
      <p:sp>
        <p:nvSpPr>
          <p:cNvPr id="112" name="Google Shape;112;p29">
            <a:extLst xmlns:a="http://schemas.openxmlformats.org/drawingml/2006/main">
              <a:ext uri="{FF2B5EF4-FFF2-40B4-BE49-F238E27FC236}">
                <a16:creationId xmlns:a16="http://schemas.microsoft.com/office/drawing/2014/main" id="{BF9BFA95-60C9-43D7-9344-081F54755006}"/>
              </a:ext>
            </a:extLst>
          </p:cNvPr>
          <p:cNvSpPr>
            <a:spLocks xmlns:a="http://schemas.openxmlformats.org/drawingml/2006/main" noGrp="1"/>
          </p:cNvSpPr>
          <p:nvPr/>
        </p:nvSpPr>
        <p:spPr>
          <a:xfrm xmlns:a="http://schemas.openxmlformats.org/drawingml/2006/main">
            <a:off x="4978425" y="3489400"/>
            <a:ext cx="2126100" cy="132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75569"/>
              </a:buClr>
              <a:buSzPts val="1800"/>
              <a:buFont typeface="Arial"/>
              <a:buNone/>
            </a:pPr>
            <a:r>
              <a:rPr sz="1800">
                <a:solidFill>
                  <a:srgbClr val="475569"/>
                </a:solidFill>
              </a:rPr>
              <a:t>TM04</a:t>
            </a:r>
          </a:p>
          <a:p xmlns:a="http://schemas.openxmlformats.org/drawingml/2006/main">
            <a:pPr marL="0" marR="0" lvl="0" indent="0" algn="l">
              <a:lnSpc>
                <a:spcPct val="100000"/>
              </a:lnSpc>
              <a:spcBef>
                <a:spcPts val="0"/>
              </a:spcBef>
              <a:spcAft>
                <a:spcPts val="0"/>
              </a:spcAft>
              <a:buSzPts val="1800"/>
              <a:buFont typeface="Arial"/>
              <a:buNone/>
            </a:pPr>
            <a:r>
              <a:t>Huang Guan - Project Manager</a:t>
            </a:r>
          </a:p>
          <a:p xmlns:a="http://schemas.openxmlformats.org/drawingml/2006/main">
            <a:pPr marL="0" marR="0" lvl="0" indent="0" algn="l">
              <a:spcBef>
                <a:spcPts val="0"/>
              </a:spcBef>
              <a:spcAft>
                <a:spcPts val="0"/>
              </a:spcAft>
              <a:buClr>
                <a:schemeClr val="dk1"/>
              </a:buClr>
              <a:buSzPts val="1800"/>
              <a:buFont typeface="Arial"/>
              <a:buNone/>
            </a:pPr>
            <a:r>
              <a:t>Hnin Darli - Data Analysis</a:t>
            </a:r>
          </a:p>
          <a:p xmlns:a="http://schemas.openxmlformats.org/drawingml/2006/main">
            <a:pPr marL="0" marR="0" lvl="0" indent="0" algn="l">
              <a:lnSpc>
                <a:spcPct val="100000"/>
              </a:lnSpc>
              <a:spcBef>
                <a:spcPts val="0"/>
              </a:spcBef>
              <a:spcAft>
                <a:spcPts val="0"/>
              </a:spcAft>
              <a:buClr>
                <a:srgbClr val="475569"/>
              </a:buClr>
              <a:buSzPts val="1100"/>
              <a:buFont typeface="Arial"/>
              <a:buNone/>
            </a:pPr>
            <a:r>
              <a:rPr sz="1100">
                <a:solidFill>
                  <a:srgbClr val="475569"/>
                </a:solidFill>
                <a:latin typeface="Arial"/>
                <a:ea typeface="Arial"/>
                <a:cs typeface="Arial"/>
              </a:rPr>
              <a:t>Qian Jiang - UI/UX</a:t>
            </a:r>
          </a:p>
          <a:p xmlns:a="http://schemas.openxmlformats.org/drawingml/2006/main">
            <a:pPr marL="0" marR="0" lvl="0" indent="0" algn="l">
              <a:lnSpc>
                <a:spcPct val="100000"/>
              </a:lnSpc>
              <a:spcBef>
                <a:spcPts val="0"/>
              </a:spcBef>
              <a:spcAft>
                <a:spcPts val="0"/>
              </a:spcAft>
              <a:buClr>
                <a:srgbClr val="475569"/>
              </a:buClr>
              <a:buSzPts val="1100"/>
              <a:buFont typeface="Arial"/>
              <a:buNone/>
            </a:pPr>
            <a:r>
              <a:rPr sz="1100">
                <a:solidFill>
                  <a:srgbClr val="475569"/>
                </a:solidFill>
                <a:latin typeface="Arial"/>
                <a:ea typeface="Arial"/>
                <a:cs typeface="Arial"/>
              </a:rPr>
              <a:t>Benshuai Su - Backend / LLM</a:t>
            </a:r>
          </a:p>
          <a:p xmlns:a="http://schemas.openxmlformats.org/drawingml/2006/main">
            <a:pPr marL="0" marR="0" lvl="0" indent="0" algn="l">
              <a:lnSpc>
                <a:spcPct val="100000"/>
              </a:lnSpc>
              <a:spcBef>
                <a:spcPts val="0"/>
              </a:spcBef>
              <a:spcAft>
                <a:spcPts val="0"/>
              </a:spcAft>
              <a:buClr>
                <a:srgbClr val="475569"/>
              </a:buClr>
              <a:buSzPts val="1100"/>
              <a:buFont typeface="Arial"/>
              <a:buNone/>
            </a:pPr>
            <a:r>
              <a:rPr sz="1100">
                <a:solidFill>
                  <a:srgbClr val="475569"/>
                </a:solidFill>
                <a:latin typeface="Arial"/>
                <a:ea typeface="Arial"/>
                <a:cs typeface="Arial"/>
              </a:rPr>
              <a:t>Keith - Backend / DB</a:t>
            </a:r>
          </a:p>
          <a:p xmlns:a="http://schemas.openxmlformats.org/drawingml/2006/main">
            <a:pPr marL="0" marR="0" lvl="0" indent="0" algn="l">
              <a:lnSpc>
                <a:spcPct val="100000"/>
              </a:lnSpc>
              <a:spcBef>
                <a:spcPts val="0"/>
              </a:spcBef>
              <a:spcAft>
                <a:spcPts val="0"/>
              </a:spcAft>
              <a:buClr>
                <a:srgbClr val="475569"/>
              </a:buClr>
              <a:buSzPts val="1100"/>
              <a:buFont typeface="Arial"/>
              <a:buNone/>
            </a:pPr>
            <a:r>
              <a:rPr sz="1100">
                <a:solidFill>
                  <a:srgbClr val="475569"/>
                </a:solidFill>
                <a:latin typeface="Arial"/>
                <a:ea typeface="Arial"/>
                <a:cs typeface="Arial"/>
              </a:rPr>
              <a:t>Hanxia Li - Frontend</a:t>
            </a:r>
          </a:p>
        </p:txBody>
      </p:sp>
      <p:sp>
        <p:nvSpPr>
          <p:cNvPr id="113" name="Google Shape;113;p29">
            <a:extLst xmlns:a="http://schemas.openxmlformats.org/drawingml/2006/main">
              <a:ext uri="{FF2B5EF4-FFF2-40B4-BE49-F238E27FC236}">
                <a16:creationId xmlns:a16="http://schemas.microsoft.com/office/drawing/2014/main" id="{E5121659-30D7-4A30-8635-837B1FD118B3}"/>
              </a:ext>
            </a:extLst>
          </p:cNvPr>
          <p:cNvSpPr>
            <a:spLocks xmlns:a="http://schemas.openxmlformats.org/drawingml/2006/main" noGrp="1"/>
          </p:cNvSpPr>
          <p:nvPr/>
        </p:nvSpPr>
        <p:spPr>
          <a:xfrm xmlns:a="http://schemas.openxmlformats.org/drawingml/2006/main">
            <a:off x="884913" y="332388"/>
            <a:ext cx="3444789" cy="4478701"/>
          </a:xfrm>
          <a:custGeom xmlns:a="http://schemas.openxmlformats.org/drawingml/2006/main">
            <a:rect l="l" t="t" r="r" b="b"/>
            <a:pathLst>
              <a:path w="1200275" h="1560523">
                <a:moveTo>
                  <a:pt x="44968" y="0"/>
                </a:moveTo>
                <a:lnTo>
                  <a:pt x="1155306" y="0"/>
                </a:lnTo>
                <a:cubicBezTo>
                  <a:pt x="1167233" y="0"/>
                  <a:pt x="1178670" y="4738"/>
                  <a:pt x="1187104" y="13171"/>
                </a:cubicBezTo>
                <a:cubicBezTo>
                  <a:pt x="1195537" y="21604"/>
                  <a:pt x="1200275" y="33042"/>
                  <a:pt x="1200275" y="44968"/>
                </a:cubicBezTo>
                <a:lnTo>
                  <a:pt x="1200275" y="1515555"/>
                </a:lnTo>
                <a:cubicBezTo>
                  <a:pt x="1200275" y="1527481"/>
                  <a:pt x="1195537" y="1538919"/>
                  <a:pt x="1187104" y="1547352"/>
                </a:cubicBezTo>
                <a:cubicBezTo>
                  <a:pt x="1178670" y="1555785"/>
                  <a:pt x="1167233" y="1560523"/>
                  <a:pt x="1155306" y="1560523"/>
                </a:cubicBezTo>
                <a:lnTo>
                  <a:pt x="44968" y="1560523"/>
                </a:lnTo>
                <a:cubicBezTo>
                  <a:pt x="33042" y="1560523"/>
                  <a:pt x="21604" y="1555785"/>
                  <a:pt x="13171" y="1547352"/>
                </a:cubicBezTo>
                <a:cubicBezTo>
                  <a:pt x="4738" y="1538919"/>
                  <a:pt x="0" y="1527481"/>
                  <a:pt x="0" y="1515555"/>
                </a:cubicBezTo>
                <a:lnTo>
                  <a:pt x="0" y="44968"/>
                </a:lnTo>
                <a:cubicBezTo>
                  <a:pt x="0" y="33042"/>
                  <a:pt x="4738" y="21604"/>
                  <a:pt x="13171" y="13171"/>
                </a:cubicBezTo>
                <a:cubicBezTo>
                  <a:pt x="21604" y="4738"/>
                  <a:pt x="33042" y="0"/>
                  <a:pt x="44968" y="0"/>
                </a:cubicBezTo>
                <a:close/>
              </a:path>
            </a:pathLst>
          </a:custGeom>
          <a:solidFill xmlns:a="http://schemas.openxmlformats.org/drawingml/2006/main">
            <a:srgbClr val="E7F5F2"/>
          </a:solidFill>
          <a:ln xmlns:a="http://schemas.openxmlformats.org/drawingml/2006/main" w="9525" cmpd="sng">
            <a:solidFill>
              <a:srgbClr val="C7E6E0"/>
            </a:solidFill>
            <a:prstDash val="solid"/>
            <a:headEnd type="none" w="sm" len="sm"/>
            <a:tailEnd type="none" w="sm" len="sm"/>
          </a:ln>
        </p:spPr>
        <p:txBody>
          <a:bodyPr xmlns:a="http://schemas.openxmlformats.org/drawingml/2006/main" spcFirstLastPara="1" wrap="square" lIns="45725" tIns="45725" rIns="45725" bIns="45725" anchor="ctr">
            <a:noAutofit/>
          </a:bodyPr>
          <a:lstStyle xmlns:a="http://schemas.openxmlformats.org/drawingml/2006/main"/>
          <a:p xmlns:a="http://schemas.openxmlformats.org/drawingml/2006/main">
            <a:pPr marL="0" marR="0" lvl="0" indent="0" algn="ctr">
              <a:spcBef>
                <a:spcPts val="0"/>
              </a:spcBef>
              <a:spcAft>
                <a:spcPts val="0"/>
              </a:spcAft>
              <a:buClr>
                <a:srgbClr val="2A9D8F"/>
              </a:buClr>
              <a:buSzPts val="900"/>
              <a:buFont typeface="Arial"/>
              <a:buNone/>
            </a:pPr>
            <a:r>
              <a:rPr sz="900" b="1">
                <a:solidFill>
                  <a:srgbClr val="2A9D8F"/>
                </a:solidFill>
                <a:latin typeface="Arial"/>
                <a:ea typeface="Arial"/>
                <a:cs typeface="Arial"/>
              </a:rPr>
              <a:t>PROJECT VISUAL</a:t>
            </a:r>
          </a:p>
          <a:p xmlns:a="http://schemas.openxmlformats.org/drawingml/2006/main">
            <a:pPr marL="0" marR="0" lvl="0" indent="0" algn="ctr">
              <a:spcBef>
                <a:spcPts val="0"/>
              </a:spcBef>
              <a:spcAft>
                <a:spcPts val="0"/>
              </a:spcAft>
              <a:buClr>
                <a:srgbClr val="2A9D8F"/>
              </a:buClr>
              <a:buSzPts val="900"/>
              <a:buFont typeface="Arial"/>
              <a:buNone/>
            </a:pPr>
            <a:r>
              <a:rPr sz="900" b="1">
                <a:solidFill>
                  <a:srgbClr val="2A9D8F"/>
                </a:solidFill>
                <a:latin typeface="Arial"/>
                <a:ea typeface="Arial"/>
                <a:cs typeface="Arial"/>
              </a:rPr>
              <a:t>HealthFirst flow: report -&gt; compare -&gt; next step</a:t>
            </a:r>
          </a:p>
        </p:txBody>
      </p:sp>
    </p:spTree>
    <p:extLst>
      <p:ext uri="{BB962C8B-B14F-4D97-AF65-F5344CB8AC3E}">
        <p14:creationId xmlns:p14="http://schemas.microsoft.com/office/powerpoint/2010/main" val="3495537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 name="Google Shape;119;p30">
            <a:extLst xmlns:a="http://schemas.openxmlformats.org/drawingml/2006/main">
              <a:ext uri="{FF2B5EF4-FFF2-40B4-BE49-F238E27FC236}">
                <a16:creationId xmlns:a16="http://schemas.microsoft.com/office/drawing/2014/main" id="{25118760-A6DF-476A-BCB2-E0FE46FE297D}"/>
              </a:ext>
            </a:extLst>
          </p:cNvPr>
          <p:cNvSpPr>
            <a:spLocks xmlns:a="http://schemas.openxmlformats.org/drawingml/2006/main" noGrp="1"/>
          </p:cNvSpPr>
          <p:nvPr/>
        </p:nvSpPr>
        <p:spPr>
          <a:xfrm xmlns:a="http://schemas.openxmlformats.org/drawingml/2006/main">
            <a:off x="480060" y="342900"/>
            <a:ext cx="27432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6B6B6B"/>
              </a:buClr>
              <a:buSzPts val="1100"/>
              <a:buFont typeface="Calibri"/>
              <a:buNone/>
            </a:pPr>
            <a:r>
              <a:rPr sz="1100" b="0" i="0" u="none" cap="none">
                <a:solidFill>
                  <a:srgbClr val="6B6B6B"/>
                </a:solidFill>
                <a:latin typeface="Calibri"/>
                <a:ea typeface="Calibri"/>
                <a:cs typeface="Calibri"/>
              </a:rPr>
              <a:t>Problem statement</a:t>
            </a:r>
          </a:p>
        </p:txBody>
      </p:sp>
      <p:sp>
        <p:nvSpPr>
          <p:cNvPr id="120" name="Google Shape;120;p30">
            <a:extLst xmlns:a="http://schemas.openxmlformats.org/drawingml/2006/main">
              <a:ext uri="{FF2B5EF4-FFF2-40B4-BE49-F238E27FC236}">
                <a16:creationId xmlns:a16="http://schemas.microsoft.com/office/drawing/2014/main" id="{D3B96144-6B41-4A2F-BC4F-3F7043CAC8D5}"/>
              </a:ext>
            </a:extLst>
          </p:cNvPr>
          <p:cNvSpPr>
            <a:spLocks xmlns:a="http://schemas.openxmlformats.org/drawingml/2006/main" noGrp="1"/>
          </p:cNvSpPr>
          <p:nvPr/>
        </p:nvSpPr>
        <p:spPr>
          <a:xfrm xmlns:a="http://schemas.openxmlformats.org/drawingml/2006/main">
            <a:off x="480060" y="582930"/>
            <a:ext cx="8161020" cy="7543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A1A1A"/>
              </a:buClr>
              <a:buSzPts val="2300"/>
              <a:buFont typeface="Calibri"/>
              <a:buNone/>
            </a:pPr>
            <a:r>
              <a:rPr sz="2300" b="1" i="0" u="none" cap="none">
                <a:solidFill>
                  <a:srgbClr val="1A1A1A"/>
                </a:solidFill>
                <a:latin typeface="Calibri"/>
                <a:ea typeface="Calibri"/>
                <a:cs typeface="Calibri"/>
              </a:rPr>
              <a:t>Middle-aged Malaysians complete health screenings</a:t>
            </a:r>
          </a:p>
          <a:p xmlns:a="http://schemas.openxmlformats.org/drawingml/2006/main">
            <a:pPr marL="0" marR="0" lvl="0" indent="0" algn="l">
              <a:lnSpc>
                <a:spcPct val="115000"/>
              </a:lnSpc>
              <a:spcBef>
                <a:spcPts val="0"/>
              </a:spcBef>
              <a:spcAft>
                <a:spcPts val="0"/>
              </a:spcAft>
              <a:buClr>
                <a:srgbClr val="1A1A1A"/>
              </a:buClr>
              <a:buSzPts val="2300"/>
              <a:buFont typeface="Calibri"/>
              <a:buNone/>
            </a:pPr>
            <a:r>
              <a:rPr sz="2300" b="1" i="0" u="none" cap="none">
                <a:solidFill>
                  <a:srgbClr val="1A1A1A"/>
                </a:solidFill>
                <a:latin typeface="Calibri"/>
                <a:ea typeface="Calibri"/>
                <a:cs typeface="Calibri"/>
              </a:rPr>
              <a:t>but cannot act on the results</a:t>
            </a:r>
          </a:p>
        </p:txBody>
      </p:sp>
      <p:sp>
        <p:nvSpPr>
          <p:cNvPr id="121" name="Google Shape;121;p30">
            <a:extLst xmlns:a="http://schemas.openxmlformats.org/drawingml/2006/main">
              <a:ext uri="{FF2B5EF4-FFF2-40B4-BE49-F238E27FC236}">
                <a16:creationId xmlns:a16="http://schemas.microsoft.com/office/drawing/2014/main" id="{5F46DCF1-C0B5-4E8D-ABB2-EE85C9F1505B}"/>
              </a:ext>
            </a:extLst>
          </p:cNvPr>
          <p:cNvSpPr>
            <a:spLocks xmlns:a="http://schemas.openxmlformats.org/drawingml/2006/main" noGrp="1"/>
          </p:cNvSpPr>
          <p:nvPr/>
        </p:nvSpPr>
        <p:spPr>
          <a:xfrm xmlns:a="http://schemas.openxmlformats.org/drawingml/2006/main">
            <a:off x="480060" y="1611630"/>
            <a:ext cx="2331720" cy="7886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85FA5"/>
              </a:buClr>
              <a:buSzPts val="5000"/>
              <a:buFont typeface="Calibri"/>
              <a:buNone/>
            </a:pPr>
            <a:r>
              <a:rPr sz="5000" b="1" i="0" u="none" cap="none">
                <a:solidFill>
                  <a:srgbClr val="185FA5"/>
                </a:solidFill>
                <a:latin typeface="Calibri"/>
                <a:ea typeface="Calibri"/>
                <a:cs typeface="Calibri"/>
              </a:rPr>
              <a:t>1 in 2</a:t>
            </a:r>
          </a:p>
        </p:txBody>
      </p:sp>
      <p:sp>
        <p:nvSpPr>
          <p:cNvPr id="122" name="Google Shape;122;p30">
            <a:extLst xmlns:a="http://schemas.openxmlformats.org/drawingml/2006/main">
              <a:ext uri="{FF2B5EF4-FFF2-40B4-BE49-F238E27FC236}">
                <a16:creationId xmlns:a16="http://schemas.microsoft.com/office/drawing/2014/main" id="{BC9E90EE-25F0-4182-A547-69A85D8ED562}"/>
              </a:ext>
            </a:extLst>
          </p:cNvPr>
          <p:cNvSpPr>
            <a:spLocks xmlns:a="http://schemas.openxmlformats.org/drawingml/2006/main" noGrp="1"/>
          </p:cNvSpPr>
          <p:nvPr/>
        </p:nvSpPr>
        <p:spPr>
          <a:xfrm xmlns:a="http://schemas.openxmlformats.org/drawingml/2006/main">
            <a:off x="480060" y="2434590"/>
            <a:ext cx="233172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25000"/>
              </a:lnSpc>
              <a:spcBef>
                <a:spcPts val="0"/>
              </a:spcBef>
              <a:spcAft>
                <a:spcPts val="0"/>
              </a:spcAft>
              <a:buClr>
                <a:srgbClr val="1A1A1A"/>
              </a:buClr>
              <a:buSzPts val="1200"/>
              <a:buFont typeface="Calibri"/>
              <a:buNone/>
            </a:pPr>
            <a:r>
              <a:rPr sz="1200" b="0" i="0" u="none" cap="none">
                <a:solidFill>
                  <a:srgbClr val="1A1A1A"/>
                </a:solidFill>
                <a:latin typeface="Calibri"/>
                <a:ea typeface="Calibri"/>
                <a:cs typeface="Calibri"/>
              </a:rPr>
              <a:t>Malaysian adults with </a:t>
            </a:r>
            <a:r>
              <a:rPr sz="1200" b="1" i="0" u="none" cap="none">
                <a:solidFill>
                  <a:srgbClr val="0C447C"/>
                </a:solidFill>
                <a:highlight>
                  <a:srgbClr val="B5D4F4"/>
                </a:highlight>
                <a:latin typeface="Calibri"/>
                <a:ea typeface="Calibri"/>
                <a:cs typeface="Calibri"/>
              </a:rPr>
              <a:t>high cholesterol</a:t>
            </a:r>
            <a:r>
              <a:rPr sz="1200" b="0" i="0" u="none" cap="none">
                <a:solidFill>
                  <a:srgbClr val="1A1A1A"/>
                </a:solidFill>
                <a:latin typeface="Calibri"/>
                <a:ea typeface="Calibri"/>
                <a:cs typeface="Calibri"/>
              </a:rPr>
              <a:t> do not know they have it</a:t>
            </a:r>
          </a:p>
        </p:txBody>
      </p:sp>
      <p:sp>
        <p:nvSpPr>
          <p:cNvPr id="123" name="Google Shape;123;p30">
            <a:extLst xmlns:a="http://schemas.openxmlformats.org/drawingml/2006/main">
              <a:ext uri="{FF2B5EF4-FFF2-40B4-BE49-F238E27FC236}">
                <a16:creationId xmlns:a16="http://schemas.microsoft.com/office/drawing/2014/main" id="{EC040908-8795-42D3-B0A0-277A39705605}"/>
              </a:ext>
            </a:extLst>
          </p:cNvPr>
          <p:cNvSpPr>
            <a:spLocks xmlns:a="http://schemas.openxmlformats.org/drawingml/2006/main" noGrp="1"/>
          </p:cNvSpPr>
          <p:nvPr/>
        </p:nvSpPr>
        <p:spPr>
          <a:xfrm xmlns:a="http://schemas.openxmlformats.org/drawingml/2006/main">
            <a:off x="480060" y="3154680"/>
            <a:ext cx="23316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6B6B6B"/>
              </a:buClr>
              <a:buSzPts val="800"/>
              <a:buFont typeface="Calibri"/>
              <a:buNone/>
            </a:pPr>
            <a:r>
              <a:rPr sz="1100" b="0" i="0" u="none" cap="none">
                <a:solidFill>
                  <a:srgbClr val="6B6B6B"/>
                </a:solidFill>
                <a:latin typeface="Calibri"/>
                <a:ea typeface="Calibri"/>
                <a:cs typeface="Calibri"/>
              </a:rPr>
              <a:t>NHMS 2023, Ministry of Health Malaysia</a:t>
            </a:r>
          </a:p>
        </p:txBody>
      </p:sp>
      <p:sp>
        <p:nvSpPr>
          <p:cNvPr id="124" name="Google Shape;124;p30">
            <a:extLst xmlns:a="http://schemas.openxmlformats.org/drawingml/2006/main">
              <a:ext uri="{FF2B5EF4-FFF2-40B4-BE49-F238E27FC236}">
                <a16:creationId xmlns:a16="http://schemas.microsoft.com/office/drawing/2014/main" id="{8ED88912-17D8-47BF-8629-D9507457F877}"/>
              </a:ext>
            </a:extLst>
          </p:cNvPr>
          <p:cNvSpPr>
            <a:spLocks xmlns:a="http://schemas.openxmlformats.org/drawingml/2006/main" noGrp="1"/>
          </p:cNvSpPr>
          <p:nvPr/>
        </p:nvSpPr>
        <p:spPr>
          <a:xfrm xmlns:a="http://schemas.openxmlformats.org/drawingml/2006/main">
            <a:off x="3634740" y="1721358"/>
            <a:ext cx="109728" cy="109728"/>
          </a:xfrm>
          <a:prstGeom xmlns:a="http://schemas.openxmlformats.org/drawingml/2006/main" prst="ellipse">
            <a:avLst/>
          </a:prstGeom>
          <a:solidFill xmlns:a="http://schemas.openxmlformats.org/drawingml/2006/main">
            <a:srgbClr val="185FA5"/>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5" name="Google Shape;125;p30">
            <a:extLst xmlns:a="http://schemas.openxmlformats.org/drawingml/2006/main">
              <a:ext uri="{FF2B5EF4-FFF2-40B4-BE49-F238E27FC236}">
                <a16:creationId xmlns:a16="http://schemas.microsoft.com/office/drawing/2014/main" id="{E015969D-0246-4CE5-B562-E37F2246255A}"/>
              </a:ext>
            </a:extLst>
          </p:cNvPr>
          <p:cNvSpPr>
            <a:spLocks xmlns:a="http://schemas.openxmlformats.org/drawingml/2006/main" noGrp="1"/>
          </p:cNvSpPr>
          <p:nvPr/>
        </p:nvSpPr>
        <p:spPr>
          <a:xfrm xmlns:a="http://schemas.openxmlformats.org/drawingml/2006/main">
            <a:off x="3874770" y="1645920"/>
            <a:ext cx="480060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85FA5"/>
              </a:buClr>
              <a:buSzPts val="1400"/>
              <a:buFont typeface="Calibri"/>
              <a:buNone/>
            </a:pPr>
            <a:r>
              <a:rPr sz="1400" b="1" i="0" u="none" cap="none">
                <a:solidFill>
                  <a:srgbClr val="185FA5"/>
                </a:solidFill>
                <a:latin typeface="Calibri"/>
                <a:ea typeface="Calibri"/>
                <a:cs typeface="Calibri"/>
              </a:rPr>
              <a:t>Written for doctors, not patients</a:t>
            </a:r>
          </a:p>
        </p:txBody>
      </p:sp>
      <p:sp>
        <p:nvSpPr>
          <p:cNvPr id="126" name="Google Shape;126;p30">
            <a:extLst xmlns:a="http://schemas.openxmlformats.org/drawingml/2006/main">
              <a:ext uri="{FF2B5EF4-FFF2-40B4-BE49-F238E27FC236}">
                <a16:creationId xmlns:a16="http://schemas.microsoft.com/office/drawing/2014/main" id="{80770A19-641B-48C2-AB24-6582602B6D93}"/>
              </a:ext>
            </a:extLst>
          </p:cNvPr>
          <p:cNvSpPr>
            <a:spLocks xmlns:a="http://schemas.openxmlformats.org/drawingml/2006/main" noGrp="1"/>
          </p:cNvSpPr>
          <p:nvPr/>
        </p:nvSpPr>
        <p:spPr>
          <a:xfrm xmlns:a="http://schemas.openxmlformats.org/drawingml/2006/main">
            <a:off x="3874770" y="1906524"/>
            <a:ext cx="480060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A1A1A"/>
              </a:buClr>
              <a:buSzPts val="1200"/>
              <a:buFont typeface="Calibri"/>
              <a:buNone/>
            </a:pPr>
            <a:r>
              <a:rPr sz="1200" b="0" i="0" u="none" cap="none">
                <a:solidFill>
                  <a:srgbClr val="1A1A1A"/>
                </a:solidFill>
                <a:latin typeface="Calibri"/>
                <a:ea typeface="Calibri"/>
                <a:cs typeface="Calibri"/>
              </a:rPr>
              <a:t>Reports list values and ranges, not meaning</a:t>
            </a:r>
          </a:p>
        </p:txBody>
      </p:sp>
      <p:sp>
        <p:nvSpPr>
          <p:cNvPr id="127" name="Google Shape;127;p30">
            <a:extLst xmlns:a="http://schemas.openxmlformats.org/drawingml/2006/main">
              <a:ext uri="{FF2B5EF4-FFF2-40B4-BE49-F238E27FC236}">
                <a16:creationId xmlns:a16="http://schemas.microsoft.com/office/drawing/2014/main" id="{75999755-B93A-4E84-94FD-B30575760C15}"/>
              </a:ext>
            </a:extLst>
          </p:cNvPr>
          <p:cNvSpPr>
            <a:spLocks xmlns:a="http://schemas.openxmlformats.org/drawingml/2006/main" noGrp="1"/>
          </p:cNvSpPr>
          <p:nvPr/>
        </p:nvSpPr>
        <p:spPr>
          <a:xfrm xmlns:a="http://schemas.openxmlformats.org/drawingml/2006/main">
            <a:off x="3634740" y="2441448"/>
            <a:ext cx="109728" cy="109728"/>
          </a:xfrm>
          <a:prstGeom xmlns:a="http://schemas.openxmlformats.org/drawingml/2006/main" prst="ellipse">
            <a:avLst/>
          </a:prstGeom>
          <a:solidFill xmlns:a="http://schemas.openxmlformats.org/drawingml/2006/main">
            <a:srgbClr val="185FA5"/>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28" name="Google Shape;128;p30">
            <a:extLst xmlns:a="http://schemas.openxmlformats.org/drawingml/2006/main">
              <a:ext uri="{FF2B5EF4-FFF2-40B4-BE49-F238E27FC236}">
                <a16:creationId xmlns:a16="http://schemas.microsoft.com/office/drawing/2014/main" id="{19FC0586-6BD5-40DF-B19B-6059253AB114}"/>
              </a:ext>
            </a:extLst>
          </p:cNvPr>
          <p:cNvSpPr>
            <a:spLocks xmlns:a="http://schemas.openxmlformats.org/drawingml/2006/main" noGrp="1"/>
          </p:cNvSpPr>
          <p:nvPr/>
        </p:nvSpPr>
        <p:spPr>
          <a:xfrm xmlns:a="http://schemas.openxmlformats.org/drawingml/2006/main">
            <a:off x="3874770" y="2366010"/>
            <a:ext cx="480060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85FA5"/>
              </a:buClr>
              <a:buSzPts val="1400"/>
              <a:buFont typeface="Calibri"/>
              <a:buNone/>
            </a:pPr>
            <a:r>
              <a:rPr sz="1400" b="1" i="0" u="none" cap="none">
                <a:solidFill>
                  <a:srgbClr val="185FA5"/>
                </a:solidFill>
                <a:latin typeface="Calibri"/>
                <a:ea typeface="Calibri"/>
                <a:cs typeface="Calibri"/>
              </a:rPr>
              <a:t>Statistics feel distant</a:t>
            </a:r>
          </a:p>
        </p:txBody>
      </p:sp>
      <p:sp>
        <p:nvSpPr>
          <p:cNvPr id="129" name="Google Shape;129;p30">
            <a:extLst xmlns:a="http://schemas.openxmlformats.org/drawingml/2006/main">
              <a:ext uri="{FF2B5EF4-FFF2-40B4-BE49-F238E27FC236}">
                <a16:creationId xmlns:a16="http://schemas.microsoft.com/office/drawing/2014/main" id="{2EA390D9-0967-4D4C-95C2-1E673105A0F1}"/>
              </a:ext>
            </a:extLst>
          </p:cNvPr>
          <p:cNvSpPr>
            <a:spLocks xmlns:a="http://schemas.openxmlformats.org/drawingml/2006/main" noGrp="1"/>
          </p:cNvSpPr>
          <p:nvPr/>
        </p:nvSpPr>
        <p:spPr>
          <a:xfrm xmlns:a="http://schemas.openxmlformats.org/drawingml/2006/main">
            <a:off x="3874770" y="2626614"/>
            <a:ext cx="4800600"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A1A1A"/>
              </a:buClr>
              <a:buSzPts val="1200"/>
              <a:buFont typeface="Calibri"/>
              <a:buNone/>
            </a:pPr>
            <a:r>
              <a:rPr sz="1200" b="0" i="0" u="none" cap="none">
                <a:solidFill>
                  <a:srgbClr val="1A1A1A"/>
                </a:solidFill>
                <a:latin typeface="Calibri"/>
                <a:ea typeface="Calibri"/>
                <a:cs typeface="Calibri"/>
              </a:rPr>
              <a:t>National data describes populations, not people</a:t>
            </a:r>
          </a:p>
        </p:txBody>
      </p:sp>
      <p:sp>
        <p:nvSpPr>
          <p:cNvPr id="130" name="Google Shape;130;p30">
            <a:extLst xmlns:a="http://schemas.openxmlformats.org/drawingml/2006/main">
              <a:ext uri="{FF2B5EF4-FFF2-40B4-BE49-F238E27FC236}">
                <a16:creationId xmlns:a16="http://schemas.microsoft.com/office/drawing/2014/main" id="{0FCEC119-71EE-4B27-A8D9-718A460771D3}"/>
              </a:ext>
            </a:extLst>
          </p:cNvPr>
          <p:cNvSpPr>
            <a:spLocks xmlns:a="http://schemas.openxmlformats.org/drawingml/2006/main" noGrp="1"/>
          </p:cNvSpPr>
          <p:nvPr/>
        </p:nvSpPr>
        <p:spPr>
          <a:xfrm xmlns:a="http://schemas.openxmlformats.org/drawingml/2006/main">
            <a:off x="3634740" y="3161538"/>
            <a:ext cx="109728" cy="109728"/>
          </a:xfrm>
          <a:prstGeom xmlns:a="http://schemas.openxmlformats.org/drawingml/2006/main" prst="ellipse">
            <a:avLst/>
          </a:prstGeom>
          <a:solidFill xmlns:a="http://schemas.openxmlformats.org/drawingml/2006/main">
            <a:srgbClr val="185FA5"/>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31" name="Google Shape;131;p30">
            <a:extLst xmlns:a="http://schemas.openxmlformats.org/drawingml/2006/main">
              <a:ext uri="{FF2B5EF4-FFF2-40B4-BE49-F238E27FC236}">
                <a16:creationId xmlns:a16="http://schemas.microsoft.com/office/drawing/2014/main" id="{69A79408-AE62-4F40-9EE9-D01D24940AF2}"/>
              </a:ext>
            </a:extLst>
          </p:cNvPr>
          <p:cNvSpPr>
            <a:spLocks xmlns:a="http://schemas.openxmlformats.org/drawingml/2006/main" noGrp="1"/>
          </p:cNvSpPr>
          <p:nvPr/>
        </p:nvSpPr>
        <p:spPr>
          <a:xfrm xmlns:a="http://schemas.openxmlformats.org/drawingml/2006/main">
            <a:off x="3874775" y="3204046"/>
            <a:ext cx="4800600" cy="43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b="1">
                <a:solidFill>
                  <a:srgbClr val="185FA5"/>
                </a:solidFill>
                <a:latin typeface="Calibri"/>
                <a:ea typeface="Calibri"/>
                <a:cs typeface="Calibri"/>
              </a:rPr>
              <a:t>The effort does not last</a:t>
            </a:r>
          </a:p>
          <a:p xmlns:a="http://schemas.openxmlformats.org/drawingml/2006/main">
            <a:pPr marL="0" lvl="0" indent="0" algn="l">
              <a:spcBef>
                <a:spcPts val="0"/>
              </a:spcBef>
              <a:spcAft>
                <a:spcPts val="0"/>
              </a:spcAft>
              <a:buClr>
                <a:schemeClr val="dk1"/>
              </a:buClr>
              <a:buSzPts val="1100"/>
              <a:buFont typeface="Arial"/>
              <a:buNone/>
            </a:pPr>
            <a:r>
              <a:t/>
            </a:r>
          </a:p>
          <a:p xmlns:a="http://schemas.openxmlformats.org/drawingml/2006/main">
            <a:pPr marL="0" marR="0" lvl="0" indent="0" algn="l">
              <a:spcBef>
                <a:spcPts val="0"/>
              </a:spcBef>
              <a:spcAft>
                <a:spcPts val="0"/>
              </a:spcAft>
              <a:buClr>
                <a:srgbClr val="185FA5"/>
              </a:buClr>
              <a:buSzPts val="1400"/>
              <a:buFont typeface="Calibri"/>
              <a:buNone/>
            </a:pPr>
            <a:r>
              <a:t/>
            </a:r>
          </a:p>
        </p:txBody>
      </p:sp>
      <p:sp>
        <p:nvSpPr>
          <p:cNvPr id="132" name="Google Shape;132;p30">
            <a:extLst xmlns:a="http://schemas.openxmlformats.org/drawingml/2006/main">
              <a:ext uri="{FF2B5EF4-FFF2-40B4-BE49-F238E27FC236}">
                <a16:creationId xmlns:a16="http://schemas.microsoft.com/office/drawing/2014/main" id="{4CF4C955-C9BC-4384-A240-9327365D26AA}"/>
              </a:ext>
            </a:extLst>
          </p:cNvPr>
          <p:cNvSpPr>
            <a:spLocks xmlns:a="http://schemas.openxmlformats.org/drawingml/2006/main" noGrp="1"/>
          </p:cNvSpPr>
          <p:nvPr/>
        </p:nvSpPr>
        <p:spPr>
          <a:xfrm xmlns:a="http://schemas.openxmlformats.org/drawingml/2006/main">
            <a:off x="3874770" y="3346704"/>
            <a:ext cx="4800600" cy="24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1200">
                <a:solidFill>
                  <a:srgbClr val="1A1A1A"/>
                </a:solidFill>
                <a:latin typeface="Calibri"/>
                <a:ea typeface="Calibri"/>
                <a:cs typeface="Calibri"/>
              </a:rPr>
              <a:t>They search, join a gym, watch their diet — then it fades</a:t>
            </a:r>
          </a:p>
          <a:p xmlns:a="http://schemas.openxmlformats.org/drawingml/2006/main">
            <a:pPr marL="0" marR="0" lvl="0" indent="0" algn="l">
              <a:spcBef>
                <a:spcPts val="0"/>
              </a:spcBef>
              <a:spcAft>
                <a:spcPts val="0"/>
              </a:spcAft>
              <a:buClr>
                <a:srgbClr val="1A1A1A"/>
              </a:buClr>
              <a:buSzPts val="1200"/>
              <a:buFont typeface="Calibri"/>
              <a:buNone/>
            </a:pPr>
            <a:r>
              <a:t/>
            </a:r>
          </a:p>
        </p:txBody>
      </p:sp>
      <p:pic>
        <p:nvPicPr>
          <p:cNvPr id="148" name="Google Shape;133;p30"/>
          <p:cNvPicPr>
            <a:picLocks xmlns:a="http://schemas.openxmlformats.org/drawingml/2006/main" noChangeAspect="1"/>
          </p:cNvPicPr>
          <p:nvPr/>
        </p:nvPicPr>
        <p:blipFill>
          <a:blip xmlns:r="http://schemas.openxmlformats.org/officeDocument/2006/relationships" xmlns:a="http://schemas.openxmlformats.org/drawingml/2006/main" r:embed="Ra20d82879ec1424b">
            <a:alphaModFix/>
          </a:blip>
          <a:stretch xmlns:a="http://schemas.openxmlformats.org/drawingml/2006/main">
            <a:fillRect l="0" t="0" r="0" b="0"/>
          </a:stretch>
        </p:blipFill>
        <p:spPr>
          <a:xfrm xmlns:a="http://schemas.openxmlformats.org/drawingml/2006/main">
            <a:off x="7847401" y="0"/>
            <a:ext cx="1296600" cy="13159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6081512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9" name="Google Shape;139;p31">
            <a:extLst xmlns:a="http://schemas.openxmlformats.org/drawingml/2006/main">
              <a:ext uri="{FF2B5EF4-FFF2-40B4-BE49-F238E27FC236}">
                <a16:creationId xmlns:a16="http://schemas.microsoft.com/office/drawing/2014/main" id="{AACD65AF-3B90-439C-98B5-02853B2AC020}"/>
              </a:ext>
            </a:extLst>
          </p:cNvPr>
          <p:cNvSpPr>
            <a:spLocks xmlns:a="http://schemas.openxmlformats.org/drawingml/2006/main" noGrp="1"/>
          </p:cNvSpPr>
          <p:nvPr/>
        </p:nvSpPr>
        <p:spPr>
          <a:xfrm xmlns:a="http://schemas.openxmlformats.org/drawingml/2006/main">
            <a:off x="480060" y="288036"/>
            <a:ext cx="34290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6B6B6B"/>
              </a:buClr>
              <a:buSzPts val="1100"/>
              <a:buFont typeface="Calibri"/>
              <a:buNone/>
            </a:pPr>
            <a:r>
              <a:rPr sz="1100" b="0" i="0" u="none" cap="none">
                <a:solidFill>
                  <a:srgbClr val="6B6B6B"/>
                </a:solidFill>
                <a:latin typeface="Calibri"/>
                <a:ea typeface="Calibri"/>
                <a:cs typeface="Calibri"/>
              </a:rPr>
              <a:t>User persona</a:t>
            </a:r>
          </a:p>
        </p:txBody>
      </p:sp>
      <p:sp>
        <p:nvSpPr>
          <p:cNvPr id="140" name="Google Shape;140;p31">
            <a:extLst xmlns:a="http://schemas.openxmlformats.org/drawingml/2006/main">
              <a:ext uri="{FF2B5EF4-FFF2-40B4-BE49-F238E27FC236}">
                <a16:creationId xmlns:a16="http://schemas.microsoft.com/office/drawing/2014/main" id="{85BAEAFE-F2A3-4FC8-B925-B9F453BFDEF8}"/>
              </a:ext>
            </a:extLst>
          </p:cNvPr>
          <p:cNvSpPr>
            <a:spLocks xmlns:a="http://schemas.openxmlformats.org/drawingml/2006/main" noGrp="1"/>
          </p:cNvSpPr>
          <p:nvPr/>
        </p:nvSpPr>
        <p:spPr>
          <a:xfrm xmlns:a="http://schemas.openxmlformats.org/drawingml/2006/main">
            <a:off x="480060" y="500634"/>
            <a:ext cx="500634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A1A1A"/>
              </a:buClr>
              <a:buSzPts val="2000"/>
              <a:buFont typeface="Calibri"/>
              <a:buNone/>
            </a:pPr>
            <a:r>
              <a:rPr sz="2000" b="1" i="0" u="none" cap="none">
                <a:solidFill>
                  <a:srgbClr val="1A1A1A"/>
                </a:solidFill>
                <a:latin typeface="Calibri"/>
                <a:ea typeface="Calibri"/>
                <a:cs typeface="Calibri"/>
              </a:rPr>
              <a:t>Target user: has the numbers, not the meaning</a:t>
            </a:r>
          </a:p>
        </p:txBody>
      </p:sp>
      <p:sp>
        <p:nvSpPr>
          <p:cNvPr id="141" name="Google Shape;141;p31">
            <a:extLst xmlns:a="http://schemas.openxmlformats.org/drawingml/2006/main">
              <a:ext uri="{FF2B5EF4-FFF2-40B4-BE49-F238E27FC236}">
                <a16:creationId xmlns:a16="http://schemas.microsoft.com/office/drawing/2014/main" id="{3C290704-ED70-4F75-A5E8-DDC3169AEF26}"/>
              </a:ext>
            </a:extLst>
          </p:cNvPr>
          <p:cNvSpPr>
            <a:spLocks xmlns:a="http://schemas.openxmlformats.org/drawingml/2006/main" noGrp="1"/>
          </p:cNvSpPr>
          <p:nvPr/>
        </p:nvSpPr>
        <p:spPr>
          <a:xfrm xmlns:a="http://schemas.openxmlformats.org/drawingml/2006/main">
            <a:off x="5726430" y="308610"/>
            <a:ext cx="2914650" cy="788670"/>
          </a:xfrm>
          <a:prstGeom xmlns:a="http://schemas.openxmlformats.org/drawingml/2006/main" prst="roundRect">
            <a:avLst>
              <a:gd name="adj" fmla="val 8696"/>
            </a:avLst>
          </a:prstGeom>
          <a:solidFill xmlns:a="http://schemas.openxmlformats.org/drawingml/2006/main">
            <a:srgbClr val="E6F1FB"/>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42" name="Google Shape;142;p31">
            <a:extLst xmlns:a="http://schemas.openxmlformats.org/drawingml/2006/main">
              <a:ext uri="{FF2B5EF4-FFF2-40B4-BE49-F238E27FC236}">
                <a16:creationId xmlns:a16="http://schemas.microsoft.com/office/drawing/2014/main" id="{C8BDAF01-89AC-4427-839A-3FAFD1C09E5B}"/>
              </a:ext>
            </a:extLst>
          </p:cNvPr>
          <p:cNvSpPr>
            <a:spLocks xmlns:a="http://schemas.openxmlformats.org/drawingml/2006/main" noGrp="1"/>
          </p:cNvSpPr>
          <p:nvPr/>
        </p:nvSpPr>
        <p:spPr>
          <a:xfrm xmlns:a="http://schemas.openxmlformats.org/drawingml/2006/main">
            <a:off x="5863590" y="377190"/>
            <a:ext cx="2640330" cy="651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0C447C"/>
              </a:buClr>
              <a:buSzPts val="900"/>
              <a:buFont typeface="Calibri"/>
              <a:buNone/>
            </a:pPr>
            <a:r>
              <a:rPr sz="900" b="0" i="1" u="none" cap="none">
                <a:solidFill>
                  <a:srgbClr val="0C447C"/>
                </a:solidFill>
                <a:latin typeface="Calibri"/>
                <a:ea typeface="Calibri"/>
                <a:cs typeface="Calibri"/>
              </a:rPr>
              <a:t>“The doctor went through everything, </a:t>
            </a:r>
            <a:r>
              <a:rPr sz="900" b="1" i="0" u="none" cap="none">
                <a:solidFill>
                  <a:srgbClr val="0C447C"/>
                </a:solidFill>
                <a:latin typeface="Calibri"/>
                <a:ea typeface="Calibri"/>
                <a:cs typeface="Calibri"/>
              </a:rPr>
              <a:t>but there was too much to remember.</a:t>
            </a:r>
            <a:r>
              <a:rPr sz="900" b="0" i="1" u="none" cap="none">
                <a:solidFill>
                  <a:srgbClr val="0C447C"/>
                </a:solidFill>
                <a:latin typeface="Calibri"/>
                <a:ea typeface="Calibri"/>
                <a:cs typeface="Calibri"/>
              </a:rPr>
              <a:t> I have the report — </a:t>
            </a:r>
            <a:r>
              <a:rPr sz="900" b="1" i="0" u="none" cap="none">
                <a:solidFill>
                  <a:srgbClr val="0C447C"/>
                </a:solidFill>
                <a:latin typeface="Calibri"/>
                <a:ea typeface="Calibri"/>
                <a:cs typeface="Calibri"/>
              </a:rPr>
              <a:t>I just don’t know what to do with it.”</a:t>
            </a:r>
          </a:p>
        </p:txBody>
      </p:sp>
      <p:sp>
        <p:nvSpPr>
          <p:cNvPr id="143" name="Google Shape;143;p31">
            <a:extLst xmlns:a="http://schemas.openxmlformats.org/drawingml/2006/main">
              <a:ext uri="{FF2B5EF4-FFF2-40B4-BE49-F238E27FC236}">
                <a16:creationId xmlns:a16="http://schemas.microsoft.com/office/drawing/2014/main" id="{0D4FF5C6-AD5E-4004-8031-022E5420279F}"/>
              </a:ext>
            </a:extLst>
          </p:cNvPr>
          <p:cNvSpPr>
            <a:spLocks xmlns:a="http://schemas.openxmlformats.org/drawingml/2006/main" noGrp="1"/>
          </p:cNvSpPr>
          <p:nvPr/>
        </p:nvSpPr>
        <p:spPr>
          <a:xfrm xmlns:a="http://schemas.openxmlformats.org/drawingml/2006/main">
            <a:off x="480060" y="1062990"/>
            <a:ext cx="2434590" cy="3669030"/>
          </a:xfrm>
          <a:prstGeom xmlns:a="http://schemas.openxmlformats.org/drawingml/2006/main" prst="rect">
            <a:avLst/>
          </a:prstGeom>
          <a:solidFill xmlns:a="http://schemas.openxmlformats.org/drawingml/2006/main">
            <a:srgbClr val="0C447C"/>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44" name="Google Shape;144;p31">
            <a:extLst xmlns:a="http://schemas.openxmlformats.org/drawingml/2006/main">
              <a:ext uri="{FF2B5EF4-FFF2-40B4-BE49-F238E27FC236}">
                <a16:creationId xmlns:a16="http://schemas.microsoft.com/office/drawing/2014/main" id="{90707B5F-BBF0-42F0-8C3A-85FBEB533293}"/>
              </a:ext>
            </a:extLst>
          </p:cNvPr>
          <p:cNvSpPr>
            <a:spLocks xmlns:a="http://schemas.openxmlformats.org/drawingml/2006/main" noGrp="1"/>
          </p:cNvSpPr>
          <p:nvPr/>
        </p:nvSpPr>
        <p:spPr>
          <a:xfrm xmlns:a="http://schemas.openxmlformats.org/drawingml/2006/main">
            <a:off x="651510" y="1220724"/>
            <a:ext cx="209169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B5D4F4"/>
              </a:buClr>
              <a:buSzPts val="1100"/>
              <a:buFont typeface="Calibri"/>
              <a:buNone/>
            </a:pPr>
            <a:r>
              <a:rPr sz="1100" b="1" i="0" u="none" cap="none">
                <a:solidFill>
                  <a:srgbClr val="B5D4F4"/>
                </a:solidFill>
                <a:latin typeface="Calibri"/>
                <a:ea typeface="Calibri"/>
                <a:cs typeface="Calibri"/>
              </a:rPr>
              <a:t>Screened but unsupported</a:t>
            </a:r>
          </a:p>
        </p:txBody>
      </p:sp>
      <p:pic>
        <p:nvPicPr>
          <p:cNvPr id="172" name="Google Shape;145;p31"/>
          <p:cNvPicPr>
            <a:picLocks xmlns:a="http://schemas.openxmlformats.org/drawingml/2006/main" noChangeAspect="1"/>
          </p:cNvPicPr>
          <p:nvPr/>
        </p:nvPicPr>
        <p:blipFill rotWithShape="1">
          <a:blip xmlns:r="http://schemas.openxmlformats.org/officeDocument/2006/relationships" xmlns:a="http://schemas.openxmlformats.org/drawingml/2006/main" r:embed="Rb0fb8d43eeb14b0e">
            <a:alphaModFix/>
          </a:blip>
          <a:srcRect xmlns:a="http://schemas.openxmlformats.org/drawingml/2006/main" l="0" t="0" r="0" b="0"/>
          <a:stretch xmlns:a="http://schemas.openxmlformats.org/drawingml/2006/main"/>
        </p:blipFill>
        <p:spPr>
          <a:xfrm xmlns:a="http://schemas.openxmlformats.org/drawingml/2006/main">
            <a:off x="1186434" y="1426464"/>
            <a:ext cx="1028700" cy="1028700"/>
          </a:xfrm>
          <a:prstGeom xmlns:a="http://schemas.openxmlformats.org/drawingml/2006/main" prst="ellipse">
            <a:avLst/>
          </a:prstGeom>
          <a:ln xmlns:a="http://schemas.openxmlformats.org/drawingml/2006/main">
            <a:noFill/>
          </a:ln>
        </p:spPr>
      </p:pic>
      <p:sp>
        <p:nvSpPr>
          <p:cNvPr id="146" name="Google Shape;146;p31">
            <a:extLst xmlns:a="http://schemas.openxmlformats.org/drawingml/2006/main">
              <a:ext uri="{FF2B5EF4-FFF2-40B4-BE49-F238E27FC236}">
                <a16:creationId xmlns:a16="http://schemas.microsoft.com/office/drawing/2014/main" id="{22D9A306-21C0-450B-AD9C-DC33692D4BF1}"/>
              </a:ext>
            </a:extLst>
          </p:cNvPr>
          <p:cNvSpPr>
            <a:spLocks xmlns:a="http://schemas.openxmlformats.org/drawingml/2006/main" noGrp="1"/>
          </p:cNvSpPr>
          <p:nvPr/>
        </p:nvSpPr>
        <p:spPr>
          <a:xfrm xmlns:a="http://schemas.openxmlformats.org/drawingml/2006/main">
            <a:off x="651510" y="2592324"/>
            <a:ext cx="209169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100"/>
              <a:buFont typeface="Calibri"/>
              <a:buNone/>
            </a:pPr>
            <a:r>
              <a:rPr sz="1100" b="1" i="0" u="none" cap="none">
                <a:solidFill>
                  <a:srgbClr val="FFFFFF"/>
                </a:solidFill>
                <a:latin typeface="Calibri"/>
                <a:ea typeface="Calibri"/>
                <a:cs typeface="Calibri"/>
              </a:rPr>
              <a:t>Lim Wei Jian, 48, Kuala Lumpur</a:t>
            </a:r>
          </a:p>
        </p:txBody>
      </p:sp>
      <p:sp>
        <p:nvSpPr>
          <p:cNvPr id="147" name="Google Shape;147;p31">
            <a:extLst xmlns:a="http://schemas.openxmlformats.org/drawingml/2006/main">
              <a:ext uri="{FF2B5EF4-FFF2-40B4-BE49-F238E27FC236}">
                <a16:creationId xmlns:a16="http://schemas.microsoft.com/office/drawing/2014/main" id="{A52D442E-7AF4-42E0-9D60-AB9099AAEB88}"/>
              </a:ext>
            </a:extLst>
          </p:cNvPr>
          <p:cNvSpPr>
            <a:spLocks xmlns:a="http://schemas.openxmlformats.org/drawingml/2006/main" noGrp="1"/>
          </p:cNvSpPr>
          <p:nvPr/>
        </p:nvSpPr>
        <p:spPr>
          <a:xfrm xmlns:a="http://schemas.openxmlformats.org/drawingml/2006/main">
            <a:off x="651510" y="2852928"/>
            <a:ext cx="2091690" cy="178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254000" marR="0" lvl="0" indent="-247650" algn="l">
              <a:spcBef>
                <a:spcPts val="0"/>
              </a:spcBef>
              <a:spcAft>
                <a:spcPts val="0"/>
              </a:spcAft>
              <a:buClr>
                <a:srgbClr val="B5D4F4"/>
              </a:buClr>
              <a:buSzPts val="900"/>
              <a:buFont typeface="Calibri"/>
              <a:buChar char="•"/>
            </a:pPr>
            <a:r>
              <a:rPr sz="900" b="0" i="0" u="none" cap="none">
                <a:solidFill>
                  <a:srgbClr val="B5D4F4"/>
                </a:solidFill>
                <a:latin typeface="Calibri"/>
                <a:ea typeface="Calibri"/>
                <a:cs typeface="Calibri"/>
              </a:rPr>
              <a:t>Operations manager, married, two teenage children</a:t>
            </a:r>
          </a:p>
          <a:p xmlns:a="http://schemas.openxmlformats.org/drawingml/2006/main">
            <a:pPr marL="254000" marR="0" lvl="0" indent="-247650" algn="l">
              <a:spcBef>
                <a:spcPts val="500"/>
              </a:spcBef>
              <a:spcAft>
                <a:spcPts val="0"/>
              </a:spcAft>
              <a:buClr>
                <a:srgbClr val="B5D4F4"/>
              </a:buClr>
              <a:buSzPts val="900"/>
              <a:buFont typeface="Calibri"/>
              <a:buChar char="•"/>
            </a:pPr>
            <a:r>
              <a:rPr sz="900" b="0" i="0" u="none" cap="none">
                <a:solidFill>
                  <a:srgbClr val="B5D4F4"/>
                </a:solidFill>
                <a:latin typeface="Calibri"/>
                <a:ea typeface="Calibri"/>
                <a:cs typeface="Calibri"/>
              </a:rPr>
              <a:t>Rarely exercises, eats irregularly, sleeps late</a:t>
            </a:r>
          </a:p>
          <a:p xmlns:a="http://schemas.openxmlformats.org/drawingml/2006/main">
            <a:pPr marL="254000" marR="0" lvl="0" indent="-247650" algn="l">
              <a:spcBef>
                <a:spcPts val="500"/>
              </a:spcBef>
              <a:spcAft>
                <a:spcPts val="0"/>
              </a:spcAft>
              <a:buClr>
                <a:srgbClr val="B5D4F4"/>
              </a:buClr>
              <a:buSzPts val="900"/>
              <a:buFont typeface="Calibri"/>
              <a:buChar char="•"/>
            </a:pPr>
            <a:r>
              <a:rPr sz="900" b="0" i="0" u="none" cap="none">
                <a:solidFill>
                  <a:srgbClr val="B5D4F4"/>
                </a:solidFill>
                <a:latin typeface="Calibri"/>
                <a:ea typeface="Calibri"/>
                <a:cs typeface="Calibri"/>
              </a:rPr>
              <a:t>Just completed his company’s annual screening</a:t>
            </a:r>
          </a:p>
          <a:p xmlns:a="http://schemas.openxmlformats.org/drawingml/2006/main">
            <a:pPr marL="254000" marR="0" lvl="0" indent="-247650" algn="l">
              <a:spcBef>
                <a:spcPts val="500"/>
              </a:spcBef>
              <a:spcAft>
                <a:spcPts val="0"/>
              </a:spcAft>
              <a:buClr>
                <a:srgbClr val="B5D4F4"/>
              </a:buClr>
              <a:buSzPts val="900"/>
              <a:buFont typeface="Calibri"/>
              <a:buChar char="•"/>
            </a:pPr>
            <a:r>
              <a:rPr sz="900" b="0" i="0" u="none" cap="none">
                <a:solidFill>
                  <a:srgbClr val="B5D4F4"/>
                </a:solidFill>
                <a:latin typeface="Calibri"/>
                <a:ea typeface="Calibri"/>
                <a:cs typeface="Calibri"/>
              </a:rPr>
              <a:t>Cannot recall what the doctor explained</a:t>
            </a:r>
          </a:p>
          <a:p xmlns:a="http://schemas.openxmlformats.org/drawingml/2006/main">
            <a:pPr marL="254000" marR="0" lvl="0" indent="-247650" algn="l">
              <a:spcBef>
                <a:spcPts val="500"/>
              </a:spcBef>
              <a:spcAft>
                <a:spcPts val="0"/>
              </a:spcAft>
              <a:buClr>
                <a:srgbClr val="B5D4F4"/>
              </a:buClr>
              <a:buSzPts val="900"/>
              <a:buFont typeface="Calibri"/>
              <a:buChar char="•"/>
            </a:pPr>
            <a:r>
              <a:rPr sz="900" b="0" i="0" u="none" cap="none">
                <a:solidFill>
                  <a:srgbClr val="B5D4F4"/>
                </a:solidFill>
                <a:latin typeface="Calibri"/>
                <a:ea typeface="Calibri"/>
                <a:cs typeface="Calibri"/>
              </a:rPr>
              <a:t>Friends his age recently diagnosed with heart disease</a:t>
            </a:r>
          </a:p>
        </p:txBody>
      </p:sp>
      <p:sp>
        <p:nvSpPr>
          <p:cNvPr id="148" name="Google Shape;148;p31">
            <a:extLst xmlns:a="http://schemas.openxmlformats.org/drawingml/2006/main">
              <a:ext uri="{FF2B5EF4-FFF2-40B4-BE49-F238E27FC236}">
                <a16:creationId xmlns:a16="http://schemas.microsoft.com/office/drawing/2014/main" id="{52CAD22E-4842-45DB-81B7-099241496936}"/>
              </a:ext>
            </a:extLst>
          </p:cNvPr>
          <p:cNvSpPr>
            <a:spLocks xmlns:a="http://schemas.openxmlformats.org/drawingml/2006/main" noGrp="1"/>
          </p:cNvSpPr>
          <p:nvPr/>
        </p:nvSpPr>
        <p:spPr>
          <a:xfrm xmlns:a="http://schemas.openxmlformats.org/drawingml/2006/main">
            <a:off x="3257550" y="1110996"/>
            <a:ext cx="5417820" cy="2400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85FA5"/>
              </a:buClr>
              <a:buSzPts val="1600"/>
              <a:buFont typeface="Calibri"/>
              <a:buNone/>
            </a:pPr>
            <a:r>
              <a:rPr sz="1600" b="1" i="0" u="none" cap="none">
                <a:solidFill>
                  <a:srgbClr val="185FA5"/>
                </a:solidFill>
                <a:latin typeface="Calibri"/>
                <a:ea typeface="Calibri"/>
                <a:cs typeface="Calibri"/>
              </a:rPr>
              <a:t>Frustrations</a:t>
            </a:r>
          </a:p>
        </p:txBody>
      </p:sp>
      <p:sp>
        <p:nvSpPr>
          <p:cNvPr id="149" name="Google Shape;149;p31">
            <a:extLst xmlns:a="http://schemas.openxmlformats.org/drawingml/2006/main">
              <a:ext uri="{FF2B5EF4-FFF2-40B4-BE49-F238E27FC236}">
                <a16:creationId xmlns:a16="http://schemas.microsoft.com/office/drawing/2014/main" id="{001264D0-5704-43EE-8AE0-96A0281A31CD}"/>
              </a:ext>
            </a:extLst>
          </p:cNvPr>
          <p:cNvSpPr>
            <a:spLocks xmlns:a="http://schemas.openxmlformats.org/drawingml/2006/main" noGrp="1"/>
          </p:cNvSpPr>
          <p:nvPr/>
        </p:nvSpPr>
        <p:spPr>
          <a:xfrm xmlns:a="http://schemas.openxmlformats.org/drawingml/2006/main">
            <a:off x="3257550" y="1440180"/>
            <a:ext cx="205740" cy="205740"/>
          </a:xfrm>
          <a:prstGeom xmlns:a="http://schemas.openxmlformats.org/drawingml/2006/main" prst="ellipse">
            <a:avLst/>
          </a:prstGeom>
          <a:solidFill xmlns:a="http://schemas.openxmlformats.org/drawingml/2006/main">
            <a:srgbClr val="E6F1FB"/>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0" name="Google Shape;150;p31">
            <a:extLst xmlns:a="http://schemas.openxmlformats.org/drawingml/2006/main">
              <a:ext uri="{FF2B5EF4-FFF2-40B4-BE49-F238E27FC236}">
                <a16:creationId xmlns:a16="http://schemas.microsoft.com/office/drawing/2014/main" id="{FF1C37EA-D33F-4724-BBA6-D07B56E740C3}"/>
              </a:ext>
            </a:extLst>
          </p:cNvPr>
          <p:cNvSpPr>
            <a:spLocks xmlns:a="http://schemas.openxmlformats.org/drawingml/2006/main" noGrp="1"/>
          </p:cNvSpPr>
          <p:nvPr/>
        </p:nvSpPr>
        <p:spPr>
          <a:xfrm xmlns:a="http://schemas.openxmlformats.org/drawingml/2006/main">
            <a:off x="3257550" y="1440180"/>
            <a:ext cx="20574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C447C"/>
              </a:buClr>
              <a:buSzPts val="1000"/>
              <a:buFont typeface="Calibri"/>
              <a:buNone/>
            </a:pPr>
            <a:r>
              <a:rPr sz="1000" b="1" i="0" u="none" cap="none">
                <a:solidFill>
                  <a:srgbClr val="0C447C"/>
                </a:solidFill>
                <a:latin typeface="Calibri"/>
                <a:ea typeface="Calibri"/>
                <a:cs typeface="Calibri"/>
              </a:rPr>
              <a:t>1</a:t>
            </a:r>
          </a:p>
        </p:txBody>
      </p:sp>
      <p:sp>
        <p:nvSpPr>
          <p:cNvPr id="151" name="Google Shape;151;p31">
            <a:extLst xmlns:a="http://schemas.openxmlformats.org/drawingml/2006/main">
              <a:ext uri="{FF2B5EF4-FFF2-40B4-BE49-F238E27FC236}">
                <a16:creationId xmlns:a16="http://schemas.microsoft.com/office/drawing/2014/main" id="{42C2E539-CDEF-4F50-A704-F14BC5CFEB76}"/>
              </a:ext>
            </a:extLst>
          </p:cNvPr>
          <p:cNvSpPr>
            <a:spLocks xmlns:a="http://schemas.openxmlformats.org/drawingml/2006/main" noGrp="1"/>
          </p:cNvSpPr>
          <p:nvPr/>
        </p:nvSpPr>
        <p:spPr>
          <a:xfrm xmlns:a="http://schemas.openxmlformats.org/drawingml/2006/main">
            <a:off x="3566122" y="1303039"/>
            <a:ext cx="5109300" cy="4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A1A1A"/>
              </a:buClr>
              <a:buSzPts val="1100"/>
              <a:buFont typeface="Calibri"/>
              <a:buNone/>
            </a:pPr>
            <a:r>
              <a:rPr sz="1100" b="0" i="0" u="none" cap="none">
                <a:solidFill>
                  <a:srgbClr val="1A1A1A"/>
                </a:solidFill>
                <a:latin typeface="Calibri"/>
                <a:ea typeface="Calibri"/>
                <a:cs typeface="Calibri"/>
              </a:rPr>
              <a:t>Cannot tell which numbers on the report matter, or which ones need attention soon.</a:t>
            </a:r>
          </a:p>
        </p:txBody>
      </p:sp>
      <p:sp>
        <p:nvSpPr>
          <p:cNvPr id="152" name="Google Shape;152;p31">
            <a:extLst xmlns:a="http://schemas.openxmlformats.org/drawingml/2006/main">
              <a:ext uri="{FF2B5EF4-FFF2-40B4-BE49-F238E27FC236}">
                <a16:creationId xmlns:a16="http://schemas.microsoft.com/office/drawing/2014/main" id="{534606EB-59F6-4B1E-93BF-E0CDDD59C5CD}"/>
              </a:ext>
            </a:extLst>
          </p:cNvPr>
          <p:cNvSpPr>
            <a:spLocks xmlns:a="http://schemas.openxmlformats.org/drawingml/2006/main" noGrp="1"/>
          </p:cNvSpPr>
          <p:nvPr/>
        </p:nvSpPr>
        <p:spPr>
          <a:xfrm xmlns:a="http://schemas.openxmlformats.org/drawingml/2006/main">
            <a:off x="3257550" y="2002536"/>
            <a:ext cx="205740" cy="205740"/>
          </a:xfrm>
          <a:prstGeom xmlns:a="http://schemas.openxmlformats.org/drawingml/2006/main" prst="ellipse">
            <a:avLst/>
          </a:prstGeom>
          <a:solidFill xmlns:a="http://schemas.openxmlformats.org/drawingml/2006/main">
            <a:srgbClr val="E6F1FB"/>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3" name="Google Shape;153;p31">
            <a:extLst xmlns:a="http://schemas.openxmlformats.org/drawingml/2006/main">
              <a:ext uri="{FF2B5EF4-FFF2-40B4-BE49-F238E27FC236}">
                <a16:creationId xmlns:a16="http://schemas.microsoft.com/office/drawing/2014/main" id="{830B58D3-7823-417B-B59D-57611EBB5702}"/>
              </a:ext>
            </a:extLst>
          </p:cNvPr>
          <p:cNvSpPr>
            <a:spLocks xmlns:a="http://schemas.openxmlformats.org/drawingml/2006/main" noGrp="1"/>
          </p:cNvSpPr>
          <p:nvPr/>
        </p:nvSpPr>
        <p:spPr>
          <a:xfrm xmlns:a="http://schemas.openxmlformats.org/drawingml/2006/main">
            <a:off x="3257550" y="2002536"/>
            <a:ext cx="20574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C447C"/>
              </a:buClr>
              <a:buSzPts val="1000"/>
              <a:buFont typeface="Calibri"/>
              <a:buNone/>
            </a:pPr>
            <a:r>
              <a:rPr sz="1000" b="1" i="0" u="none" cap="none">
                <a:solidFill>
                  <a:srgbClr val="0C447C"/>
                </a:solidFill>
                <a:latin typeface="Calibri"/>
                <a:ea typeface="Calibri"/>
                <a:cs typeface="Calibri"/>
              </a:rPr>
              <a:t>2</a:t>
            </a:r>
          </a:p>
        </p:txBody>
      </p:sp>
      <p:sp>
        <p:nvSpPr>
          <p:cNvPr id="154" name="Google Shape;154;p31">
            <a:extLst xmlns:a="http://schemas.openxmlformats.org/drawingml/2006/main">
              <a:ext uri="{FF2B5EF4-FFF2-40B4-BE49-F238E27FC236}">
                <a16:creationId xmlns:a16="http://schemas.microsoft.com/office/drawing/2014/main" id="{EDE4BB05-FD0A-42D6-BC8B-ECC6911D25C4}"/>
              </a:ext>
            </a:extLst>
          </p:cNvPr>
          <p:cNvSpPr>
            <a:spLocks xmlns:a="http://schemas.openxmlformats.org/drawingml/2006/main" noGrp="1"/>
          </p:cNvSpPr>
          <p:nvPr/>
        </p:nvSpPr>
        <p:spPr>
          <a:xfrm xmlns:a="http://schemas.openxmlformats.org/drawingml/2006/main">
            <a:off x="3566135" y="1865420"/>
            <a:ext cx="5109300" cy="4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A1A1A"/>
              </a:buClr>
              <a:buSzPts val="1100"/>
              <a:buFont typeface="Calibri"/>
              <a:buNone/>
            </a:pPr>
            <a:r>
              <a:rPr sz="1100" b="0" i="0" u="none" cap="none">
                <a:solidFill>
                  <a:srgbClr val="1A1A1A"/>
                </a:solidFill>
                <a:latin typeface="Calibri"/>
                <a:ea typeface="Calibri"/>
                <a:cs typeface="Calibri"/>
              </a:rPr>
              <a:t>Searching online and asking friends returns scattered, conflicting answers.</a:t>
            </a:r>
          </a:p>
        </p:txBody>
      </p:sp>
      <p:sp>
        <p:nvSpPr>
          <p:cNvPr id="155" name="Google Shape;155;p31">
            <a:extLst xmlns:a="http://schemas.openxmlformats.org/drawingml/2006/main">
              <a:ext uri="{FF2B5EF4-FFF2-40B4-BE49-F238E27FC236}">
                <a16:creationId xmlns:a16="http://schemas.microsoft.com/office/drawing/2014/main" id="{711AEE0D-F838-4D49-863D-04C950C5255D}"/>
              </a:ext>
            </a:extLst>
          </p:cNvPr>
          <p:cNvSpPr>
            <a:spLocks xmlns:a="http://schemas.openxmlformats.org/drawingml/2006/main" noGrp="1"/>
          </p:cNvSpPr>
          <p:nvPr/>
        </p:nvSpPr>
        <p:spPr>
          <a:xfrm xmlns:a="http://schemas.openxmlformats.org/drawingml/2006/main">
            <a:off x="3257550" y="2564892"/>
            <a:ext cx="205740" cy="205740"/>
          </a:xfrm>
          <a:prstGeom xmlns:a="http://schemas.openxmlformats.org/drawingml/2006/main" prst="ellipse">
            <a:avLst/>
          </a:prstGeom>
          <a:solidFill xmlns:a="http://schemas.openxmlformats.org/drawingml/2006/main">
            <a:srgbClr val="E6F1FB"/>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56" name="Google Shape;156;p31">
            <a:extLst xmlns:a="http://schemas.openxmlformats.org/drawingml/2006/main">
              <a:ext uri="{FF2B5EF4-FFF2-40B4-BE49-F238E27FC236}">
                <a16:creationId xmlns:a16="http://schemas.microsoft.com/office/drawing/2014/main" id="{E9615E57-37B5-47FA-91FD-BF05ADFCF3BB}"/>
              </a:ext>
            </a:extLst>
          </p:cNvPr>
          <p:cNvSpPr>
            <a:spLocks xmlns:a="http://schemas.openxmlformats.org/drawingml/2006/main" noGrp="1"/>
          </p:cNvSpPr>
          <p:nvPr/>
        </p:nvSpPr>
        <p:spPr>
          <a:xfrm xmlns:a="http://schemas.openxmlformats.org/drawingml/2006/main">
            <a:off x="3257550" y="2564892"/>
            <a:ext cx="20574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C447C"/>
              </a:buClr>
              <a:buSzPts val="1000"/>
              <a:buFont typeface="Calibri"/>
              <a:buNone/>
            </a:pPr>
            <a:r>
              <a:rPr sz="1000" b="1" i="0" u="none" cap="none">
                <a:solidFill>
                  <a:srgbClr val="0C447C"/>
                </a:solidFill>
                <a:latin typeface="Calibri"/>
                <a:ea typeface="Calibri"/>
                <a:cs typeface="Calibri"/>
              </a:rPr>
              <a:t>3</a:t>
            </a:r>
          </a:p>
        </p:txBody>
      </p:sp>
      <p:sp>
        <p:nvSpPr>
          <p:cNvPr id="157" name="Google Shape;157;p31">
            <a:extLst xmlns:a="http://schemas.openxmlformats.org/drawingml/2006/main">
              <a:ext uri="{FF2B5EF4-FFF2-40B4-BE49-F238E27FC236}">
                <a16:creationId xmlns:a16="http://schemas.microsoft.com/office/drawing/2014/main" id="{77B4F95B-09EE-4E4C-820D-049C79FF80E3}"/>
              </a:ext>
            </a:extLst>
          </p:cNvPr>
          <p:cNvSpPr>
            <a:spLocks xmlns:a="http://schemas.openxmlformats.org/drawingml/2006/main" noGrp="1"/>
          </p:cNvSpPr>
          <p:nvPr/>
        </p:nvSpPr>
        <p:spPr>
          <a:xfrm xmlns:a="http://schemas.openxmlformats.org/drawingml/2006/main">
            <a:off x="3566110" y="2551201"/>
            <a:ext cx="5109300" cy="4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A1A1A"/>
              </a:buClr>
              <a:buSzPts val="1100"/>
              <a:buFont typeface="Calibri"/>
              <a:buNone/>
            </a:pPr>
            <a:r>
              <a:rPr sz="1100" b="0" i="0" u="none" cap="none">
                <a:solidFill>
                  <a:srgbClr val="1A1A1A"/>
                </a:solidFill>
                <a:latin typeface="Calibri"/>
                <a:ea typeface="Calibri"/>
                <a:cs typeface="Calibri"/>
              </a:rPr>
              <a:t>National statistics feel distant — “heart disease is the leading cause of death, but what does that mean for me?”</a:t>
            </a:r>
          </a:p>
        </p:txBody>
      </p:sp>
      <p:sp>
        <p:nvSpPr>
          <p:cNvPr id="158" name="Google Shape;158;p31">
            <a:extLst xmlns:a="http://schemas.openxmlformats.org/drawingml/2006/main">
              <a:ext uri="{FF2B5EF4-FFF2-40B4-BE49-F238E27FC236}">
                <a16:creationId xmlns:a16="http://schemas.microsoft.com/office/drawing/2014/main" id="{120F6438-5E26-4CE7-9C32-733E8B033352}"/>
              </a:ext>
            </a:extLst>
          </p:cNvPr>
          <p:cNvSpPr>
            <a:spLocks xmlns:a="http://schemas.openxmlformats.org/drawingml/2006/main" noGrp="1"/>
          </p:cNvSpPr>
          <p:nvPr/>
        </p:nvSpPr>
        <p:spPr>
          <a:xfrm xmlns:a="http://schemas.openxmlformats.org/drawingml/2006/main">
            <a:off x="3257550" y="3236976"/>
            <a:ext cx="5417820" cy="2400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85FA5"/>
              </a:buClr>
              <a:buSzPts val="1600"/>
              <a:buFont typeface="Calibri"/>
              <a:buNone/>
            </a:pPr>
            <a:r>
              <a:rPr sz="1600" b="1" i="0" u="none" cap="none">
                <a:solidFill>
                  <a:srgbClr val="185FA5"/>
                </a:solidFill>
                <a:latin typeface="Calibri"/>
                <a:ea typeface="Calibri"/>
                <a:cs typeface="Calibri"/>
              </a:rPr>
              <a:t>Motivations</a:t>
            </a:r>
          </a:p>
        </p:txBody>
      </p:sp>
      <p:sp>
        <p:nvSpPr>
          <p:cNvPr id="159" name="Google Shape;159;p31">
            <a:extLst xmlns:a="http://schemas.openxmlformats.org/drawingml/2006/main">
              <a:ext uri="{FF2B5EF4-FFF2-40B4-BE49-F238E27FC236}">
                <a16:creationId xmlns:a16="http://schemas.microsoft.com/office/drawing/2014/main" id="{9FE74AD9-5901-46CA-A259-271C6216661D}"/>
              </a:ext>
            </a:extLst>
          </p:cNvPr>
          <p:cNvSpPr>
            <a:spLocks xmlns:a="http://schemas.openxmlformats.org/drawingml/2006/main" noGrp="1"/>
          </p:cNvSpPr>
          <p:nvPr/>
        </p:nvSpPr>
        <p:spPr>
          <a:xfrm xmlns:a="http://schemas.openxmlformats.org/drawingml/2006/main">
            <a:off x="3257550" y="3566160"/>
            <a:ext cx="205740" cy="205740"/>
          </a:xfrm>
          <a:prstGeom xmlns:a="http://schemas.openxmlformats.org/drawingml/2006/main" prst="ellipse">
            <a:avLst/>
          </a:prstGeom>
          <a:solidFill xmlns:a="http://schemas.openxmlformats.org/drawingml/2006/main">
            <a:srgbClr val="E6F1FB"/>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0" name="Google Shape;160;p31">
            <a:extLst xmlns:a="http://schemas.openxmlformats.org/drawingml/2006/main">
              <a:ext uri="{FF2B5EF4-FFF2-40B4-BE49-F238E27FC236}">
                <a16:creationId xmlns:a16="http://schemas.microsoft.com/office/drawing/2014/main" id="{7D284418-6E10-4794-9B28-D8FE5BAAA15E}"/>
              </a:ext>
            </a:extLst>
          </p:cNvPr>
          <p:cNvSpPr>
            <a:spLocks xmlns:a="http://schemas.openxmlformats.org/drawingml/2006/main" noGrp="1"/>
          </p:cNvSpPr>
          <p:nvPr/>
        </p:nvSpPr>
        <p:spPr>
          <a:xfrm xmlns:a="http://schemas.openxmlformats.org/drawingml/2006/main">
            <a:off x="3257550" y="3566160"/>
            <a:ext cx="20574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C447C"/>
              </a:buClr>
              <a:buSzPts val="1000"/>
              <a:buFont typeface="Calibri"/>
              <a:buNone/>
            </a:pPr>
            <a:r>
              <a:rPr sz="1000" b="1" i="0" u="none" cap="none">
                <a:solidFill>
                  <a:srgbClr val="0C447C"/>
                </a:solidFill>
                <a:latin typeface="Calibri"/>
                <a:ea typeface="Calibri"/>
                <a:cs typeface="Calibri"/>
              </a:rPr>
              <a:t>1</a:t>
            </a:r>
          </a:p>
        </p:txBody>
      </p:sp>
      <p:sp>
        <p:nvSpPr>
          <p:cNvPr id="161" name="Google Shape;161;p31">
            <a:extLst xmlns:a="http://schemas.openxmlformats.org/drawingml/2006/main">
              <a:ext uri="{FF2B5EF4-FFF2-40B4-BE49-F238E27FC236}">
                <a16:creationId xmlns:a16="http://schemas.microsoft.com/office/drawing/2014/main" id="{654F2D14-E31D-4100-8F01-C9E476699A74}"/>
              </a:ext>
            </a:extLst>
          </p:cNvPr>
          <p:cNvSpPr>
            <a:spLocks xmlns:a="http://schemas.openxmlformats.org/drawingml/2006/main" noGrp="1"/>
          </p:cNvSpPr>
          <p:nvPr/>
        </p:nvSpPr>
        <p:spPr>
          <a:xfrm xmlns:a="http://schemas.openxmlformats.org/drawingml/2006/main">
            <a:off x="3566222" y="3514719"/>
            <a:ext cx="5109300" cy="4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A1A1A"/>
              </a:buClr>
              <a:buSzPts val="1100"/>
              <a:buFont typeface="Calibri"/>
              <a:buNone/>
            </a:pPr>
            <a:r>
              <a:rPr sz="1100" b="0" i="0" u="none" cap="none">
                <a:solidFill>
                  <a:srgbClr val="1A1A1A"/>
                </a:solidFill>
                <a:latin typeface="Calibri"/>
                <a:ea typeface="Calibri"/>
                <a:cs typeface="Calibri"/>
              </a:rPr>
              <a:t>Staying well enough to enjoy retirement with his family, without becoming dependent on others.</a:t>
            </a:r>
          </a:p>
        </p:txBody>
      </p:sp>
      <p:sp>
        <p:nvSpPr>
          <p:cNvPr id="162" name="Google Shape;162;p31">
            <a:extLst xmlns:a="http://schemas.openxmlformats.org/drawingml/2006/main">
              <a:ext uri="{FF2B5EF4-FFF2-40B4-BE49-F238E27FC236}">
                <a16:creationId xmlns:a16="http://schemas.microsoft.com/office/drawing/2014/main" id="{27BEE090-55C0-4A1D-9642-D1ABCCE9ED86}"/>
              </a:ext>
            </a:extLst>
          </p:cNvPr>
          <p:cNvSpPr>
            <a:spLocks xmlns:a="http://schemas.openxmlformats.org/drawingml/2006/main" noGrp="1"/>
          </p:cNvSpPr>
          <p:nvPr/>
        </p:nvSpPr>
        <p:spPr>
          <a:xfrm xmlns:a="http://schemas.openxmlformats.org/drawingml/2006/main">
            <a:off x="3257550" y="4128516"/>
            <a:ext cx="205740" cy="205740"/>
          </a:xfrm>
          <a:prstGeom xmlns:a="http://schemas.openxmlformats.org/drawingml/2006/main" prst="ellipse">
            <a:avLst/>
          </a:prstGeom>
          <a:solidFill xmlns:a="http://schemas.openxmlformats.org/drawingml/2006/main">
            <a:srgbClr val="E6F1FB"/>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63" name="Google Shape;163;p31">
            <a:extLst xmlns:a="http://schemas.openxmlformats.org/drawingml/2006/main">
              <a:ext uri="{FF2B5EF4-FFF2-40B4-BE49-F238E27FC236}">
                <a16:creationId xmlns:a16="http://schemas.microsoft.com/office/drawing/2014/main" id="{D6A996A6-1D12-454F-9A19-2B90FDD9E941}"/>
              </a:ext>
            </a:extLst>
          </p:cNvPr>
          <p:cNvSpPr>
            <a:spLocks xmlns:a="http://schemas.openxmlformats.org/drawingml/2006/main" noGrp="1"/>
          </p:cNvSpPr>
          <p:nvPr/>
        </p:nvSpPr>
        <p:spPr>
          <a:xfrm xmlns:a="http://schemas.openxmlformats.org/drawingml/2006/main">
            <a:off x="3257550" y="4128516"/>
            <a:ext cx="20574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C447C"/>
              </a:buClr>
              <a:buSzPts val="1000"/>
              <a:buFont typeface="Calibri"/>
              <a:buNone/>
            </a:pPr>
            <a:r>
              <a:rPr sz="1000" b="1" i="0" u="none" cap="none">
                <a:solidFill>
                  <a:srgbClr val="0C447C"/>
                </a:solidFill>
                <a:latin typeface="Calibri"/>
                <a:ea typeface="Calibri"/>
                <a:cs typeface="Calibri"/>
              </a:rPr>
              <a:t>2</a:t>
            </a:r>
          </a:p>
        </p:txBody>
      </p:sp>
      <p:sp>
        <p:nvSpPr>
          <p:cNvPr id="164" name="Google Shape;164;p31">
            <a:extLst xmlns:a="http://schemas.openxmlformats.org/drawingml/2006/main">
              <a:ext uri="{FF2B5EF4-FFF2-40B4-BE49-F238E27FC236}">
                <a16:creationId xmlns:a16="http://schemas.microsoft.com/office/drawing/2014/main" id="{F98E408F-8124-457B-B585-FF94E3534911}"/>
              </a:ext>
            </a:extLst>
          </p:cNvPr>
          <p:cNvSpPr>
            <a:spLocks xmlns:a="http://schemas.openxmlformats.org/drawingml/2006/main" noGrp="1"/>
          </p:cNvSpPr>
          <p:nvPr/>
        </p:nvSpPr>
        <p:spPr>
          <a:xfrm xmlns:a="http://schemas.openxmlformats.org/drawingml/2006/main">
            <a:off x="3566222" y="3991388"/>
            <a:ext cx="5109300" cy="4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A1A1A"/>
              </a:buClr>
              <a:buSzPts val="1100"/>
              <a:buFont typeface="Calibri"/>
              <a:buNone/>
            </a:pPr>
            <a:r>
              <a:rPr sz="1100" b="0" i="0" u="none" cap="none">
                <a:solidFill>
                  <a:srgbClr val="1A1A1A"/>
                </a:solidFill>
                <a:latin typeface="Calibri"/>
                <a:ea typeface="Calibri"/>
                <a:cs typeface="Calibri"/>
              </a:rPr>
              <a:t>He finally has real numbers in hand and wants to use them before problems appear.</a:t>
            </a:r>
          </a:p>
        </p:txBody>
      </p:sp>
    </p:spTree>
    <p:extLst>
      <p:ext uri="{BB962C8B-B14F-4D97-AF65-F5344CB8AC3E}">
        <p14:creationId xmlns:p14="http://schemas.microsoft.com/office/powerpoint/2010/main" val="212919409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70" name="Google Shape;170;p32">
            <a:extLst xmlns:a="http://schemas.openxmlformats.org/drawingml/2006/main">
              <a:ext uri="{FF2B5EF4-FFF2-40B4-BE49-F238E27FC236}">
                <a16:creationId xmlns:a16="http://schemas.microsoft.com/office/drawing/2014/main" id="{A9667314-FE56-4DC0-8556-E2104B31D63D}"/>
              </a:ext>
            </a:extLst>
          </p:cNvPr>
          <p:cNvSpPr>
            <a:spLocks xmlns:a="http://schemas.openxmlformats.org/drawingml/2006/main" noGrp="1"/>
          </p:cNvSpPr>
          <p:nvPr/>
        </p:nvSpPr>
        <p:spPr>
          <a:xfrm xmlns:a="http://schemas.openxmlformats.org/drawingml/2006/main">
            <a:off x="480060" y="288036"/>
            <a:ext cx="41148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6B6B6B"/>
              </a:buClr>
              <a:buSzPts val="1100"/>
              <a:buFont typeface="Calibri"/>
              <a:buNone/>
            </a:pPr>
            <a:r>
              <a:rPr sz="1200" b="0" i="0" u="none" cap="none">
                <a:solidFill>
                  <a:srgbClr val="6B6B6B"/>
                </a:solidFill>
                <a:latin typeface="Calibri"/>
                <a:ea typeface="Calibri"/>
                <a:cs typeface="Calibri"/>
              </a:rPr>
              <a:t>Empathy map</a:t>
            </a:r>
          </a:p>
        </p:txBody>
      </p:sp>
      <p:sp>
        <p:nvSpPr>
          <p:cNvPr id="171" name="Google Shape;171;p32">
            <a:extLst xmlns:a="http://schemas.openxmlformats.org/drawingml/2006/main">
              <a:ext uri="{FF2B5EF4-FFF2-40B4-BE49-F238E27FC236}">
                <a16:creationId xmlns:a16="http://schemas.microsoft.com/office/drawing/2014/main" id="{6F432921-2184-4244-B40F-78BDECD58E09}"/>
              </a:ext>
            </a:extLst>
          </p:cNvPr>
          <p:cNvSpPr>
            <a:spLocks xmlns:a="http://schemas.openxmlformats.org/drawingml/2006/main" noGrp="1"/>
          </p:cNvSpPr>
          <p:nvPr/>
        </p:nvSpPr>
        <p:spPr>
          <a:xfrm xmlns:a="http://schemas.openxmlformats.org/drawingml/2006/main">
            <a:off x="480060" y="500634"/>
            <a:ext cx="6515100" cy="3771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A1A1A"/>
              </a:buClr>
              <a:buSzPts val="2000"/>
              <a:buFont typeface="Calibri"/>
              <a:buNone/>
            </a:pPr>
            <a:r>
              <a:rPr sz="2000" b="1" i="0" u="none" cap="none">
                <a:solidFill>
                  <a:srgbClr val="1A1A1A"/>
                </a:solidFill>
                <a:latin typeface="Calibri"/>
                <a:ea typeface="Calibri"/>
                <a:cs typeface="Calibri"/>
              </a:rPr>
              <a:t>Mr Lim, in the weeks after his annual screening</a:t>
            </a:r>
          </a:p>
        </p:txBody>
      </p:sp>
      <p:pic>
        <p:nvPicPr>
          <p:cNvPr id="194" name="Google Shape;172;p32"/>
          <p:cNvPicPr>
            <a:picLocks xmlns:a="http://schemas.openxmlformats.org/drawingml/2006/main" noChangeAspect="1"/>
          </p:cNvPicPr>
          <p:nvPr/>
        </p:nvPicPr>
        <p:blipFill rotWithShape="1">
          <a:blip xmlns:r="http://schemas.openxmlformats.org/officeDocument/2006/relationships" xmlns:a="http://schemas.openxmlformats.org/drawingml/2006/main" r:embed="Rca97528b095c42eb">
            <a:alphaModFix/>
          </a:blip>
          <a:srcRect xmlns:a="http://schemas.openxmlformats.org/drawingml/2006/main" l="0" t="0" r="0" b="0"/>
          <a:stretch xmlns:a="http://schemas.openxmlformats.org/drawingml/2006/main"/>
        </p:blipFill>
        <p:spPr>
          <a:xfrm xmlns:a="http://schemas.openxmlformats.org/drawingml/2006/main">
            <a:off x="8037576" y="288036"/>
            <a:ext cx="603504" cy="603504"/>
          </a:xfrm>
          <a:prstGeom xmlns:a="http://schemas.openxmlformats.org/drawingml/2006/main" prst="ellipse">
            <a:avLst/>
          </a:prstGeom>
          <a:ln xmlns:a="http://schemas.openxmlformats.org/drawingml/2006/main">
            <a:noFill/>
          </a:ln>
        </p:spPr>
      </p:pic>
      <p:sp>
        <p:nvSpPr>
          <p:cNvPr id="173" name="Google Shape;173;p32">
            <a:extLst xmlns:a="http://schemas.openxmlformats.org/drawingml/2006/main">
              <a:ext uri="{FF2B5EF4-FFF2-40B4-BE49-F238E27FC236}">
                <a16:creationId xmlns:a16="http://schemas.microsoft.com/office/drawing/2014/main" id="{122875F3-DF12-4245-A4BA-6B4625A9D198}"/>
              </a:ext>
            </a:extLst>
          </p:cNvPr>
          <p:cNvSpPr>
            <a:spLocks xmlns:a="http://schemas.openxmlformats.org/drawingml/2006/main" noGrp="1"/>
          </p:cNvSpPr>
          <p:nvPr/>
        </p:nvSpPr>
        <p:spPr>
          <a:xfrm xmlns:a="http://schemas.openxmlformats.org/drawingml/2006/main">
            <a:off x="480060" y="1028700"/>
            <a:ext cx="2551176" cy="1728216"/>
          </a:xfrm>
          <a:prstGeom xmlns:a="http://schemas.openxmlformats.org/drawingml/2006/main" prst="roundRect">
            <a:avLst>
              <a:gd name="adj" fmla="val 3175"/>
            </a:avLst>
          </a:prstGeom>
          <a:solidFill xmlns:a="http://schemas.openxmlformats.org/drawingml/2006/main">
            <a:srgbClr val="E6F1FB"/>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74" name="Google Shape;174;p32">
            <a:extLst xmlns:a="http://schemas.openxmlformats.org/drawingml/2006/main">
              <a:ext uri="{FF2B5EF4-FFF2-40B4-BE49-F238E27FC236}">
                <a16:creationId xmlns:a16="http://schemas.microsoft.com/office/drawing/2014/main" id="{FA49C3A9-7310-4D95-9ECD-E16295E59139}"/>
              </a:ext>
            </a:extLst>
          </p:cNvPr>
          <p:cNvSpPr>
            <a:spLocks xmlns:a="http://schemas.openxmlformats.org/drawingml/2006/main" noGrp="1"/>
          </p:cNvSpPr>
          <p:nvPr/>
        </p:nvSpPr>
        <p:spPr>
          <a:xfrm xmlns:a="http://schemas.openxmlformats.org/drawingml/2006/main">
            <a:off x="658368" y="1152144"/>
            <a:ext cx="2208276"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C447C"/>
              </a:buClr>
              <a:buSzPts val="1100"/>
              <a:buFont typeface="Calibri"/>
              <a:buNone/>
            </a:pPr>
            <a:r>
              <a:rPr sz="1100" b="1" i="0" u="none" cap="none">
                <a:solidFill>
                  <a:srgbClr val="0C447C"/>
                </a:solidFill>
                <a:latin typeface="Calibri"/>
                <a:ea typeface="Calibri"/>
                <a:cs typeface="Calibri"/>
              </a:rPr>
              <a:t>Think &amp; feel</a:t>
            </a:r>
          </a:p>
        </p:txBody>
      </p:sp>
      <p:sp>
        <p:nvSpPr>
          <p:cNvPr id="175" name="Google Shape;175;p32">
            <a:extLst xmlns:a="http://schemas.openxmlformats.org/drawingml/2006/main">
              <a:ext uri="{FF2B5EF4-FFF2-40B4-BE49-F238E27FC236}">
                <a16:creationId xmlns:a16="http://schemas.microsoft.com/office/drawing/2014/main" id="{36444B1A-5047-47EA-B493-BF6841CBA039}"/>
              </a:ext>
            </a:extLst>
          </p:cNvPr>
          <p:cNvSpPr>
            <a:spLocks xmlns:a="http://schemas.openxmlformats.org/drawingml/2006/main" noGrp="1"/>
          </p:cNvSpPr>
          <p:nvPr/>
        </p:nvSpPr>
        <p:spPr>
          <a:xfrm xmlns:a="http://schemas.openxmlformats.org/drawingml/2006/main">
            <a:off x="606068" y="1357877"/>
            <a:ext cx="2208300" cy="121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254000" marR="0" lvl="0" indent="-260350" algn="l">
              <a:lnSpc>
                <a:spcPct val="105000"/>
              </a:lnSpc>
              <a:spcBef>
                <a:spcPts val="0"/>
              </a:spcBef>
              <a:spcAft>
                <a:spcPts val="0"/>
              </a:spcAft>
              <a:buClr>
                <a:srgbClr val="185FA5"/>
              </a:buClr>
              <a:buSzPts val="900"/>
              <a:buFont typeface="Calibri"/>
              <a:buChar char="•"/>
            </a:pPr>
            <a:r>
              <a:rPr sz="900" b="0" i="0" u="none" cap="none">
                <a:solidFill>
                  <a:srgbClr val="185FA5"/>
                </a:solidFill>
                <a:latin typeface="Calibri"/>
                <a:ea typeface="Calibri"/>
                <a:cs typeface="Calibri"/>
              </a:rPr>
              <a:t>“Should I be afraid of this number?”</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Thinks of friends his age recently diagnosed</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Wonders if it is serious, or just routine</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More anxious than before the screening</a:t>
            </a:r>
          </a:p>
        </p:txBody>
      </p:sp>
      <p:sp>
        <p:nvSpPr>
          <p:cNvPr id="176" name="Google Shape;176;p32">
            <a:extLst xmlns:a="http://schemas.openxmlformats.org/drawingml/2006/main">
              <a:ext uri="{FF2B5EF4-FFF2-40B4-BE49-F238E27FC236}">
                <a16:creationId xmlns:a16="http://schemas.microsoft.com/office/drawing/2014/main" id="{71188B14-ECA1-4E0D-AFD0-B7F24B86DE77}"/>
              </a:ext>
            </a:extLst>
          </p:cNvPr>
          <p:cNvSpPr>
            <a:spLocks xmlns:a="http://schemas.openxmlformats.org/drawingml/2006/main" noGrp="1"/>
          </p:cNvSpPr>
          <p:nvPr/>
        </p:nvSpPr>
        <p:spPr>
          <a:xfrm xmlns:a="http://schemas.openxmlformats.org/drawingml/2006/main">
            <a:off x="3168396" y="1028700"/>
            <a:ext cx="2551176" cy="1728216"/>
          </a:xfrm>
          <a:prstGeom xmlns:a="http://schemas.openxmlformats.org/drawingml/2006/main" prst="roundRect">
            <a:avLst>
              <a:gd name="adj" fmla="val 3175"/>
            </a:avLst>
          </a:prstGeom>
          <a:solidFill xmlns:a="http://schemas.openxmlformats.org/drawingml/2006/main">
            <a:srgbClr val="E6F1FB"/>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77" name="Google Shape;177;p32">
            <a:extLst xmlns:a="http://schemas.openxmlformats.org/drawingml/2006/main">
              <a:ext uri="{FF2B5EF4-FFF2-40B4-BE49-F238E27FC236}">
                <a16:creationId xmlns:a16="http://schemas.microsoft.com/office/drawing/2014/main" id="{926B1D8D-5550-4B6A-8955-F3B0F12525E2}"/>
              </a:ext>
            </a:extLst>
          </p:cNvPr>
          <p:cNvSpPr>
            <a:spLocks xmlns:a="http://schemas.openxmlformats.org/drawingml/2006/main" noGrp="1"/>
          </p:cNvSpPr>
          <p:nvPr/>
        </p:nvSpPr>
        <p:spPr>
          <a:xfrm xmlns:a="http://schemas.openxmlformats.org/drawingml/2006/main">
            <a:off x="3346704" y="1152144"/>
            <a:ext cx="2208276"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C447C"/>
              </a:buClr>
              <a:buSzPts val="1100"/>
              <a:buFont typeface="Calibri"/>
              <a:buNone/>
            </a:pPr>
            <a:r>
              <a:rPr sz="1100" b="1" i="0" u="none" cap="none">
                <a:solidFill>
                  <a:srgbClr val="0C447C"/>
                </a:solidFill>
                <a:latin typeface="Calibri"/>
                <a:ea typeface="Calibri"/>
                <a:cs typeface="Calibri"/>
              </a:rPr>
              <a:t>See</a:t>
            </a:r>
          </a:p>
        </p:txBody>
      </p:sp>
      <p:sp>
        <p:nvSpPr>
          <p:cNvPr id="178" name="Google Shape;178;p32">
            <a:extLst xmlns:a="http://schemas.openxmlformats.org/drawingml/2006/main">
              <a:ext uri="{FF2B5EF4-FFF2-40B4-BE49-F238E27FC236}">
                <a16:creationId xmlns:a16="http://schemas.microsoft.com/office/drawing/2014/main" id="{5D5B7D03-73A7-4EFF-A611-F66C1C52C701}"/>
              </a:ext>
            </a:extLst>
          </p:cNvPr>
          <p:cNvSpPr>
            <a:spLocks xmlns:a="http://schemas.openxmlformats.org/drawingml/2006/main" noGrp="1"/>
          </p:cNvSpPr>
          <p:nvPr/>
        </p:nvSpPr>
        <p:spPr>
          <a:xfrm xmlns:a="http://schemas.openxmlformats.org/drawingml/2006/main">
            <a:off x="3339817" y="1357864"/>
            <a:ext cx="2208300" cy="121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254000" marR="0" lvl="0" indent="-260350" algn="l">
              <a:lnSpc>
                <a:spcPct val="105000"/>
              </a:lnSpc>
              <a:spcBef>
                <a:spcPts val="0"/>
              </a:spcBef>
              <a:spcAft>
                <a:spcPts val="0"/>
              </a:spcAft>
              <a:buClr>
                <a:srgbClr val="185FA5"/>
              </a:buClr>
              <a:buSzPts val="900"/>
              <a:buFont typeface="Calibri"/>
              <a:buChar char="•"/>
            </a:pPr>
            <a:r>
              <a:rPr sz="900" b="0" i="0" u="none" cap="none">
                <a:solidFill>
                  <a:srgbClr val="185FA5"/>
                </a:solidFill>
                <a:latin typeface="Calibri"/>
                <a:ea typeface="Calibri"/>
                <a:cs typeface="Calibri"/>
              </a:rPr>
              <a:t>Numbers, ranges, values flagged in red</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Search results that contradict each other</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People around him starting to watch their health</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A clinic waiting room full of the same condition</a:t>
            </a:r>
          </a:p>
        </p:txBody>
      </p:sp>
      <p:sp>
        <p:nvSpPr>
          <p:cNvPr id="179" name="Google Shape;179;p32">
            <a:extLst xmlns:a="http://schemas.openxmlformats.org/drawingml/2006/main">
              <a:ext uri="{FF2B5EF4-FFF2-40B4-BE49-F238E27FC236}">
                <a16:creationId xmlns:a16="http://schemas.microsoft.com/office/drawing/2014/main" id="{926BFA40-068D-4FCC-BE4C-DB811B909CB1}"/>
              </a:ext>
            </a:extLst>
          </p:cNvPr>
          <p:cNvSpPr>
            <a:spLocks xmlns:a="http://schemas.openxmlformats.org/drawingml/2006/main" noGrp="1"/>
          </p:cNvSpPr>
          <p:nvPr/>
        </p:nvSpPr>
        <p:spPr>
          <a:xfrm xmlns:a="http://schemas.openxmlformats.org/drawingml/2006/main">
            <a:off x="480060" y="2866644"/>
            <a:ext cx="2551176" cy="1728216"/>
          </a:xfrm>
          <a:prstGeom xmlns:a="http://schemas.openxmlformats.org/drawingml/2006/main" prst="roundRect">
            <a:avLst>
              <a:gd name="adj" fmla="val 3175"/>
            </a:avLst>
          </a:prstGeom>
          <a:solidFill xmlns:a="http://schemas.openxmlformats.org/drawingml/2006/main">
            <a:srgbClr val="E6F1FB"/>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80" name="Google Shape;180;p32">
            <a:extLst xmlns:a="http://schemas.openxmlformats.org/drawingml/2006/main">
              <a:ext uri="{FF2B5EF4-FFF2-40B4-BE49-F238E27FC236}">
                <a16:creationId xmlns:a16="http://schemas.microsoft.com/office/drawing/2014/main" id="{3C479075-A5F5-4ECC-8930-DCD4EB9D6FBD}"/>
              </a:ext>
            </a:extLst>
          </p:cNvPr>
          <p:cNvSpPr>
            <a:spLocks xmlns:a="http://schemas.openxmlformats.org/drawingml/2006/main" noGrp="1"/>
          </p:cNvSpPr>
          <p:nvPr/>
        </p:nvSpPr>
        <p:spPr>
          <a:xfrm xmlns:a="http://schemas.openxmlformats.org/drawingml/2006/main">
            <a:off x="658368" y="2990088"/>
            <a:ext cx="2208276"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C447C"/>
              </a:buClr>
              <a:buSzPts val="1100"/>
              <a:buFont typeface="Calibri"/>
              <a:buNone/>
            </a:pPr>
            <a:r>
              <a:rPr sz="1100" b="1" i="0" u="none" cap="none">
                <a:solidFill>
                  <a:srgbClr val="0C447C"/>
                </a:solidFill>
                <a:latin typeface="Calibri"/>
                <a:ea typeface="Calibri"/>
                <a:cs typeface="Calibri"/>
              </a:rPr>
              <a:t>Hear</a:t>
            </a:r>
          </a:p>
        </p:txBody>
      </p:sp>
      <p:sp>
        <p:nvSpPr>
          <p:cNvPr id="181" name="Google Shape;181;p32">
            <a:extLst xmlns:a="http://schemas.openxmlformats.org/drawingml/2006/main">
              <a:ext uri="{FF2B5EF4-FFF2-40B4-BE49-F238E27FC236}">
                <a16:creationId xmlns:a16="http://schemas.microsoft.com/office/drawing/2014/main" id="{D4243BA8-1990-4B52-80F8-B228B63ABC6A}"/>
              </a:ext>
            </a:extLst>
          </p:cNvPr>
          <p:cNvSpPr>
            <a:spLocks xmlns:a="http://schemas.openxmlformats.org/drawingml/2006/main" noGrp="1"/>
          </p:cNvSpPr>
          <p:nvPr/>
        </p:nvSpPr>
        <p:spPr>
          <a:xfrm xmlns:a="http://schemas.openxmlformats.org/drawingml/2006/main">
            <a:off x="658368" y="3195796"/>
            <a:ext cx="2208300" cy="121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254000" marR="0" lvl="0" indent="-260350" algn="l">
              <a:lnSpc>
                <a:spcPct val="105000"/>
              </a:lnSpc>
              <a:spcBef>
                <a:spcPts val="0"/>
              </a:spcBef>
              <a:spcAft>
                <a:spcPts val="0"/>
              </a:spcAft>
              <a:buClr>
                <a:srgbClr val="185FA5"/>
              </a:buClr>
              <a:buSzPts val="900"/>
              <a:buFont typeface="Calibri"/>
              <a:buChar char="•"/>
            </a:pPr>
            <a:r>
              <a:rPr sz="900" b="0" i="0" u="none" cap="none">
                <a:solidFill>
                  <a:srgbClr val="185FA5"/>
                </a:solidFill>
                <a:latin typeface="Calibri"/>
                <a:ea typeface="Calibri"/>
                <a:cs typeface="Calibri"/>
              </a:rPr>
              <a:t>Doctor: “keep an eye on it, come back next time”</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Friends: exercise more, eat better</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Colleagues: “have you tried supplements?”</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Family: watch your diet, and they check up on him</a:t>
            </a:r>
          </a:p>
        </p:txBody>
      </p:sp>
      <p:sp>
        <p:nvSpPr>
          <p:cNvPr id="182" name="Google Shape;182;p32">
            <a:extLst xmlns:a="http://schemas.openxmlformats.org/drawingml/2006/main">
              <a:ext uri="{FF2B5EF4-FFF2-40B4-BE49-F238E27FC236}">
                <a16:creationId xmlns:a16="http://schemas.microsoft.com/office/drawing/2014/main" id="{8884D572-0338-449B-9016-FB92959DC0E6}"/>
              </a:ext>
            </a:extLst>
          </p:cNvPr>
          <p:cNvSpPr>
            <a:spLocks xmlns:a="http://schemas.openxmlformats.org/drawingml/2006/main" noGrp="1"/>
          </p:cNvSpPr>
          <p:nvPr/>
        </p:nvSpPr>
        <p:spPr>
          <a:xfrm xmlns:a="http://schemas.openxmlformats.org/drawingml/2006/main">
            <a:off x="3168396" y="2866644"/>
            <a:ext cx="2551176" cy="1728216"/>
          </a:xfrm>
          <a:prstGeom xmlns:a="http://schemas.openxmlformats.org/drawingml/2006/main" prst="roundRect">
            <a:avLst>
              <a:gd name="adj" fmla="val 3175"/>
            </a:avLst>
          </a:prstGeom>
          <a:solidFill xmlns:a="http://schemas.openxmlformats.org/drawingml/2006/main">
            <a:srgbClr val="E6F1FB"/>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83" name="Google Shape;183;p32">
            <a:extLst xmlns:a="http://schemas.openxmlformats.org/drawingml/2006/main">
              <a:ext uri="{FF2B5EF4-FFF2-40B4-BE49-F238E27FC236}">
                <a16:creationId xmlns:a16="http://schemas.microsoft.com/office/drawing/2014/main" id="{51430100-EBEF-4660-B08A-EF946A4F6950}"/>
              </a:ext>
            </a:extLst>
          </p:cNvPr>
          <p:cNvSpPr>
            <a:spLocks xmlns:a="http://schemas.openxmlformats.org/drawingml/2006/main" noGrp="1"/>
          </p:cNvSpPr>
          <p:nvPr/>
        </p:nvSpPr>
        <p:spPr>
          <a:xfrm xmlns:a="http://schemas.openxmlformats.org/drawingml/2006/main">
            <a:off x="3346704" y="2990088"/>
            <a:ext cx="2208276"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C447C"/>
              </a:buClr>
              <a:buSzPts val="1100"/>
              <a:buFont typeface="Calibri"/>
              <a:buNone/>
            </a:pPr>
            <a:r>
              <a:rPr sz="1100" b="1" i="0" u="none" cap="none">
                <a:solidFill>
                  <a:srgbClr val="0C447C"/>
                </a:solidFill>
                <a:latin typeface="Calibri"/>
                <a:ea typeface="Calibri"/>
                <a:cs typeface="Calibri"/>
              </a:rPr>
              <a:t>Say &amp; do</a:t>
            </a:r>
          </a:p>
        </p:txBody>
      </p:sp>
      <p:sp>
        <p:nvSpPr>
          <p:cNvPr id="184" name="Google Shape;184;p32">
            <a:extLst xmlns:a="http://schemas.openxmlformats.org/drawingml/2006/main">
              <a:ext uri="{FF2B5EF4-FFF2-40B4-BE49-F238E27FC236}">
                <a16:creationId xmlns:a16="http://schemas.microsoft.com/office/drawing/2014/main" id="{BB081A8D-488E-4795-8B6B-44FDA30C665F}"/>
              </a:ext>
            </a:extLst>
          </p:cNvPr>
          <p:cNvSpPr>
            <a:spLocks xmlns:a="http://schemas.openxmlformats.org/drawingml/2006/main" noGrp="1"/>
          </p:cNvSpPr>
          <p:nvPr/>
        </p:nvSpPr>
        <p:spPr>
          <a:xfrm xmlns:a="http://schemas.openxmlformats.org/drawingml/2006/main">
            <a:off x="3339817" y="3123846"/>
            <a:ext cx="2208300" cy="121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254000" marR="0" lvl="0" indent="-260350" algn="l">
              <a:lnSpc>
                <a:spcPct val="105000"/>
              </a:lnSpc>
              <a:spcBef>
                <a:spcPts val="0"/>
              </a:spcBef>
              <a:spcAft>
                <a:spcPts val="0"/>
              </a:spcAft>
              <a:buClr>
                <a:srgbClr val="185FA5"/>
              </a:buClr>
              <a:buSzPts val="900"/>
              <a:buFont typeface="Calibri"/>
              <a:buChar char="•"/>
            </a:pPr>
            <a:r>
              <a:rPr sz="900" b="0" i="0" u="none" cap="none">
                <a:solidFill>
                  <a:srgbClr val="185FA5"/>
                </a:solidFill>
                <a:latin typeface="Calibri"/>
                <a:ea typeface="Calibri"/>
                <a:cs typeface="Calibri"/>
              </a:rPr>
              <a:t>Tells people he is fine and healthy</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Is honest with his wife about the results</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Searches his values, looks up supplements</a:t>
            </a:r>
          </a:p>
          <a:p xmlns:a="http://schemas.openxmlformats.org/drawingml/2006/main">
            <a:pPr marL="254000" marR="0" lvl="0" indent="-260350" algn="l">
              <a:lnSpc>
                <a:spcPct val="105000"/>
              </a:lnSpc>
              <a:spcBef>
                <a:spcPts val="400"/>
              </a:spcBef>
              <a:spcAft>
                <a:spcPts val="0"/>
              </a:spcAft>
              <a:buClr>
                <a:srgbClr val="185FA5"/>
              </a:buClr>
              <a:buSzPts val="900"/>
              <a:buFont typeface="Calibri"/>
              <a:buChar char="•"/>
            </a:pPr>
            <a:r>
              <a:rPr sz="900" b="0" i="0" u="none" cap="none">
                <a:solidFill>
                  <a:srgbClr val="185FA5"/>
                </a:solidFill>
                <a:latin typeface="Calibri"/>
                <a:ea typeface="Calibri"/>
                <a:cs typeface="Calibri"/>
              </a:rPr>
              <a:t>Joins a gym, watches his diet, then forgets</a:t>
            </a:r>
          </a:p>
        </p:txBody>
      </p:sp>
      <p:sp>
        <p:nvSpPr>
          <p:cNvPr id="185" name="Google Shape;185;p32">
            <a:extLst xmlns:a="http://schemas.openxmlformats.org/drawingml/2006/main">
              <a:ext uri="{FF2B5EF4-FFF2-40B4-BE49-F238E27FC236}">
                <a16:creationId xmlns:a16="http://schemas.microsoft.com/office/drawing/2014/main" id="{44BB397A-C326-4942-B088-6A37E3DB71A7}"/>
              </a:ext>
            </a:extLst>
          </p:cNvPr>
          <p:cNvSpPr>
            <a:spLocks xmlns:a="http://schemas.openxmlformats.org/drawingml/2006/main" noGrp="1"/>
          </p:cNvSpPr>
          <p:nvPr/>
        </p:nvSpPr>
        <p:spPr>
          <a:xfrm xmlns:a="http://schemas.openxmlformats.org/drawingml/2006/main">
            <a:off x="5856732" y="1028700"/>
            <a:ext cx="2784348" cy="1728216"/>
          </a:xfrm>
          <a:prstGeom xmlns:a="http://schemas.openxmlformats.org/drawingml/2006/main" prst="roundRect">
            <a:avLst>
              <a:gd name="adj" fmla="val 3175"/>
            </a:avLst>
          </a:prstGeom>
          <a:solidFill xmlns:a="http://schemas.openxmlformats.org/drawingml/2006/main">
            <a:srgbClr val="0C447C"/>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86" name="Google Shape;186;p32">
            <a:extLst xmlns:a="http://schemas.openxmlformats.org/drawingml/2006/main">
              <a:ext uri="{FF2B5EF4-FFF2-40B4-BE49-F238E27FC236}">
                <a16:creationId xmlns:a16="http://schemas.microsoft.com/office/drawing/2014/main" id="{E77B4EBF-0CCC-4B13-ADB0-34DC455D3705}"/>
              </a:ext>
            </a:extLst>
          </p:cNvPr>
          <p:cNvSpPr>
            <a:spLocks xmlns:a="http://schemas.openxmlformats.org/drawingml/2006/main" noGrp="1"/>
          </p:cNvSpPr>
          <p:nvPr/>
        </p:nvSpPr>
        <p:spPr>
          <a:xfrm xmlns:a="http://schemas.openxmlformats.org/drawingml/2006/main">
            <a:off x="6035040" y="1152144"/>
            <a:ext cx="2441448"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B5D4F4"/>
              </a:buClr>
              <a:buSzPts val="1100"/>
              <a:buFont typeface="Calibri"/>
              <a:buNone/>
            </a:pPr>
            <a:r>
              <a:rPr sz="1100" b="1" i="0" u="none" cap="none">
                <a:solidFill>
                  <a:srgbClr val="B5D4F4"/>
                </a:solidFill>
                <a:latin typeface="Calibri"/>
                <a:ea typeface="Calibri"/>
                <a:cs typeface="Calibri"/>
              </a:rPr>
              <a:t>Pain</a:t>
            </a:r>
          </a:p>
        </p:txBody>
      </p:sp>
      <p:sp>
        <p:nvSpPr>
          <p:cNvPr id="187" name="Google Shape;187;p32">
            <a:extLst xmlns:a="http://schemas.openxmlformats.org/drawingml/2006/main">
              <a:ext uri="{FF2B5EF4-FFF2-40B4-BE49-F238E27FC236}">
                <a16:creationId xmlns:a16="http://schemas.microsoft.com/office/drawing/2014/main" id="{D461B292-0005-4453-8A59-D4CA460E3FEF}"/>
              </a:ext>
            </a:extLst>
          </p:cNvPr>
          <p:cNvSpPr>
            <a:spLocks xmlns:a="http://schemas.openxmlformats.org/drawingml/2006/main" noGrp="1"/>
          </p:cNvSpPr>
          <p:nvPr/>
        </p:nvSpPr>
        <p:spPr>
          <a:xfrm xmlns:a="http://schemas.openxmlformats.org/drawingml/2006/main">
            <a:off x="6021315" y="1333889"/>
            <a:ext cx="2441400" cy="121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254000" marR="0" lvl="0" indent="-260350" algn="l">
              <a:lnSpc>
                <a:spcPct val="105000"/>
              </a:lnSpc>
              <a:spcBef>
                <a:spcPts val="0"/>
              </a:spcBef>
              <a:spcAft>
                <a:spcPts val="0"/>
              </a:spcAft>
              <a:buClr>
                <a:srgbClr val="B5D4F4"/>
              </a:buClr>
              <a:buSzPts val="900"/>
              <a:buFont typeface="Calibri"/>
              <a:buChar char="•"/>
            </a:pPr>
            <a:r>
              <a:rPr sz="900" b="0" i="0" u="none" cap="none">
                <a:solidFill>
                  <a:srgbClr val="B5D4F4"/>
                </a:solidFill>
                <a:latin typeface="Calibri"/>
                <a:ea typeface="Calibri"/>
                <a:cs typeface="Calibri"/>
              </a:rPr>
              <a:t>Cannot tell which numbers matter, or how serious</a:t>
            </a:r>
          </a:p>
          <a:p xmlns:a="http://schemas.openxmlformats.org/drawingml/2006/main">
            <a:pPr marL="254000" marR="0" lvl="0" indent="-260350" algn="l">
              <a:lnSpc>
                <a:spcPct val="105000"/>
              </a:lnSpc>
              <a:spcBef>
                <a:spcPts val="400"/>
              </a:spcBef>
              <a:spcAft>
                <a:spcPts val="0"/>
              </a:spcAft>
              <a:buClr>
                <a:srgbClr val="B5D4F4"/>
              </a:buClr>
              <a:buSzPts val="900"/>
              <a:buFont typeface="Calibri"/>
              <a:buChar char="•"/>
            </a:pPr>
            <a:r>
              <a:rPr sz="900" b="0" i="0" u="none" cap="none">
                <a:solidFill>
                  <a:srgbClr val="B5D4F4"/>
                </a:solidFill>
                <a:latin typeface="Calibri"/>
                <a:ea typeface="Calibri"/>
                <a:cs typeface="Calibri"/>
              </a:rPr>
              <a:t>Cannot remember what the doctor explained</a:t>
            </a:r>
          </a:p>
          <a:p xmlns:a="http://schemas.openxmlformats.org/drawingml/2006/main">
            <a:pPr marL="254000" marR="0" lvl="0" indent="-260350" algn="l">
              <a:lnSpc>
                <a:spcPct val="105000"/>
              </a:lnSpc>
              <a:spcBef>
                <a:spcPts val="400"/>
              </a:spcBef>
              <a:spcAft>
                <a:spcPts val="0"/>
              </a:spcAft>
              <a:buClr>
                <a:srgbClr val="B5D4F4"/>
              </a:buClr>
              <a:buSzPts val="900"/>
              <a:buFont typeface="Calibri"/>
              <a:buChar char="•"/>
            </a:pPr>
            <a:r>
              <a:rPr sz="900" b="0" i="0" u="none" cap="none">
                <a:solidFill>
                  <a:srgbClr val="B5D4F4"/>
                </a:solidFill>
                <a:latin typeface="Calibri"/>
                <a:ea typeface="Calibri"/>
                <a:cs typeface="Calibri"/>
              </a:rPr>
              <a:t>Online information contradicts itself</a:t>
            </a:r>
          </a:p>
          <a:p xmlns:a="http://schemas.openxmlformats.org/drawingml/2006/main">
            <a:pPr marL="254000" marR="0" lvl="0" indent="-260350" algn="l">
              <a:lnSpc>
                <a:spcPct val="105000"/>
              </a:lnSpc>
              <a:spcBef>
                <a:spcPts val="400"/>
              </a:spcBef>
              <a:spcAft>
                <a:spcPts val="0"/>
              </a:spcAft>
              <a:buClr>
                <a:srgbClr val="B5D4F4"/>
              </a:buClr>
              <a:buSzPts val="900"/>
              <a:buFont typeface="Calibri"/>
              <a:buChar char="•"/>
            </a:pPr>
            <a:r>
              <a:rPr sz="900" b="0" i="0" u="none" cap="none">
                <a:solidFill>
                  <a:srgbClr val="B5D4F4"/>
                </a:solidFill>
                <a:latin typeface="Calibri"/>
                <a:ea typeface="Calibri"/>
                <a:cs typeface="Calibri"/>
              </a:rPr>
              <a:t>Anxiety, without a clear idea of what to do</a:t>
            </a:r>
          </a:p>
          <a:p xmlns:a="http://schemas.openxmlformats.org/drawingml/2006/main">
            <a:pPr marL="254000" marR="0" lvl="0" indent="-260350" algn="l">
              <a:lnSpc>
                <a:spcPct val="105000"/>
              </a:lnSpc>
              <a:spcBef>
                <a:spcPts val="400"/>
              </a:spcBef>
              <a:spcAft>
                <a:spcPts val="0"/>
              </a:spcAft>
              <a:buClr>
                <a:srgbClr val="B5D4F4"/>
              </a:buClr>
              <a:buSzPts val="900"/>
              <a:buFont typeface="Calibri"/>
              <a:buChar char="•"/>
            </a:pPr>
            <a:r>
              <a:rPr sz="900" b="0" i="0" u="none" cap="none">
                <a:solidFill>
                  <a:srgbClr val="B5D4F4"/>
                </a:solidFill>
                <a:latin typeface="Calibri"/>
                <a:ea typeface="Calibri"/>
                <a:cs typeface="Calibri"/>
              </a:rPr>
              <a:t>No symptoms, so nothing sustains the urgency</a:t>
            </a:r>
          </a:p>
        </p:txBody>
      </p:sp>
      <p:sp>
        <p:nvSpPr>
          <p:cNvPr id="188" name="Google Shape;188;p32">
            <a:extLst xmlns:a="http://schemas.openxmlformats.org/drawingml/2006/main">
              <a:ext uri="{FF2B5EF4-FFF2-40B4-BE49-F238E27FC236}">
                <a16:creationId xmlns:a16="http://schemas.microsoft.com/office/drawing/2014/main" id="{ED0334F0-26F3-45F1-856B-7C3345961050}"/>
              </a:ext>
            </a:extLst>
          </p:cNvPr>
          <p:cNvSpPr>
            <a:spLocks xmlns:a="http://schemas.openxmlformats.org/drawingml/2006/main" noGrp="1"/>
          </p:cNvSpPr>
          <p:nvPr/>
        </p:nvSpPr>
        <p:spPr>
          <a:xfrm xmlns:a="http://schemas.openxmlformats.org/drawingml/2006/main">
            <a:off x="5856732" y="2866644"/>
            <a:ext cx="2784348" cy="1728216"/>
          </a:xfrm>
          <a:prstGeom xmlns:a="http://schemas.openxmlformats.org/drawingml/2006/main" prst="roundRect">
            <a:avLst>
              <a:gd name="adj" fmla="val 3175"/>
            </a:avLst>
          </a:prstGeom>
          <a:solidFill xmlns:a="http://schemas.openxmlformats.org/drawingml/2006/main">
            <a:srgbClr val="185FA5"/>
          </a:solidFill>
          <a:ln xmlns:a="http://schemas.openxmlformats.org/drawingml/2006/main" w="12700" cmpd="sng">
            <a:solidFill>
              <a:srgbClr val="333333"/>
            </a:solidFill>
            <a:prstDash val="solid"/>
            <a:headEnd type="none" w="sm" len="sm"/>
            <a:tailEnd type="none" w="sm" len="sm"/>
          </a:ln>
        </p:spPr>
        <p:txBody>
          <a:bodyPr xmlns:a="http://schemas.openxmlformats.org/drawingml/2006/main" spcFirstLastPara="1" wrap="square" lIns="68575" tIns="68575" rIns="68575" bIns="6857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89" name="Google Shape;189;p32">
            <a:extLst xmlns:a="http://schemas.openxmlformats.org/drawingml/2006/main">
              <a:ext uri="{FF2B5EF4-FFF2-40B4-BE49-F238E27FC236}">
                <a16:creationId xmlns:a16="http://schemas.microsoft.com/office/drawing/2014/main" id="{20AF25C3-5840-4FC5-B8F9-43B49A1DBAAA}"/>
              </a:ext>
            </a:extLst>
          </p:cNvPr>
          <p:cNvSpPr>
            <a:spLocks xmlns:a="http://schemas.openxmlformats.org/drawingml/2006/main" noGrp="1"/>
          </p:cNvSpPr>
          <p:nvPr/>
        </p:nvSpPr>
        <p:spPr>
          <a:xfrm xmlns:a="http://schemas.openxmlformats.org/drawingml/2006/main">
            <a:off x="6035040" y="2990088"/>
            <a:ext cx="2441448"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100"/>
              <a:buFont typeface="Calibri"/>
              <a:buNone/>
            </a:pPr>
            <a:r>
              <a:rPr sz="1100" b="1" i="0" u="none" cap="none">
                <a:solidFill>
                  <a:srgbClr val="FFFFFF"/>
                </a:solidFill>
                <a:latin typeface="Calibri"/>
                <a:ea typeface="Calibri"/>
                <a:cs typeface="Calibri"/>
              </a:rPr>
              <a:t>Gain</a:t>
            </a:r>
          </a:p>
        </p:txBody>
      </p:sp>
      <p:sp>
        <p:nvSpPr>
          <p:cNvPr id="190" name="Google Shape;190;p32">
            <a:extLst xmlns:a="http://schemas.openxmlformats.org/drawingml/2006/main">
              <a:ext uri="{FF2B5EF4-FFF2-40B4-BE49-F238E27FC236}">
                <a16:creationId xmlns:a16="http://schemas.microsoft.com/office/drawing/2014/main" id="{C6DBCA2E-D844-4D34-AA86-310C9D4780B1}"/>
              </a:ext>
            </a:extLst>
          </p:cNvPr>
          <p:cNvSpPr>
            <a:spLocks xmlns:a="http://schemas.openxmlformats.org/drawingml/2006/main" noGrp="1"/>
          </p:cNvSpPr>
          <p:nvPr/>
        </p:nvSpPr>
        <p:spPr>
          <a:xfrm xmlns:a="http://schemas.openxmlformats.org/drawingml/2006/main">
            <a:off x="6021315" y="3195833"/>
            <a:ext cx="2441400" cy="121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254000" marR="0" lvl="0" indent="-260350" algn="l">
              <a:lnSpc>
                <a:spcPct val="105000"/>
              </a:lnSpc>
              <a:spcBef>
                <a:spcPts val="0"/>
              </a:spcBef>
              <a:spcAft>
                <a:spcPts val="0"/>
              </a:spcAft>
              <a:buClr>
                <a:srgbClr val="FFFFFF"/>
              </a:buClr>
              <a:buSzPts val="900"/>
              <a:buFont typeface="Calibri"/>
              <a:buChar char="•"/>
            </a:pPr>
            <a:r>
              <a:rPr sz="900" b="0" i="0" u="none" cap="none">
                <a:solidFill>
                  <a:srgbClr val="FFFFFF"/>
                </a:solidFill>
                <a:latin typeface="Calibri"/>
                <a:ea typeface="Calibri"/>
                <a:cs typeface="Calibri"/>
              </a:rPr>
              <a:t>Knows which one or two results need attention</a:t>
            </a:r>
          </a:p>
          <a:p xmlns:a="http://schemas.openxmlformats.org/drawingml/2006/main">
            <a:pPr marL="254000" marR="0" lvl="0" indent="-260350" algn="l">
              <a:lnSpc>
                <a:spcPct val="105000"/>
              </a:lnSpc>
              <a:spcBef>
                <a:spcPts val="400"/>
              </a:spcBef>
              <a:spcAft>
                <a:spcPts val="0"/>
              </a:spcAft>
              <a:buClr>
                <a:srgbClr val="FFFFFF"/>
              </a:buClr>
              <a:buSzPts val="900"/>
              <a:buFont typeface="Calibri"/>
              <a:buChar char="•"/>
            </a:pPr>
            <a:r>
              <a:rPr sz="900" b="0" i="0" u="none" cap="none">
                <a:solidFill>
                  <a:srgbClr val="FFFFFF"/>
                </a:solidFill>
                <a:latin typeface="Calibri"/>
                <a:ea typeface="Calibri"/>
                <a:cs typeface="Calibri"/>
              </a:rPr>
              <a:t>Knows whether it is urgent</a:t>
            </a:r>
          </a:p>
          <a:p xmlns:a="http://schemas.openxmlformats.org/drawingml/2006/main">
            <a:pPr marL="254000" marR="0" lvl="0" indent="-260350" algn="l">
              <a:lnSpc>
                <a:spcPct val="105000"/>
              </a:lnSpc>
              <a:spcBef>
                <a:spcPts val="400"/>
              </a:spcBef>
              <a:spcAft>
                <a:spcPts val="0"/>
              </a:spcAft>
              <a:buClr>
                <a:srgbClr val="FFFFFF"/>
              </a:buClr>
              <a:buSzPts val="900"/>
              <a:buFont typeface="Calibri"/>
              <a:buChar char="•"/>
            </a:pPr>
            <a:r>
              <a:rPr sz="900" b="0" i="0" u="none" cap="none">
                <a:solidFill>
                  <a:srgbClr val="FFFFFF"/>
                </a:solidFill>
                <a:latin typeface="Calibri"/>
                <a:ea typeface="Calibri"/>
                <a:cs typeface="Calibri"/>
              </a:rPr>
              <a:t>A few specific things he can actually do</a:t>
            </a:r>
          </a:p>
          <a:p xmlns:a="http://schemas.openxmlformats.org/drawingml/2006/main">
            <a:pPr marL="254000" marR="0" lvl="0" indent="-260350" algn="l">
              <a:lnSpc>
                <a:spcPct val="105000"/>
              </a:lnSpc>
              <a:spcBef>
                <a:spcPts val="400"/>
              </a:spcBef>
              <a:spcAft>
                <a:spcPts val="0"/>
              </a:spcAft>
              <a:buClr>
                <a:srgbClr val="FFFFFF"/>
              </a:buClr>
              <a:buSzPts val="900"/>
              <a:buFont typeface="Calibri"/>
              <a:buChar char="•"/>
            </a:pPr>
            <a:r>
              <a:rPr sz="900" b="0" i="0" u="none" cap="none">
                <a:solidFill>
                  <a:srgbClr val="FFFFFF"/>
                </a:solidFill>
                <a:latin typeface="Calibri"/>
                <a:ea typeface="Calibri"/>
                <a:cs typeface="Calibri"/>
              </a:rPr>
              <a:t>Does not start searching from scratch each time</a:t>
            </a:r>
          </a:p>
          <a:p xmlns:a="http://schemas.openxmlformats.org/drawingml/2006/main">
            <a:pPr marL="254000" marR="0" lvl="0" indent="-260350" algn="l">
              <a:lnSpc>
                <a:spcPct val="105000"/>
              </a:lnSpc>
              <a:spcBef>
                <a:spcPts val="400"/>
              </a:spcBef>
              <a:spcAft>
                <a:spcPts val="0"/>
              </a:spcAft>
              <a:buClr>
                <a:srgbClr val="FFFFFF"/>
              </a:buClr>
              <a:buSzPts val="900"/>
              <a:buFont typeface="Calibri"/>
              <a:buChar char="•"/>
            </a:pPr>
            <a:r>
              <a:rPr sz="900" b="0" i="0" u="none" cap="none">
                <a:solidFill>
                  <a:srgbClr val="FFFFFF"/>
                </a:solidFill>
                <a:latin typeface="Calibri"/>
                <a:ea typeface="Calibri"/>
                <a:cs typeface="Calibri"/>
              </a:rPr>
              <a:t>Stays independent for his family as he ages</a:t>
            </a:r>
          </a:p>
        </p:txBody>
      </p:sp>
    </p:spTree>
    <p:extLst>
      <p:ext uri="{BB962C8B-B14F-4D97-AF65-F5344CB8AC3E}">
        <p14:creationId xmlns:p14="http://schemas.microsoft.com/office/powerpoint/2010/main" val="1042750013"/>
      </p:ext>
    </p:extLst>
  </p:cSld>
</p:sld>
</file>

<file path=ppt/slides/slide6.xml><?xml version="1.0" encoding="utf-8"?>
<p:sld xmlns:p="http://schemas.openxmlformats.org/presentationml/2006/main">
  <p:cSld>
    <p:bg>
      <p:bgPr>
        <a:solidFill xmlns:a="http://schemas.openxmlformats.org/drawingml/2006/main">
          <a:srgbClr val="FEFEFE"/>
        </a:solidFill>
      </p:bgPr>
    </p:bg>
    <p:spTree>
      <p:nvGrpSpPr>
        <p:cNvPr id="1" name=""/>
        <p:cNvGrpSpPr/>
        <p:nvPr/>
      </p:nvGrpSpPr>
      <p:grpSpPr>
        <a:xfrm xmlns:a="http://schemas.openxmlformats.org/drawingml/2006/main"/>
      </p:grpSpPr>
      <p:sp>
        <p:nvSpPr>
          <p:cNvPr id="196" name="Google Shape;196;p33">
            <a:extLst xmlns:a="http://schemas.openxmlformats.org/drawingml/2006/main">
              <a:ext uri="{FF2B5EF4-FFF2-40B4-BE49-F238E27FC236}">
                <a16:creationId xmlns:a16="http://schemas.microsoft.com/office/drawing/2014/main" id="{F58DB35C-76B8-4108-BC01-E493FD72C658}"/>
              </a:ext>
            </a:extLst>
          </p:cNvPr>
          <p:cNvSpPr>
            <a:spLocks xmlns:a="http://schemas.openxmlformats.org/drawingml/2006/main" noGrp="1"/>
          </p:cNvSpPr>
          <p:nvPr/>
        </p:nvSpPr>
        <p:spPr>
          <a:xfrm xmlns:a="http://schemas.openxmlformats.org/drawingml/2006/main">
            <a:off x="333375" y="397671"/>
            <a:ext cx="8528625" cy="67724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6324F"/>
              </a:buClr>
              <a:buSzPts val="1100"/>
              <a:buFont typeface="Arial"/>
              <a:buNone/>
            </a:pPr>
            <a:r>
              <a:rPr sz="4400" b="1">
                <a:solidFill>
                  <a:srgbClr val="16324F"/>
                </a:solidFill>
                <a:latin typeface="Arial"/>
                <a:ea typeface="Arial"/>
                <a:cs typeface="Arial"/>
              </a:rPr>
              <a:t>Plan for the Iteration</a:t>
            </a:r>
          </a:p>
        </p:txBody>
      </p:sp>
      <p:sp>
        <p:nvSpPr>
          <p:cNvPr id="197" name="Google Shape;197;p33">
            <a:extLst xmlns:a="http://schemas.openxmlformats.org/drawingml/2006/main">
              <a:ext uri="{FF2B5EF4-FFF2-40B4-BE49-F238E27FC236}">
                <a16:creationId xmlns:a16="http://schemas.microsoft.com/office/drawing/2014/main" id="{639ADFF6-2274-474E-81AF-A791E334DE87}"/>
              </a:ext>
            </a:extLst>
          </p:cNvPr>
          <p:cNvSpPr>
            <a:spLocks xmlns:a="http://schemas.openxmlformats.org/drawingml/2006/main" noGrp="1"/>
          </p:cNvSpPr>
          <p:nvPr/>
        </p:nvSpPr>
        <p:spPr>
          <a:xfrm xmlns:a="http://schemas.openxmlformats.org/drawingml/2006/main">
            <a:off x="333375" y="1132327"/>
            <a:ext cx="703901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2A9D8F"/>
              </a:buClr>
              <a:buSzPts val="1500"/>
              <a:buFont typeface="Arial"/>
              <a:buNone/>
            </a:pPr>
            <a:r>
              <a:rPr sz="1500" b="1">
                <a:solidFill>
                  <a:srgbClr val="2A9D8F"/>
                </a:solidFill>
                <a:latin typeface="Arial"/>
                <a:ea typeface="Arial"/>
                <a:cs typeface="Arial"/>
              </a:rPr>
              <a:t>Planned features, benefits, and prototype overview</a:t>
            </a:r>
          </a:p>
        </p:txBody>
      </p:sp>
      <p:sp>
        <p:nvSpPr>
          <p:cNvPr id="198" name="Google Shape;198;p33">
            <a:extLst xmlns:a="http://schemas.openxmlformats.org/drawingml/2006/main">
              <a:ext uri="{FF2B5EF4-FFF2-40B4-BE49-F238E27FC236}">
                <a16:creationId xmlns:a16="http://schemas.microsoft.com/office/drawing/2014/main" id="{BE74E4F3-DDB1-4375-BB4B-2065E419B753}"/>
              </a:ext>
            </a:extLst>
          </p:cNvPr>
          <p:cNvSpPr>
            <a:spLocks xmlns:a="http://schemas.openxmlformats.org/drawingml/2006/main" noGrp="1"/>
          </p:cNvSpPr>
          <p:nvPr/>
        </p:nvSpPr>
        <p:spPr>
          <a:xfrm xmlns:a="http://schemas.openxmlformats.org/drawingml/2006/main">
            <a:off x="523875" y="2095500"/>
            <a:ext cx="3714750" cy="2190750"/>
          </a:xfrm>
          <a:prstGeom xmlns:a="http://schemas.openxmlformats.org/drawingml/2006/main" prst="roundRect">
            <a:avLst>
              <a:gd name="adj" fmla="val 7826"/>
            </a:avLst>
          </a:prstGeom>
          <a:solidFill xmlns:a="http://schemas.openxmlformats.org/drawingml/2006/main">
            <a:srgbClr val="E7F5F2"/>
          </a:solidFill>
          <a:ln xmlns:a="http://schemas.openxmlformats.org/drawingml/2006/main" w="9525" cmpd="sng">
            <a:solidFill>
              <a:srgbClr val="C7E6E0"/>
            </a:solidFill>
            <a:prstDash val="solid"/>
            <a:headEnd type="none" w="sm" len="sm"/>
            <a:tailEnd type="none" w="sm" len="sm"/>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EPIC 01</a:t>
            </a:r>
          </a:p>
          <a:p xmlns:a="http://schemas.openxmlformats.org/drawingml/2006/main">
            <a:pPr marL="0" marR="0" lvl="0" indent="0" algn="l">
              <a:spcBef>
                <a:spcPts val="10"/>
              </a:spcBef>
              <a:spcAft>
                <a:spcPts val="0"/>
              </a:spcAft>
              <a:buNone/>
            </a:pPr>
            <a:r>
              <a:rPr sz="1900" b="1">
                <a:solidFill>
                  <a:srgbClr val="16324F"/>
                </a:solidFill>
                <a:latin typeface="Arial"/>
                <a:ea typeface="Arial"/>
                <a:cs typeface="Arial"/>
              </a:rPr>
              <a:t>HealthFirst onboarding flow</a:t>
            </a:r>
          </a:p>
          <a:p xmlns:a="http://schemas.openxmlformats.org/drawingml/2006/main">
            <a:pPr marL="0" marR="0" lvl="0" indent="0" algn="l">
              <a:spcBef>
                <a:spcPts val="12"/>
              </a:spcBef>
              <a:spcAft>
                <a:spcPts val="0"/>
              </a:spcAft>
              <a:buNone/>
            </a:pPr>
            <a:r>
              <a:rPr sz="1100">
                <a:solidFill>
                  <a:srgbClr val="475569"/>
                </a:solidFill>
                <a:latin typeface="Arial"/>
                <a:ea typeface="Arial"/>
                <a:cs typeface="Arial"/>
              </a:rPr>
              <a:t>Turn a screening report into a clear next step.</a:t>
            </a:r>
          </a:p>
          <a:p xmlns:a="http://schemas.openxmlformats.org/drawingml/2006/main">
            <a:pPr marL="0" marR="0" lvl="0" indent="0" algn="l">
              <a:spcBef>
                <a:spcPts val="22"/>
              </a:spcBef>
              <a:spcAft>
                <a:spcPts val="0"/>
              </a:spcAft>
              <a:buNone/>
            </a:pPr>
            <a:r>
              <a:rPr sz="1100" b="1">
                <a:solidFill>
                  <a:srgbClr val="16324F"/>
                </a:solidFill>
                <a:latin typeface="Arial"/>
                <a:ea typeface="Arial"/>
                <a:cs typeface="Arial"/>
              </a:rPr>
              <a:t>US1.1  As a Malaysian adult, I want to upload a report or enter known values, so that I can start with the information I have.</a:t>
            </a:r>
          </a:p>
        </p:txBody>
      </p:sp>
      <p:pic>
        <p:nvPicPr>
          <p:cNvPr id="208" name="Google Shape;199;p33"/>
          <p:cNvPicPr>
            <a:picLocks xmlns:a="http://schemas.openxmlformats.org/drawingml/2006/main" noChangeAspect="1"/>
          </p:cNvPicPr>
          <p:nvPr/>
        </p:nvPicPr>
        <p:blipFill rotWithShape="1">
          <a:blip xmlns:r="http://schemas.openxmlformats.org/officeDocument/2006/relationships" xmlns:a="http://schemas.openxmlformats.org/drawingml/2006/main" r:embed="R5f16093a79404bdf">
            <a:alphaModFix/>
          </a:blip>
          <a:srcRect xmlns:a="http://schemas.openxmlformats.org/drawingml/2006/main" l="0" t="0" r="34046" b="0"/>
          <a:stretch xmlns:a="http://schemas.openxmlformats.org/drawingml/2006/main"/>
        </p:blipFill>
        <p:spPr>
          <a:xfrm xmlns:a="http://schemas.openxmlformats.org/drawingml/2006/main">
            <a:off x="0" y="1607250"/>
            <a:ext cx="3210577" cy="259700"/>
          </a:xfrm>
          <a:prstGeom xmlns:a="http://schemas.openxmlformats.org/drawingml/2006/main" prst="rect">
            <a:avLst/>
          </a:prstGeom>
          <a:ln xmlns:a="http://schemas.openxmlformats.org/drawingml/2006/main">
            <a:noFill/>
          </a:ln>
        </p:spPr>
      </p:pic>
      <p:pic>
        <p:nvPicPr>
          <p:cNvPr id="209" name="Google Shape;200;p33"/>
          <p:cNvPicPr>
            <a:picLocks xmlns:a="http://schemas.openxmlformats.org/drawingml/2006/main" noChangeAspect="1"/>
          </p:cNvPicPr>
          <p:nvPr/>
        </p:nvPicPr>
        <p:blipFill rotWithShape="1">
          <a:blip xmlns:r="http://schemas.openxmlformats.org/officeDocument/2006/relationships" xmlns:a="http://schemas.openxmlformats.org/drawingml/2006/main" r:embed="R5f16093a79404bdf">
            <a:alphaModFix/>
          </a:blip>
          <a:srcRect xmlns:a="http://schemas.openxmlformats.org/drawingml/2006/main" l="67672" t="0" r="0" b="0"/>
          <a:stretch xmlns:a="http://schemas.openxmlformats.org/drawingml/2006/main"/>
        </p:blipFill>
        <p:spPr>
          <a:xfrm xmlns:a="http://schemas.openxmlformats.org/drawingml/2006/main">
            <a:off x="4585700" y="1497063"/>
            <a:ext cx="2857502" cy="259700"/>
          </a:xfrm>
          <a:prstGeom xmlns:a="http://schemas.openxmlformats.org/drawingml/2006/main" prst="rect">
            <a:avLst/>
          </a:prstGeom>
          <a:ln xmlns:a="http://schemas.openxmlformats.org/drawingml/2006/main">
            <a:noFill/>
          </a:ln>
        </p:spPr>
      </p:pic>
      <p:sp>
        <p:nvSpPr>
          <p:cNvPr id="201" name="Google Shape;201;p33">
            <a:extLst xmlns:a="http://schemas.openxmlformats.org/drawingml/2006/main">
              <a:ext uri="{FF2B5EF4-FFF2-40B4-BE49-F238E27FC236}">
                <a16:creationId xmlns:a16="http://schemas.microsoft.com/office/drawing/2014/main" id="{E0554E01-DEFB-44F8-B484-07811B3F3D82}"/>
              </a:ext>
            </a:extLst>
          </p:cNvPr>
          <p:cNvSpPr>
            <a:spLocks xmlns:a="http://schemas.openxmlformats.org/drawingml/2006/main" noGrp="1"/>
          </p:cNvSpPr>
          <p:nvPr/>
        </p:nvSpPr>
        <p:spPr>
          <a:xfrm xmlns:a="http://schemas.openxmlformats.org/drawingml/2006/main">
            <a:off x="4857750" y="2238375"/>
            <a:ext cx="1762125" cy="1381125"/>
          </a:xfrm>
          <a:prstGeom xmlns:a="http://schemas.openxmlformats.org/drawingml/2006/main" prst="roundRect">
            <a:avLst>
              <a:gd name="adj" fmla="val 11034"/>
            </a:avLst>
          </a:prstGeom>
          <a:solidFill xmlns:a="http://schemas.openxmlformats.org/drawingml/2006/main">
            <a:srgbClr val="FFFFFF"/>
          </a:solidFill>
          <a:ln xmlns:a="http://schemas.openxmlformats.org/drawingml/2006/main" w="9525" cmpd="sng">
            <a:solidFill>
              <a:srgbClr val="C7E6E0"/>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None/>
            </a:pPr>
            <a:r>
              <a:rPr sz="2000" b="1">
                <a:solidFill>
                  <a:srgbClr val="2A9D8F"/>
                </a:solidFill>
                <a:latin typeface="Arial"/>
                <a:ea typeface="Arial"/>
                <a:cs typeface="Arial"/>
              </a:rPr>
              <a:t>01</a:t>
            </a:r>
          </a:p>
          <a:p xmlns:a="http://schemas.openxmlformats.org/drawingml/2006/main">
            <a:pPr marL="0" marR="0" lvl="0" indent="0" algn="l">
              <a:spcBef>
                <a:spcPts val="12"/>
              </a:spcBef>
              <a:spcAft>
                <a:spcPts val="0"/>
              </a:spcAft>
              <a:buNone/>
            </a:pPr>
            <a:r>
              <a:rPr sz="1100">
                <a:solidFill>
                  <a:srgbClr val="16324F"/>
                </a:solidFill>
                <a:latin typeface="Arial"/>
                <a:ea typeface="Arial"/>
                <a:cs typeface="Arial"/>
              </a:rPr>
              <a:t>The user sees one clear path: enter values, upload a report, or get screening guidance.</a:t>
            </a:r>
          </a:p>
        </p:txBody>
      </p:sp>
      <p:sp>
        <p:nvSpPr>
          <p:cNvPr id="202" name="Google Shape;202;p33">
            <a:extLst xmlns:a="http://schemas.openxmlformats.org/drawingml/2006/main">
              <a:ext uri="{FF2B5EF4-FFF2-40B4-BE49-F238E27FC236}">
                <a16:creationId xmlns:a16="http://schemas.microsoft.com/office/drawing/2014/main" id="{8245D165-F8B4-4734-AB1D-9A165D98664C}"/>
              </a:ext>
            </a:extLst>
          </p:cNvPr>
          <p:cNvSpPr>
            <a:spLocks xmlns:a="http://schemas.openxmlformats.org/drawingml/2006/main" noGrp="1"/>
          </p:cNvSpPr>
          <p:nvPr/>
        </p:nvSpPr>
        <p:spPr>
          <a:xfrm xmlns:a="http://schemas.openxmlformats.org/drawingml/2006/main">
            <a:off x="6858000" y="2238375"/>
            <a:ext cx="1762125" cy="1381125"/>
          </a:xfrm>
          <a:prstGeom xmlns:a="http://schemas.openxmlformats.org/drawingml/2006/main" prst="roundRect">
            <a:avLst>
              <a:gd name="adj" fmla="val 11034"/>
            </a:avLst>
          </a:prstGeom>
          <a:solidFill xmlns:a="http://schemas.openxmlformats.org/drawingml/2006/main">
            <a:srgbClr val="FFFFFF"/>
          </a:solidFill>
          <a:ln xmlns:a="http://schemas.openxmlformats.org/drawingml/2006/main" w="9525" cmpd="sng">
            <a:solidFill>
              <a:srgbClr val="C7E6E0"/>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None/>
            </a:pPr>
            <a:r>
              <a:rPr sz="2000" b="1">
                <a:solidFill>
                  <a:srgbClr val="2A9D8F"/>
                </a:solidFill>
                <a:latin typeface="Arial"/>
                <a:ea typeface="Arial"/>
                <a:cs typeface="Arial"/>
              </a:rPr>
              <a:t>02</a:t>
            </a:r>
          </a:p>
          <a:p xmlns:a="http://schemas.openxmlformats.org/drawingml/2006/main">
            <a:pPr marL="0" marR="0" lvl="0" indent="0" algn="l">
              <a:spcBef>
                <a:spcPts val="12"/>
              </a:spcBef>
              <a:spcAft>
                <a:spcPts val="0"/>
              </a:spcAft>
              <a:buNone/>
            </a:pPr>
            <a:r>
              <a:rPr sz="1100">
                <a:solidFill>
                  <a:srgbClr val="16324F"/>
                </a:solidFill>
                <a:latin typeface="Arial"/>
                <a:ea typeface="Arial"/>
                <a:cs typeface="Arial"/>
              </a:rPr>
              <a:t>Confirmed fields feed comparison and plain-English guidance, with sources visible.</a:t>
            </a:r>
          </a:p>
        </p:txBody>
      </p:sp>
    </p:spTree>
    <p:extLst>
      <p:ext uri="{BB962C8B-B14F-4D97-AF65-F5344CB8AC3E}">
        <p14:creationId xmlns:p14="http://schemas.microsoft.com/office/powerpoint/2010/main" val="1137348869"/>
      </p:ext>
    </p:extLst>
  </p:cSld>
</p:sld>
</file>

<file path=ppt/slides/slide7.xml><?xml version="1.0" encoding="utf-8"?>
<p:sld xmlns:p="http://schemas.openxmlformats.org/presentationml/2006/main">
  <p:cSld>
    <p:bg>
      <p:bgPr>
        <a:solidFill xmlns:a="http://schemas.openxmlformats.org/drawingml/2006/main">
          <a:srgbClr val="FEFEFE"/>
        </a:solidFill>
      </p:bgPr>
    </p:bg>
    <p:spTree>
      <p:nvGrpSpPr>
        <p:cNvPr id="1" name=""/>
        <p:cNvGrpSpPr/>
        <p:nvPr/>
      </p:nvGrpSpPr>
      <p:grpSpPr>
        <a:xfrm xmlns:a="http://schemas.openxmlformats.org/drawingml/2006/main"/>
      </p:grpSpPr>
      <p:sp>
        <p:nvSpPr>
          <p:cNvPr id="208" name="Google Shape;208;p34">
            <a:extLst xmlns:a="http://schemas.openxmlformats.org/drawingml/2006/main">
              <a:ext uri="{FF2B5EF4-FFF2-40B4-BE49-F238E27FC236}">
                <a16:creationId xmlns:a16="http://schemas.microsoft.com/office/drawing/2014/main" id="{E563E751-313F-4F1E-AD45-89A8DC68E98D}"/>
              </a:ext>
            </a:extLst>
          </p:cNvPr>
          <p:cNvSpPr>
            <a:spLocks xmlns:a="http://schemas.openxmlformats.org/drawingml/2006/main" noGrp="1"/>
          </p:cNvSpPr>
          <p:nvPr/>
        </p:nvSpPr>
        <p:spPr>
          <a:xfrm xmlns:a="http://schemas.openxmlformats.org/drawingml/2006/main">
            <a:off x="333375" y="397671"/>
            <a:ext cx="8528625" cy="67724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6324F"/>
              </a:buClr>
              <a:buSzPts val="1100"/>
              <a:buFont typeface="Arial"/>
              <a:buNone/>
            </a:pPr>
            <a:r>
              <a:rPr sz="4400" b="1">
                <a:solidFill>
                  <a:srgbClr val="16324F"/>
                </a:solidFill>
                <a:latin typeface="Arial"/>
                <a:ea typeface="Arial"/>
                <a:cs typeface="Arial"/>
              </a:rPr>
              <a:t>Plan for the Iteration</a:t>
            </a:r>
          </a:p>
        </p:txBody>
      </p:sp>
      <p:sp>
        <p:nvSpPr>
          <p:cNvPr id="209" name="Google Shape;209;p34">
            <a:extLst xmlns:a="http://schemas.openxmlformats.org/drawingml/2006/main">
              <a:ext uri="{FF2B5EF4-FFF2-40B4-BE49-F238E27FC236}">
                <a16:creationId xmlns:a16="http://schemas.microsoft.com/office/drawing/2014/main" id="{B616D804-CA91-4A39-94A4-6B47A2E554CE}"/>
              </a:ext>
            </a:extLst>
          </p:cNvPr>
          <p:cNvSpPr>
            <a:spLocks xmlns:a="http://schemas.openxmlformats.org/drawingml/2006/main" noGrp="1"/>
          </p:cNvSpPr>
          <p:nvPr/>
        </p:nvSpPr>
        <p:spPr>
          <a:xfrm xmlns:a="http://schemas.openxmlformats.org/drawingml/2006/main">
            <a:off x="333375" y="1132327"/>
            <a:ext cx="703901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2A9D8F"/>
              </a:buClr>
              <a:buSzPts val="1500"/>
              <a:buFont typeface="Arial"/>
              <a:buNone/>
            </a:pPr>
            <a:r>
              <a:rPr sz="1500" b="1">
                <a:solidFill>
                  <a:srgbClr val="2A9D8F"/>
                </a:solidFill>
                <a:latin typeface="Arial"/>
                <a:ea typeface="Arial"/>
                <a:cs typeface="Arial"/>
              </a:rPr>
              <a:t>Planned features, benefits, and prototype overview</a:t>
            </a:r>
          </a:p>
        </p:txBody>
      </p:sp>
      <p:pic>
        <p:nvPicPr>
          <p:cNvPr id="217" name="Google Shape;210;p34"/>
          <p:cNvPicPr>
            <a:picLocks xmlns:a="http://schemas.openxmlformats.org/drawingml/2006/main" noChangeAspect="1"/>
          </p:cNvPicPr>
          <p:nvPr/>
        </p:nvPicPr>
        <p:blipFill rotWithShape="1">
          <a:blip xmlns:r="http://schemas.openxmlformats.org/officeDocument/2006/relationships" xmlns:a="http://schemas.openxmlformats.org/drawingml/2006/main" r:embed="R123a8d386c74494e">
            <a:alphaModFix/>
          </a:blip>
          <a:srcRect xmlns:a="http://schemas.openxmlformats.org/drawingml/2006/main" l="67672" t="0" r="0" b="0"/>
          <a:stretch xmlns:a="http://schemas.openxmlformats.org/drawingml/2006/main"/>
        </p:blipFill>
        <p:spPr>
          <a:xfrm xmlns:a="http://schemas.openxmlformats.org/drawingml/2006/main">
            <a:off x="0" y="1570962"/>
            <a:ext cx="2857502" cy="259700"/>
          </a:xfrm>
          <a:prstGeom xmlns:a="http://schemas.openxmlformats.org/drawingml/2006/main" prst="rect">
            <a:avLst/>
          </a:prstGeom>
          <a:ln xmlns:a="http://schemas.openxmlformats.org/drawingml/2006/main">
            <a:noFill/>
          </a:ln>
        </p:spPr>
      </p:pic>
      <p:sp>
        <p:nvSpPr>
          <p:cNvPr id="211" name="Google Shape;211;p34">
            <a:extLst xmlns:a="http://schemas.openxmlformats.org/drawingml/2006/main">
              <a:ext uri="{FF2B5EF4-FFF2-40B4-BE49-F238E27FC236}">
                <a16:creationId xmlns:a16="http://schemas.microsoft.com/office/drawing/2014/main" id="{C0FB59EF-F5B0-428B-B173-5635D2168535}"/>
              </a:ext>
            </a:extLst>
          </p:cNvPr>
          <p:cNvSpPr>
            <a:spLocks xmlns:a="http://schemas.openxmlformats.org/drawingml/2006/main" noGrp="1"/>
          </p:cNvSpPr>
          <p:nvPr/>
        </p:nvSpPr>
        <p:spPr>
          <a:xfrm xmlns:a="http://schemas.openxmlformats.org/drawingml/2006/main">
            <a:off x="1095375" y="2238375"/>
            <a:ext cx="2000250" cy="1571625"/>
          </a:xfrm>
          <a:prstGeom xmlns:a="http://schemas.openxmlformats.org/drawingml/2006/main" prst="roundRect">
            <a:avLst>
              <a:gd name="adj" fmla="val 9697"/>
            </a:avLst>
          </a:prstGeom>
          <a:solidFill xmlns:a="http://schemas.openxmlformats.org/drawingml/2006/main">
            <a:srgbClr val="FFFFFF"/>
          </a:solidFill>
          <a:ln xmlns:a="http://schemas.openxmlformats.org/drawingml/2006/main" w="9525" cmpd="sng">
            <a:solidFill>
              <a:srgbClr val="C7E6E0"/>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2A9D8F"/>
                </a:solidFill>
                <a:latin typeface="Arial"/>
                <a:ea typeface="Arial"/>
                <a:cs typeface="Arial"/>
              </a:rPr>
              <a:t>03</a:t>
            </a:r>
          </a:p>
          <a:p xmlns:a="http://schemas.openxmlformats.org/drawingml/2006/main">
            <a:pPr marL="0" marR="0" lvl="0" indent="0" algn="l">
              <a:spcBef>
                <a:spcPts val="16"/>
              </a:spcBef>
              <a:spcAft>
                <a:spcPts val="0"/>
              </a:spcAft>
              <a:buNone/>
            </a:pPr>
            <a:r>
              <a:rPr sz="1100">
                <a:solidFill>
                  <a:srgbClr val="16324F"/>
                </a:solidFill>
                <a:latin typeface="Arial"/>
                <a:ea typeface="Arial"/>
                <a:cs typeface="Arial"/>
              </a:rPr>
              <a:t>Each LeanKit card has one named owner and a visible next action.</a:t>
            </a:r>
          </a:p>
        </p:txBody>
      </p:sp>
      <p:sp>
        <p:nvSpPr>
          <p:cNvPr id="212" name="Google Shape;212;p34">
            <a:extLst xmlns:a="http://schemas.openxmlformats.org/drawingml/2006/main">
              <a:ext uri="{FF2B5EF4-FFF2-40B4-BE49-F238E27FC236}">
                <a16:creationId xmlns:a16="http://schemas.microsoft.com/office/drawing/2014/main" id="{63CFB2A5-155C-47FE-8EC2-DB22D213AC3F}"/>
              </a:ext>
            </a:extLst>
          </p:cNvPr>
          <p:cNvSpPr>
            <a:spLocks xmlns:a="http://schemas.openxmlformats.org/drawingml/2006/main" noGrp="1"/>
          </p:cNvSpPr>
          <p:nvPr/>
        </p:nvSpPr>
        <p:spPr>
          <a:xfrm xmlns:a="http://schemas.openxmlformats.org/drawingml/2006/main">
            <a:off x="3571875" y="2238375"/>
            <a:ext cx="2000250" cy="1571625"/>
          </a:xfrm>
          <a:prstGeom xmlns:a="http://schemas.openxmlformats.org/drawingml/2006/main" prst="roundRect">
            <a:avLst>
              <a:gd name="adj" fmla="val 9697"/>
            </a:avLst>
          </a:prstGeom>
          <a:solidFill xmlns:a="http://schemas.openxmlformats.org/drawingml/2006/main">
            <a:srgbClr val="FFFFFF"/>
          </a:solidFill>
          <a:ln xmlns:a="http://schemas.openxmlformats.org/drawingml/2006/main" w="9525" cmpd="sng">
            <a:solidFill>
              <a:srgbClr val="C7E6E0"/>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2A9D8F"/>
                </a:solidFill>
                <a:latin typeface="Arial"/>
                <a:ea typeface="Arial"/>
                <a:cs typeface="Arial"/>
              </a:rPr>
              <a:t>04</a:t>
            </a:r>
          </a:p>
          <a:p xmlns:a="http://schemas.openxmlformats.org/drawingml/2006/main">
            <a:pPr marL="0" marR="0" lvl="0" indent="0" algn="l">
              <a:spcBef>
                <a:spcPts val="16"/>
              </a:spcBef>
              <a:spcAft>
                <a:spcPts val="0"/>
              </a:spcAft>
              <a:buNone/>
            </a:pPr>
            <a:r>
              <a:rPr sz="1100">
                <a:solidFill>
                  <a:srgbClr val="16324F"/>
                </a:solidFill>
                <a:latin typeface="Arial"/>
                <a:ea typeface="Arial"/>
                <a:cs typeface="Arial"/>
              </a:rPr>
              <a:t>Team updates are shared daily in WhatsApp; decisions are recorded in PGP.</a:t>
            </a:r>
          </a:p>
        </p:txBody>
      </p:sp>
      <p:sp>
        <p:nvSpPr>
          <p:cNvPr id="213" name="Google Shape;213;p34">
            <a:extLst xmlns:a="http://schemas.openxmlformats.org/drawingml/2006/main">
              <a:ext uri="{FF2B5EF4-FFF2-40B4-BE49-F238E27FC236}">
                <a16:creationId xmlns:a16="http://schemas.microsoft.com/office/drawing/2014/main" id="{92E5E914-4C15-4412-915C-8CA9D6193F6F}"/>
              </a:ext>
            </a:extLst>
          </p:cNvPr>
          <p:cNvSpPr>
            <a:spLocks xmlns:a="http://schemas.openxmlformats.org/drawingml/2006/main" noGrp="1"/>
          </p:cNvSpPr>
          <p:nvPr/>
        </p:nvSpPr>
        <p:spPr>
          <a:xfrm xmlns:a="http://schemas.openxmlformats.org/drawingml/2006/main">
            <a:off x="6048375" y="2238375"/>
            <a:ext cx="2000250" cy="1571625"/>
          </a:xfrm>
          <a:prstGeom xmlns:a="http://schemas.openxmlformats.org/drawingml/2006/main" prst="roundRect">
            <a:avLst>
              <a:gd name="adj" fmla="val 9697"/>
            </a:avLst>
          </a:prstGeom>
          <a:solidFill xmlns:a="http://schemas.openxmlformats.org/drawingml/2006/main">
            <a:srgbClr val="FFFFFF"/>
          </a:solidFill>
          <a:ln xmlns:a="http://schemas.openxmlformats.org/drawingml/2006/main" w="9525" cmpd="sng">
            <a:solidFill>
              <a:srgbClr val="C7E6E0"/>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None/>
            </a:pPr>
            <a:r>
              <a:rPr sz="2200" b="1">
                <a:solidFill>
                  <a:srgbClr val="2A9D8F"/>
                </a:solidFill>
                <a:latin typeface="Arial"/>
                <a:ea typeface="Arial"/>
                <a:cs typeface="Arial"/>
              </a:rPr>
              <a:t>05</a:t>
            </a:r>
          </a:p>
          <a:p xmlns:a="http://schemas.openxmlformats.org/drawingml/2006/main">
            <a:pPr marL="0" marR="0" lvl="0" indent="0" algn="l">
              <a:spcBef>
                <a:spcPts val="16"/>
              </a:spcBef>
              <a:spcAft>
                <a:spcPts val="0"/>
              </a:spcAft>
              <a:buNone/>
            </a:pPr>
            <a:r>
              <a:rPr sz="1100">
                <a:solidFill>
                  <a:srgbClr val="16324F"/>
                </a:solidFill>
                <a:latin typeface="Arial"/>
                <a:ea typeface="Arial"/>
                <a:cs typeface="Arial"/>
              </a:rPr>
              <a:t>Agreed tasks are completed at least one day before the official deadline.</a:t>
            </a:r>
          </a:p>
        </p:txBody>
      </p:sp>
    </p:spTree>
    <p:extLst>
      <p:ext uri="{BB962C8B-B14F-4D97-AF65-F5344CB8AC3E}">
        <p14:creationId xmlns:p14="http://schemas.microsoft.com/office/powerpoint/2010/main" val="1604583747"/>
      </p:ext>
    </p:extLst>
  </p:cSld>
</p:sld>
</file>

<file path=ppt/slides/slide8.xml><?xml version="1.0" encoding="utf-8"?>
<p:sld xmlns:p="http://schemas.openxmlformats.org/presentationml/2006/main">
  <p:cSld>
    <p:bg>
      <p:bgPr>
        <a:solidFill xmlns:a="http://schemas.openxmlformats.org/drawingml/2006/main">
          <a:srgbClr val="FEFEFE"/>
        </a:solidFill>
      </p:bgPr>
    </p:bg>
    <p:spTree>
      <p:nvGrpSpPr>
        <p:cNvPr id="1" name=""/>
        <p:cNvGrpSpPr/>
        <p:nvPr/>
      </p:nvGrpSpPr>
      <p:grpSpPr>
        <a:xfrm xmlns:a="http://schemas.openxmlformats.org/drawingml/2006/main"/>
      </p:grpSpPr>
      <p:sp>
        <p:nvSpPr>
          <p:cNvPr id="219" name="Google Shape;219;p35">
            <a:extLst xmlns:a="http://schemas.openxmlformats.org/drawingml/2006/main">
              <a:ext uri="{FF2B5EF4-FFF2-40B4-BE49-F238E27FC236}">
                <a16:creationId xmlns:a16="http://schemas.microsoft.com/office/drawing/2014/main" id="{EB63483D-1E2D-460D-8B97-343DA2CADFD1}"/>
              </a:ext>
            </a:extLst>
          </p:cNvPr>
          <p:cNvSpPr>
            <a:spLocks xmlns:a="http://schemas.openxmlformats.org/drawingml/2006/main" noGrp="1"/>
          </p:cNvSpPr>
          <p:nvPr/>
        </p:nvSpPr>
        <p:spPr>
          <a:xfrm xmlns:a="http://schemas.openxmlformats.org/drawingml/2006/main">
            <a:off x="333375" y="397671"/>
            <a:ext cx="8528625" cy="67724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6324F"/>
              </a:buClr>
              <a:buSzPts val="1100"/>
              <a:buFont typeface="Arial"/>
              <a:buNone/>
            </a:pPr>
            <a:r>
              <a:rPr sz="4400" b="1">
                <a:solidFill>
                  <a:srgbClr val="16324F"/>
                </a:solidFill>
                <a:latin typeface="Arial"/>
                <a:ea typeface="Arial"/>
                <a:cs typeface="Arial"/>
              </a:rPr>
              <a:t>Plan for the Iteration</a:t>
            </a:r>
          </a:p>
        </p:txBody>
      </p:sp>
      <p:sp>
        <p:nvSpPr>
          <p:cNvPr id="220" name="Google Shape;220;p35">
            <a:extLst xmlns:a="http://schemas.openxmlformats.org/drawingml/2006/main">
              <a:ext uri="{FF2B5EF4-FFF2-40B4-BE49-F238E27FC236}">
                <a16:creationId xmlns:a16="http://schemas.microsoft.com/office/drawing/2014/main" id="{F46EF196-F762-4CDC-A1E3-99229CFE9662}"/>
              </a:ext>
            </a:extLst>
          </p:cNvPr>
          <p:cNvSpPr>
            <a:spLocks xmlns:a="http://schemas.openxmlformats.org/drawingml/2006/main" noGrp="1"/>
          </p:cNvSpPr>
          <p:nvPr/>
        </p:nvSpPr>
        <p:spPr>
          <a:xfrm xmlns:a="http://schemas.openxmlformats.org/drawingml/2006/main">
            <a:off x="333375" y="1132327"/>
            <a:ext cx="703901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2A9D8F"/>
              </a:buClr>
              <a:buSzPts val="1500"/>
              <a:buFont typeface="Arial"/>
              <a:buNone/>
            </a:pPr>
            <a:r>
              <a:rPr sz="1500" b="1">
                <a:solidFill>
                  <a:srgbClr val="2A9D8F"/>
                </a:solidFill>
                <a:latin typeface="Arial"/>
                <a:ea typeface="Arial"/>
                <a:cs typeface="Arial"/>
              </a:rPr>
              <a:t>Planned features, benefits, and prototype overview</a:t>
            </a:r>
          </a:p>
        </p:txBody>
      </p:sp>
      <p:sp>
        <p:nvSpPr>
          <p:cNvPr id="221" name="Google Shape;221;p35">
            <a:extLst xmlns:a="http://schemas.openxmlformats.org/drawingml/2006/main">
              <a:ext uri="{FF2B5EF4-FFF2-40B4-BE49-F238E27FC236}">
                <a16:creationId xmlns:a16="http://schemas.microsoft.com/office/drawing/2014/main" id="{3372325E-C360-4363-8184-30623D5ECD41}"/>
              </a:ext>
            </a:extLst>
          </p:cNvPr>
          <p:cNvSpPr>
            <a:spLocks xmlns:a="http://schemas.openxmlformats.org/drawingml/2006/main" noGrp="1"/>
          </p:cNvSpPr>
          <p:nvPr/>
        </p:nvSpPr>
        <p:spPr>
          <a:xfrm xmlns:a="http://schemas.openxmlformats.org/drawingml/2006/main">
            <a:off x="523875" y="2095500"/>
            <a:ext cx="3714750" cy="2190750"/>
          </a:xfrm>
          <a:prstGeom xmlns:a="http://schemas.openxmlformats.org/drawingml/2006/main" prst="roundRect">
            <a:avLst>
              <a:gd name="adj" fmla="val 7826"/>
            </a:avLst>
          </a:prstGeom>
          <a:solidFill xmlns:a="http://schemas.openxmlformats.org/drawingml/2006/main">
            <a:srgbClr val="E7F5F2"/>
          </a:solidFill>
          <a:ln xmlns:a="http://schemas.openxmlformats.org/drawingml/2006/main" w="9525" cmpd="sng">
            <a:solidFill>
              <a:srgbClr val="C7E6E0"/>
            </a:solidFill>
            <a:prstDash val="solid"/>
            <a:headEnd type="none" w="sm" len="sm"/>
            <a:tailEnd type="none" w="sm" len="sm"/>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EPIC 02</a:t>
            </a:r>
          </a:p>
          <a:p xmlns:a="http://schemas.openxmlformats.org/drawingml/2006/main">
            <a:pPr marL="0" marR="0" lvl="0" indent="0" algn="l">
              <a:spcBef>
                <a:spcPts val="10"/>
              </a:spcBef>
              <a:spcAft>
                <a:spcPts val="0"/>
              </a:spcAft>
              <a:buNone/>
            </a:pPr>
            <a:r>
              <a:rPr sz="1900" b="1">
                <a:solidFill>
                  <a:srgbClr val="16324F"/>
                </a:solidFill>
                <a:latin typeface="Arial"/>
                <a:ea typeface="Arial"/>
                <a:cs typeface="Arial"/>
              </a:rPr>
              <a:t>Team delivery and traceable evidence</a:t>
            </a:r>
          </a:p>
          <a:p xmlns:a="http://schemas.openxmlformats.org/drawingml/2006/main">
            <a:pPr marL="0" marR="0" lvl="0" indent="0" algn="l">
              <a:spcBef>
                <a:spcPts val="12"/>
              </a:spcBef>
              <a:spcAft>
                <a:spcPts val="0"/>
              </a:spcAft>
              <a:buNone/>
            </a:pPr>
            <a:r>
              <a:rPr sz="1100">
                <a:solidFill>
                  <a:srgbClr val="475569"/>
                </a:solidFill>
                <a:latin typeface="Arial"/>
                <a:ea typeface="Arial"/>
                <a:cs typeface="Arial"/>
              </a:rPr>
              <a:t>Keep roles, sources and decisions clear as the prototype grows.</a:t>
            </a:r>
          </a:p>
          <a:p xmlns:a="http://schemas.openxmlformats.org/drawingml/2006/main">
            <a:pPr marL="0" marR="0" lvl="0" indent="0" algn="l">
              <a:spcBef>
                <a:spcPts val="22"/>
              </a:spcBef>
              <a:spcAft>
                <a:spcPts val="0"/>
              </a:spcAft>
              <a:buNone/>
            </a:pPr>
            <a:r>
              <a:rPr sz="1100" b="1">
                <a:solidFill>
                  <a:srgbClr val="16324F"/>
                </a:solidFill>
                <a:latin typeface="Arial"/>
                <a:ea typeface="Arial"/>
                <a:cs typeface="Arial"/>
              </a:rPr>
              <a:t>US2.1  As a team member, I want shared ownership rules, so that progress and blockers are visible early.</a:t>
            </a:r>
          </a:p>
        </p:txBody>
      </p:sp>
      <p:pic>
        <p:nvPicPr>
          <p:cNvPr id="230" name="Google Shape;222;p35"/>
          <p:cNvPicPr>
            <a:picLocks xmlns:a="http://schemas.openxmlformats.org/drawingml/2006/main" noChangeAspect="1"/>
          </p:cNvPicPr>
          <p:nvPr/>
        </p:nvPicPr>
        <p:blipFill rotWithShape="1">
          <a:blip xmlns:r="http://schemas.openxmlformats.org/officeDocument/2006/relationships" xmlns:a="http://schemas.openxmlformats.org/drawingml/2006/main" r:embed="R93c89904858a4e8f">
            <a:alphaModFix/>
          </a:blip>
          <a:srcRect xmlns:a="http://schemas.openxmlformats.org/drawingml/2006/main" l="0" t="0" r="34046" b="0"/>
          <a:stretch xmlns:a="http://schemas.openxmlformats.org/drawingml/2006/main"/>
        </p:blipFill>
        <p:spPr>
          <a:xfrm xmlns:a="http://schemas.openxmlformats.org/drawingml/2006/main">
            <a:off x="0" y="1607250"/>
            <a:ext cx="3210577" cy="259700"/>
          </a:xfrm>
          <a:prstGeom xmlns:a="http://schemas.openxmlformats.org/drawingml/2006/main" prst="rect">
            <a:avLst/>
          </a:prstGeom>
          <a:ln xmlns:a="http://schemas.openxmlformats.org/drawingml/2006/main">
            <a:noFill/>
          </a:ln>
        </p:spPr>
      </p:pic>
      <p:pic>
        <p:nvPicPr>
          <p:cNvPr id="231" name="Google Shape;223;p35"/>
          <p:cNvPicPr>
            <a:picLocks xmlns:a="http://schemas.openxmlformats.org/drawingml/2006/main" noChangeAspect="1"/>
          </p:cNvPicPr>
          <p:nvPr/>
        </p:nvPicPr>
        <p:blipFill rotWithShape="1">
          <a:blip xmlns:r="http://schemas.openxmlformats.org/officeDocument/2006/relationships" xmlns:a="http://schemas.openxmlformats.org/drawingml/2006/main" r:embed="R93c89904858a4e8f">
            <a:alphaModFix/>
          </a:blip>
          <a:srcRect xmlns:a="http://schemas.openxmlformats.org/drawingml/2006/main" l="67672" t="0" r="0" b="0"/>
          <a:stretch xmlns:a="http://schemas.openxmlformats.org/drawingml/2006/main"/>
        </p:blipFill>
        <p:spPr>
          <a:xfrm xmlns:a="http://schemas.openxmlformats.org/drawingml/2006/main">
            <a:off x="4585700" y="1497063"/>
            <a:ext cx="2857502" cy="259700"/>
          </a:xfrm>
          <a:prstGeom xmlns:a="http://schemas.openxmlformats.org/drawingml/2006/main" prst="rect">
            <a:avLst/>
          </a:prstGeom>
          <a:ln xmlns:a="http://schemas.openxmlformats.org/drawingml/2006/main">
            <a:noFill/>
          </a:ln>
        </p:spPr>
      </p:pic>
      <p:sp>
        <p:nvSpPr>
          <p:cNvPr id="224" name="Google Shape;224;p35">
            <a:extLst xmlns:a="http://schemas.openxmlformats.org/drawingml/2006/main">
              <a:ext uri="{FF2B5EF4-FFF2-40B4-BE49-F238E27FC236}">
                <a16:creationId xmlns:a16="http://schemas.microsoft.com/office/drawing/2014/main" id="{FA558DBD-05C0-46C0-8991-187D795A494C}"/>
              </a:ext>
            </a:extLst>
          </p:cNvPr>
          <p:cNvSpPr>
            <a:spLocks xmlns:a="http://schemas.openxmlformats.org/drawingml/2006/main" noGrp="1"/>
          </p:cNvSpPr>
          <p:nvPr/>
        </p:nvSpPr>
        <p:spPr>
          <a:xfrm xmlns:a="http://schemas.openxmlformats.org/drawingml/2006/main">
            <a:off x="5381625" y="2095500"/>
            <a:ext cx="323850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9525" cmpd="sng">
            <a:solidFill>
              <a:srgbClr val="C7E6E0"/>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ACCEPTANCE CRITERIA</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01   Team roles and the shared goal are stated.</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02   Dataset links and decisions are traceable.</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03   Support or reallocation is agreed within 24 hours when work slips.</a:t>
            </a:r>
          </a:p>
        </p:txBody>
      </p:sp>
    </p:spTree>
    <p:extLst>
      <p:ext uri="{BB962C8B-B14F-4D97-AF65-F5344CB8AC3E}">
        <p14:creationId xmlns:p14="http://schemas.microsoft.com/office/powerpoint/2010/main" val="77654153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30" name="Google Shape;230;p36">
            <a:extLst xmlns:a="http://schemas.openxmlformats.org/drawingml/2006/main">
              <a:ext uri="{FF2B5EF4-FFF2-40B4-BE49-F238E27FC236}">
                <a16:creationId xmlns:a16="http://schemas.microsoft.com/office/drawing/2014/main" id="{1C32CC7F-EAE1-4DB3-BC19-C4B50C2C6C73}"/>
              </a:ext>
            </a:extLst>
          </p:cNvPr>
          <p:cNvSpPr>
            <a:spLocks xmlns:a="http://schemas.openxmlformats.org/drawingml/2006/main" noGrp="1"/>
          </p:cNvSpPr>
          <p:nvPr>
            <p:ph type="ctrTitle" idx="0"/>
          </p:nvPr>
        </p:nvSpPr>
        <p:spPr>
          <a:xfrm xmlns:a="http://schemas.openxmlformats.org/drawingml/2006/main">
            <a:off x="264725" y="190500"/>
            <a:ext cx="85206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fontScale="100000"/>
          </a:bodyPr>
          <a:lstStyle xmlns:a="http://schemas.openxmlformats.org/drawingml/2006/main"/>
          <a:p xmlns:a="http://schemas.openxmlformats.org/drawingml/2006/main">
            <a:pPr marL="0" lvl="0" indent="0" algn="l">
              <a:lnSpc>
                <a:spcPct val="100000"/>
              </a:lnSpc>
              <a:spcBef>
                <a:spcPts val="0"/>
              </a:spcBef>
              <a:spcAft>
                <a:spcPts val="0"/>
              </a:spcAft>
              <a:buClr>
                <a:schemeClr val="dk1"/>
              </a:buClr>
              <a:buSzPts val="1100"/>
              <a:buFont typeface="Arial"/>
              <a:buNone/>
            </a:pPr>
            <a:r>
              <a:rPr sz="1500" b="1">
                <a:solidFill>
                  <a:srgbClr val="16324F"/>
                </a:solidFill>
                <a:latin typeface="Arial"/>
                <a:ea typeface="Arial"/>
                <a:cs typeface="Arial"/>
              </a:rPr>
              <a:t>Open Data</a:t>
            </a:r>
          </a:p>
        </p:txBody>
      </p:sp>
      <p:sp>
        <p:nvSpPr>
          <p:cNvPr id="231" name="Google Shape;231;p36">
            <a:extLst xmlns:a="http://schemas.openxmlformats.org/drawingml/2006/main">
              <a:ext uri="{FF2B5EF4-FFF2-40B4-BE49-F238E27FC236}">
                <a16:creationId xmlns:a16="http://schemas.microsoft.com/office/drawing/2014/main" id="{20119745-639F-4A22-B570-A55B263EAE24}"/>
              </a:ext>
            </a:extLst>
          </p:cNvPr>
          <p:cNvSpPr>
            <a:spLocks xmlns:a="http://schemas.openxmlformats.org/drawingml/2006/main" noGrp="1"/>
          </p:cNvSpPr>
          <p:nvPr>
            <p:ph type="subTitle" idx="1"/>
          </p:nvPr>
        </p:nvSpPr>
        <p:spPr>
          <a:xfrm xmlns:a="http://schemas.openxmlformats.org/drawingml/2006/main">
            <a:off x="444650" y="1225850"/>
            <a:ext cx="3476700" cy="3827400"/>
          </a:xfrm>
          <a:prstGeom xmlns:a="http://schemas.openxmlformats.org/drawingml/2006/main" prst="roundRect">
            <a:avLst>
              <a:gd name="adj" fmla="val 5367"/>
            </a:avLst>
          </a:prstGeom>
          <a:solidFill xmlns:a="http://schemas.openxmlformats.org/drawingml/2006/main">
            <a:srgbClr val="E7F5F2"/>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22" lvl="0" indent="-22" algn="l">
              <a:lnSpc>
                <a:spcPct val="70000"/>
              </a:lnSpc>
              <a:spcBef>
                <a:spcPts val="6"/>
              </a:spcBef>
              <a:spcAft>
                <a:spcPts val="0"/>
              </a:spcAft>
              <a:buSzPts val="700"/>
              <a:buNone/>
            </a:pPr>
            <a:r>
              <a:rPr sz="800" b="1">
                <a:solidFill>
                  <a:schemeClr val="dk1"/>
                </a:solidFill>
              </a:rPr>
              <a:t>01 Cardiovascular Disease Dataset</a:t>
            </a:r>
          </a:p>
          <a:p xmlns:a="http://schemas.openxmlformats.org/drawingml/2006/main">
            <a:pPr marL="22" lvl="0" indent="-22" algn="l">
              <a:lnSpc>
                <a:spcPct val="70000"/>
              </a:lnSpc>
              <a:spcBef>
                <a:spcPts val="6"/>
              </a:spcBef>
              <a:spcAft>
                <a:spcPts val="0"/>
              </a:spcAft>
              <a:buSzPts val="700"/>
              <a:buNone/>
            </a:pPr>
            <a:r>
              <a:rPr sz="800" b="1">
                <a:solidFill>
                  <a:schemeClr val="dk1"/>
                </a:solidFill>
              </a:rPr>
              <a:t>Kaggle / 70k exam records (BP, cholesterol, glucose, BMI) – main comparison benchmark</a:t>
            </a:r>
          </a:p>
          <a:p xmlns:a="http://schemas.openxmlformats.org/drawingml/2006/main">
            <a:pPr marL="22" lvl="0" indent="-22" algn="l">
              <a:lnSpc>
                <a:spcPct val="70000"/>
              </a:lnSpc>
              <a:spcBef>
                <a:spcPts val="6"/>
              </a:spcBef>
              <a:spcAft>
                <a:spcPts val="0"/>
              </a:spcAft>
              <a:buSzPts val="700"/>
              <a:buNone/>
            </a:pPr>
            <a:r>
              <a:rPr sz="800" b="1" u="sng">
                <a:solidFill>
                  <a:schemeClr val="hlink"/>
                </a:solidFill>
                <a:hlinkClick xmlns:r="http://schemas.openxmlformats.org/officeDocument/2006/relationships" r:id="R73d681fa8af44681"/>
              </a:rPr>
              <a:t>kaggle.com/datasets/sulianova/cardiovascular-disease-dataset</a:t>
            </a:r>
          </a:p>
          <a:p xmlns:a="http://schemas.openxmlformats.org/drawingml/2006/main">
            <a:pPr marL="22" lvl="0" indent="-22" algn="l">
              <a:lnSpc>
                <a:spcPct val="70000"/>
              </a:lnSpc>
              <a:spcBef>
                <a:spcPts val="6"/>
              </a:spcBef>
              <a:spcAft>
                <a:spcPts val="0"/>
              </a:spcAft>
              <a:buSzPts val="700"/>
              <a:buNone/>
            </a:pPr>
            <a:r>
              <a:t/>
            </a:r>
          </a:p>
          <a:p xmlns:a="http://schemas.openxmlformats.org/drawingml/2006/main">
            <a:pPr marL="22" lvl="0" indent="-22" algn="l">
              <a:lnSpc>
                <a:spcPct val="70000"/>
              </a:lnSpc>
              <a:spcBef>
                <a:spcPts val="6"/>
              </a:spcBef>
              <a:spcAft>
                <a:spcPts val="0"/>
              </a:spcAft>
              <a:buSzPts val="700"/>
              <a:buNone/>
            </a:pPr>
            <a:r>
              <a:rPr sz="800" b="1">
                <a:solidFill>
                  <a:schemeClr val="dk1"/>
                </a:solidFill>
              </a:rPr>
              <a:t>02 Diabetes Prediction Dataset</a:t>
            </a:r>
          </a:p>
          <a:p xmlns:a="http://schemas.openxmlformats.org/drawingml/2006/main">
            <a:pPr marL="22" lvl="0" indent="-22" algn="l">
              <a:lnSpc>
                <a:spcPct val="70000"/>
              </a:lnSpc>
              <a:spcBef>
                <a:spcPts val="6"/>
              </a:spcBef>
              <a:spcAft>
                <a:spcPts val="0"/>
              </a:spcAft>
              <a:buSzPts val="700"/>
              <a:buNone/>
            </a:pPr>
            <a:r>
              <a:rPr sz="800" b="1">
                <a:solidFill>
                  <a:schemeClr val="dk1"/>
                </a:solidFill>
              </a:rPr>
              <a:t>Kaggle / BMI, HbA1c, glucose, hypertension – diabetes risk analysis</a:t>
            </a:r>
          </a:p>
          <a:p xmlns:a="http://schemas.openxmlformats.org/drawingml/2006/main">
            <a:pPr marL="22" lvl="0" indent="-22" algn="l">
              <a:lnSpc>
                <a:spcPct val="70000"/>
              </a:lnSpc>
              <a:spcBef>
                <a:spcPts val="6"/>
              </a:spcBef>
              <a:spcAft>
                <a:spcPts val="0"/>
              </a:spcAft>
              <a:buSzPts val="700"/>
              <a:buNone/>
            </a:pPr>
            <a:r>
              <a:rPr sz="800" b="1" u="sng">
                <a:solidFill>
                  <a:schemeClr val="hlink"/>
                </a:solidFill>
                <a:hlinkClick xmlns:r="http://schemas.openxmlformats.org/officeDocument/2006/relationships" r:id="R30abf23ae1dc4605"/>
              </a:rPr>
              <a:t>kaggle.com/datasets/iammustafatz/diabetes-prediction-dataset</a:t>
            </a:r>
          </a:p>
          <a:p xmlns:a="http://schemas.openxmlformats.org/drawingml/2006/main">
            <a:pPr marL="22" lvl="0" indent="-22" algn="l">
              <a:lnSpc>
                <a:spcPct val="70000"/>
              </a:lnSpc>
              <a:spcBef>
                <a:spcPts val="6"/>
              </a:spcBef>
              <a:spcAft>
                <a:spcPts val="0"/>
              </a:spcAft>
              <a:buSzPts val="700"/>
              <a:buNone/>
            </a:pPr>
            <a:r>
              <a:t/>
            </a:r>
          </a:p>
          <a:p xmlns:a="http://schemas.openxmlformats.org/drawingml/2006/main">
            <a:pPr marL="22" lvl="0" indent="-22" algn="l">
              <a:lnSpc>
                <a:spcPct val="70000"/>
              </a:lnSpc>
              <a:spcBef>
                <a:spcPts val="6"/>
              </a:spcBef>
              <a:spcAft>
                <a:spcPts val="0"/>
              </a:spcAft>
              <a:buSzPts val="700"/>
              <a:buNone/>
            </a:pPr>
            <a:r>
              <a:rPr sz="800" b="1">
                <a:solidFill>
                  <a:schemeClr val="dk1"/>
                </a:solidFill>
              </a:rPr>
              <a:t>03 Heart Failure Prediction</a:t>
            </a:r>
          </a:p>
          <a:p xmlns:a="http://schemas.openxmlformats.org/drawingml/2006/main">
            <a:pPr marL="22" lvl="0" indent="-22" algn="l">
              <a:lnSpc>
                <a:spcPct val="70000"/>
              </a:lnSpc>
              <a:spcBef>
                <a:spcPts val="6"/>
              </a:spcBef>
              <a:spcAft>
                <a:spcPts val="0"/>
              </a:spcAft>
              <a:buSzPts val="700"/>
              <a:buNone/>
            </a:pPr>
            <a:r>
              <a:rPr sz="800" b="1">
                <a:solidFill>
                  <a:schemeClr val="dk1"/>
                </a:solidFill>
              </a:rPr>
              <a:t>Kaggle / RestingBP, Cholesterol, FastingBS – heart disease risk scoring</a:t>
            </a:r>
          </a:p>
          <a:p xmlns:a="http://schemas.openxmlformats.org/drawingml/2006/main">
            <a:pPr marL="22" lvl="0" indent="-22" algn="l">
              <a:lnSpc>
                <a:spcPct val="70000"/>
              </a:lnSpc>
              <a:spcBef>
                <a:spcPts val="6"/>
              </a:spcBef>
              <a:spcAft>
                <a:spcPts val="0"/>
              </a:spcAft>
              <a:buSzPts val="700"/>
              <a:buNone/>
            </a:pPr>
            <a:r>
              <a:rPr sz="800" b="1" u="sng">
                <a:solidFill>
                  <a:schemeClr val="hlink"/>
                </a:solidFill>
                <a:hlinkClick xmlns:r="http://schemas.openxmlformats.org/officeDocument/2006/relationships" r:id="Rf6c11f3475f54ace"/>
              </a:rPr>
              <a:t>kaggle.com/datasets/fedesoriano/heart-failure-prediction</a:t>
            </a:r>
          </a:p>
          <a:p xmlns:a="http://schemas.openxmlformats.org/drawingml/2006/main">
            <a:pPr marL="22" lvl="0" indent="-22" algn="l">
              <a:lnSpc>
                <a:spcPct val="70000"/>
              </a:lnSpc>
              <a:spcBef>
                <a:spcPts val="6"/>
              </a:spcBef>
              <a:spcAft>
                <a:spcPts val="0"/>
              </a:spcAft>
              <a:buSzPts val="700"/>
              <a:buNone/>
            </a:pPr>
            <a:r>
              <a:t/>
            </a:r>
          </a:p>
          <a:p xmlns:a="http://schemas.openxmlformats.org/drawingml/2006/main">
            <a:pPr marL="22" lvl="0" indent="-22" algn="l">
              <a:lnSpc>
                <a:spcPct val="70000"/>
              </a:lnSpc>
              <a:spcBef>
                <a:spcPts val="6"/>
              </a:spcBef>
              <a:spcAft>
                <a:spcPts val="0"/>
              </a:spcAft>
              <a:buSzPts val="700"/>
              <a:buNone/>
            </a:pPr>
            <a:r>
              <a:t/>
            </a:r>
          </a:p>
          <a:p xmlns:a="http://schemas.openxmlformats.org/drawingml/2006/main">
            <a:pPr marL="22" lvl="0" indent="-22" algn="l">
              <a:lnSpc>
                <a:spcPct val="70000"/>
              </a:lnSpc>
              <a:spcBef>
                <a:spcPts val="6"/>
              </a:spcBef>
              <a:spcAft>
                <a:spcPts val="0"/>
              </a:spcAft>
              <a:buSzPts val="700"/>
              <a:buNone/>
            </a:pPr>
            <a:r>
              <a:rPr sz="800" b="1">
                <a:solidFill>
                  <a:schemeClr val="dk1"/>
                </a:solidFill>
              </a:rPr>
              <a:t>04 Stroke Prediction Dataset</a:t>
            </a:r>
          </a:p>
          <a:p xmlns:a="http://schemas.openxmlformats.org/drawingml/2006/main">
            <a:pPr marL="22" lvl="0" indent="-22" algn="l">
              <a:lnSpc>
                <a:spcPct val="70000"/>
              </a:lnSpc>
              <a:spcBef>
                <a:spcPts val="6"/>
              </a:spcBef>
              <a:spcAft>
                <a:spcPts val="0"/>
              </a:spcAft>
              <a:buSzPts val="700"/>
              <a:buNone/>
            </a:pPr>
            <a:r>
              <a:rPr sz="800" b="1">
                <a:solidFill>
                  <a:schemeClr val="dk1"/>
                </a:solidFill>
              </a:rPr>
              <a:t>Kaggle / Hypertension, glucose, BMI – stroke risk comparison</a:t>
            </a:r>
          </a:p>
          <a:p xmlns:a="http://schemas.openxmlformats.org/drawingml/2006/main">
            <a:pPr marL="22" lvl="0" indent="-22" algn="l">
              <a:lnSpc>
                <a:spcPct val="70000"/>
              </a:lnSpc>
              <a:spcBef>
                <a:spcPts val="6"/>
              </a:spcBef>
              <a:spcAft>
                <a:spcPts val="0"/>
              </a:spcAft>
              <a:buSzPts val="700"/>
              <a:buNone/>
            </a:pPr>
            <a:r>
              <a:rPr sz="800" b="1" u="sng">
                <a:solidFill>
                  <a:schemeClr val="hlink"/>
                </a:solidFill>
                <a:hlinkClick xmlns:r="http://schemas.openxmlformats.org/officeDocument/2006/relationships" r:id="R5fd3faf7da6b4c17"/>
              </a:rPr>
              <a:t>kaggle.com/datasets/fedesoriano/stroke-prediction-dataset</a:t>
            </a:r>
          </a:p>
          <a:p xmlns:a="http://schemas.openxmlformats.org/drawingml/2006/main">
            <a:pPr marL="22" lvl="0" indent="-22" algn="l">
              <a:lnSpc>
                <a:spcPct val="70000"/>
              </a:lnSpc>
              <a:spcBef>
                <a:spcPts val="6"/>
              </a:spcBef>
              <a:spcAft>
                <a:spcPts val="0"/>
              </a:spcAft>
              <a:buSzPts val="700"/>
              <a:buNone/>
            </a:pPr>
            <a:r>
              <a:t/>
            </a:r>
          </a:p>
          <a:p xmlns:a="http://schemas.openxmlformats.org/drawingml/2006/main">
            <a:pPr marL="22" lvl="0" indent="-22" algn="l">
              <a:lnSpc>
                <a:spcPct val="70000"/>
              </a:lnSpc>
              <a:spcBef>
                <a:spcPts val="6"/>
              </a:spcBef>
              <a:spcAft>
                <a:spcPts val="0"/>
              </a:spcAft>
              <a:buSzPts val="700"/>
              <a:buNone/>
            </a:pPr>
            <a:r>
              <a:t/>
            </a:r>
          </a:p>
          <a:p xmlns:a="http://schemas.openxmlformats.org/drawingml/2006/main">
            <a:pPr marL="22" lvl="0" indent="-22" algn="l">
              <a:lnSpc>
                <a:spcPct val="70000"/>
              </a:lnSpc>
              <a:spcBef>
                <a:spcPts val="6"/>
              </a:spcBef>
              <a:spcAft>
                <a:spcPts val="0"/>
              </a:spcAft>
              <a:buSzPts val="700"/>
              <a:buNone/>
            </a:pPr>
            <a:r>
              <a:rPr sz="800" b="1">
                <a:solidFill>
                  <a:schemeClr val="dk1"/>
                </a:solidFill>
              </a:rPr>
              <a:t>05 Causes of Death Malaysia 2025</a:t>
            </a:r>
          </a:p>
          <a:p xmlns:a="http://schemas.openxmlformats.org/drawingml/2006/main">
            <a:pPr marL="22" lvl="0" indent="-22" algn="l">
              <a:lnSpc>
                <a:spcPct val="70000"/>
              </a:lnSpc>
              <a:spcBef>
                <a:spcPts val="6"/>
              </a:spcBef>
              <a:spcAft>
                <a:spcPts val="0"/>
              </a:spcAft>
              <a:buSzPts val="700"/>
              <a:buNone/>
            </a:pPr>
            <a:r>
              <a:rPr sz="800" b="1">
                <a:solidFill>
                  <a:schemeClr val="dk1"/>
                </a:solidFill>
              </a:rPr>
              <a:t>DOSM / Official leading causes of death by sex &amp; ethnicity</a:t>
            </a:r>
          </a:p>
          <a:p xmlns:a="http://schemas.openxmlformats.org/drawingml/2006/main">
            <a:pPr marL="22" lvl="0" indent="-22" algn="l">
              <a:lnSpc>
                <a:spcPct val="70000"/>
              </a:lnSpc>
              <a:spcBef>
                <a:spcPts val="6"/>
              </a:spcBef>
              <a:spcAft>
                <a:spcPts val="0"/>
              </a:spcAft>
              <a:buSzPts val="700"/>
              <a:buNone/>
            </a:pPr>
            <a:r>
              <a:rPr sz="800" b="1" u="sng">
                <a:solidFill>
                  <a:schemeClr val="hlink"/>
                </a:solidFill>
                <a:hlinkClick xmlns:r="http://schemas.openxmlformats.org/officeDocument/2006/relationships" r:id="R16e919de7e594359"/>
              </a:rPr>
              <a:t>dosm.gov.my</a:t>
            </a:r>
          </a:p>
          <a:p xmlns:a="http://schemas.openxmlformats.org/drawingml/2006/main">
            <a:pPr marL="22" lvl="0" indent="-22" algn="l">
              <a:lnSpc>
                <a:spcPct val="70000"/>
              </a:lnSpc>
              <a:spcBef>
                <a:spcPts val="6"/>
              </a:spcBef>
              <a:spcAft>
                <a:spcPts val="0"/>
              </a:spcAft>
              <a:buSzPts val="700"/>
              <a:buNone/>
            </a:pPr>
            <a:r>
              <a:t/>
            </a:r>
          </a:p>
          <a:p xmlns:a="http://schemas.openxmlformats.org/drawingml/2006/main">
            <a:pPr marL="22" lvl="0" indent="-22" algn="l">
              <a:lnSpc>
                <a:spcPct val="70000"/>
              </a:lnSpc>
              <a:spcBef>
                <a:spcPts val="6"/>
              </a:spcBef>
              <a:spcAft>
                <a:spcPts val="0"/>
              </a:spcAft>
              <a:buSzPts val="700"/>
              <a:buNone/>
            </a:pPr>
            <a:r>
              <a:rPr sz="800" b="1">
                <a:solidFill>
                  <a:schemeClr val="dk1"/>
                </a:solidFill>
              </a:rPr>
              <a:t>06 Deaths by District &amp; Sex</a:t>
            </a:r>
          </a:p>
          <a:p xmlns:a="http://schemas.openxmlformats.org/drawingml/2006/main">
            <a:pPr marL="22" lvl="0" indent="-22" algn="l">
              <a:lnSpc>
                <a:spcPct val="70000"/>
              </a:lnSpc>
              <a:spcBef>
                <a:spcPts val="6"/>
              </a:spcBef>
              <a:spcAft>
                <a:spcPts val="0"/>
              </a:spcAft>
              <a:buSzPts val="700"/>
              <a:buNone/>
            </a:pPr>
            <a:r>
              <a:rPr sz="800" b="1">
                <a:solidFill>
                  <a:schemeClr val="dk1"/>
                </a:solidFill>
              </a:rPr>
              <a:t>OpenDOSM / District-level death counts &amp; rates</a:t>
            </a:r>
          </a:p>
          <a:p xmlns:a="http://schemas.openxmlformats.org/drawingml/2006/main">
            <a:pPr marL="22" lvl="0" indent="-22" algn="l">
              <a:lnSpc>
                <a:spcPct val="70000"/>
              </a:lnSpc>
              <a:spcBef>
                <a:spcPts val="6"/>
              </a:spcBef>
              <a:spcAft>
                <a:spcPts val="0"/>
              </a:spcAft>
              <a:buSzPts val="700"/>
              <a:buNone/>
            </a:pPr>
            <a:r>
              <a:rPr sz="800" b="1" u="sng">
                <a:solidFill>
                  <a:schemeClr val="hlink"/>
                </a:solidFill>
                <a:hlinkClick xmlns:r="http://schemas.openxmlformats.org/officeDocument/2006/relationships" r:id="R1b9fd8d3ef2f496b"/>
              </a:rPr>
              <a:t>open.dosm.gov.my/data-catalogue/deaths_district_sex</a:t>
            </a:r>
          </a:p>
          <a:p xmlns:a="http://schemas.openxmlformats.org/drawingml/2006/main">
            <a:pPr marL="0" lvl="0" indent="0" algn="l">
              <a:lnSpc>
                <a:spcPct val="70000"/>
              </a:lnSpc>
              <a:spcBef>
                <a:spcPts val="6"/>
              </a:spcBef>
              <a:spcAft>
                <a:spcPts val="0"/>
              </a:spcAft>
              <a:buSzPts val="700"/>
              <a:buNone/>
            </a:pPr>
            <a:r>
              <a:t/>
            </a:r>
          </a:p>
          <a:p xmlns:a="http://schemas.openxmlformats.org/drawingml/2006/main">
            <a:pPr marL="22" lvl="0" indent="-22" algn="l">
              <a:lnSpc>
                <a:spcPct val="70000"/>
              </a:lnSpc>
              <a:spcBef>
                <a:spcPts val="6"/>
              </a:spcBef>
              <a:spcAft>
                <a:spcPts val="0"/>
              </a:spcAft>
              <a:buSzPts val="700"/>
              <a:buNone/>
            </a:pPr>
            <a:r>
              <a:t/>
            </a:r>
          </a:p>
          <a:p xmlns:a="http://schemas.openxmlformats.org/drawingml/2006/main">
            <a:pPr marL="22" lvl="0" indent="-22" algn="l">
              <a:lnSpc>
                <a:spcPct val="70000"/>
              </a:lnSpc>
              <a:spcBef>
                <a:spcPts val="6"/>
              </a:spcBef>
              <a:spcAft>
                <a:spcPts val="0"/>
              </a:spcAft>
              <a:buSzPts val="700"/>
              <a:buNone/>
            </a:pPr>
            <a:r>
              <a:rPr sz="800" b="1">
                <a:solidFill>
                  <a:schemeClr val="dk1"/>
                </a:solidFill>
              </a:rPr>
              <a:t>07 Annual Deaths (National)</a:t>
            </a:r>
          </a:p>
          <a:p xmlns:a="http://schemas.openxmlformats.org/drawingml/2006/main">
            <a:pPr marL="22" lvl="0" indent="-22" algn="l">
              <a:lnSpc>
                <a:spcPct val="70000"/>
              </a:lnSpc>
              <a:spcBef>
                <a:spcPts val="6"/>
              </a:spcBef>
              <a:spcAft>
                <a:spcPts val="0"/>
              </a:spcAft>
              <a:buSzPts val="700"/>
              <a:buNone/>
            </a:pPr>
            <a:r>
              <a:rPr sz="800" b="1">
                <a:solidFill>
                  <a:schemeClr val="dk1"/>
                </a:solidFill>
              </a:rPr>
              <a:t>DOSM / National death totals &amp; crude rates</a:t>
            </a:r>
          </a:p>
          <a:p xmlns:a="http://schemas.openxmlformats.org/drawingml/2006/main">
            <a:pPr marL="22" lvl="0" indent="-22" algn="l">
              <a:lnSpc>
                <a:spcPct val="70000"/>
              </a:lnSpc>
              <a:spcBef>
                <a:spcPts val="6"/>
              </a:spcBef>
              <a:spcAft>
                <a:spcPts val="0"/>
              </a:spcAft>
              <a:buClr>
                <a:schemeClr val="dk1"/>
              </a:buClr>
              <a:buSzPts val="700"/>
              <a:buFont typeface="Arial"/>
              <a:buNone/>
            </a:pPr>
            <a:r>
              <a:rPr sz="800" b="1">
                <a:solidFill>
                  <a:schemeClr val="dk1"/>
                </a:solidFill>
              </a:rPr>
              <a:t>data.gov.my/data-catalogue/deaths</a:t>
            </a:r>
          </a:p>
        </p:txBody>
      </p:sp>
      <p:sp>
        <p:nvSpPr>
          <p:cNvPr id="232" name="Google Shape;232;p36">
            <a:extLst xmlns:a="http://schemas.openxmlformats.org/drawingml/2006/main">
              <a:ext uri="{FF2B5EF4-FFF2-40B4-BE49-F238E27FC236}">
                <a16:creationId xmlns:a16="http://schemas.microsoft.com/office/drawing/2014/main" id="{FD00616D-02CB-4535-A5D1-AC7BAFFB2071}"/>
              </a:ext>
            </a:extLst>
          </p:cNvPr>
          <p:cNvSpPr>
            <a:spLocks xmlns:a="http://schemas.openxmlformats.org/drawingml/2006/main" noGrp="1"/>
          </p:cNvSpPr>
          <p:nvPr/>
        </p:nvSpPr>
        <p:spPr>
          <a:xfrm xmlns:a="http://schemas.openxmlformats.org/drawingml/2006/main">
            <a:off x="4972050" y="1225850"/>
            <a:ext cx="34767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Clr>
                <a:srgbClr val="2A9D8F"/>
              </a:buClr>
              <a:buSzPts val="1500"/>
              <a:buFont typeface="Arial"/>
              <a:buNone/>
            </a:pPr>
            <a:r>
              <a:rPr sz="1500" b="1">
                <a:solidFill>
                  <a:srgbClr val="2A9D8F"/>
                </a:solidFill>
                <a:latin typeface="Arial"/>
                <a:ea typeface="Arial"/>
                <a:cs typeface="Arial"/>
              </a:rPr>
              <a:t>Database Architecture</a:t>
            </a:r>
          </a:p>
        </p:txBody>
      </p:sp>
      <p:sp>
        <p:nvSpPr>
          <p:cNvPr id="233" name="Google Shape;233;p36">
            <a:extLst xmlns:a="http://schemas.openxmlformats.org/drawingml/2006/main">
              <a:ext uri="{FF2B5EF4-FFF2-40B4-BE49-F238E27FC236}">
                <a16:creationId xmlns:a16="http://schemas.microsoft.com/office/drawing/2014/main" id="{16F8CE41-0E90-410E-98C0-EF0033597FE3}"/>
              </a:ext>
            </a:extLst>
          </p:cNvPr>
          <p:cNvSpPr>
            <a:spLocks xmlns:a="http://schemas.openxmlformats.org/drawingml/2006/main" noGrp="1"/>
          </p:cNvSpPr>
          <p:nvPr/>
        </p:nvSpPr>
        <p:spPr>
          <a:xfrm xmlns:a="http://schemas.openxmlformats.org/drawingml/2006/main">
            <a:off x="4972100" y="1568750"/>
            <a:ext cx="3476700" cy="3484500"/>
          </a:xfrm>
          <a:prstGeom xmlns:a="http://schemas.openxmlformats.org/drawingml/2006/main" prst="roundRect">
            <a:avLst>
              <a:gd name="adj" fmla="val 7500"/>
            </a:avLst>
          </a:prstGeom>
          <a:solidFill xmlns:a="http://schemas.openxmlformats.org/drawingml/2006/main">
            <a:srgbClr val="F8FBFB"/>
          </a:solidFill>
          <a:ln xmlns:a="http://schemas.openxmlformats.org/drawingml/2006/main" w="14275" cmpd="sng">
            <a:solidFill>
              <a:srgbClr val="CAD9DD"/>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USER INPUT</a:t>
            </a:r>
          </a:p>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Report upload / manual values</a:t>
            </a:r>
          </a:p>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
            </a:r>
          </a:p>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NORMALISED FIELDS</a:t>
            </a:r>
          </a:p>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Blood pressure, cholesterol, glucose, BMI</a:t>
            </a:r>
          </a:p>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
            </a:r>
          </a:p>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CONTEXT TABLES</a:t>
            </a:r>
          </a:p>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Approved Kaggle datasets + Malaysian mortality sources</a:t>
            </a:r>
          </a:p>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
            </a:r>
          </a:p>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OUTPUT</a:t>
            </a:r>
          </a:p>
          <a:p xmlns:a="http://schemas.openxmlformats.org/drawingml/2006/main">
            <a:pPr marL="0" marR="0" lvl="0" indent="0" algn="ctr">
              <a:spcBef>
                <a:spcPts val="0"/>
              </a:spcBef>
              <a:spcAft>
                <a:spcPts val="0"/>
              </a:spcAft>
              <a:buNone/>
            </a:pPr>
            <a:r>
              <a:rPr sz="975" b="0" i="1">
                <a:solidFill>
                  <a:srgbClr val="6B7C8F"/>
                </a:solidFill>
                <a:latin typeface="Arial"/>
                <a:ea typeface="Arial"/>
                <a:cs typeface="Arial"/>
              </a:rPr>
              <a:t>Risk signal -&gt; summary -&gt; action card</a:t>
            </a:r>
          </a:p>
        </p:txBody>
      </p:sp>
    </p:spTree>
    <p:extLst>
      <p:ext uri="{BB962C8B-B14F-4D97-AF65-F5344CB8AC3E}">
        <p14:creationId xmlns:p14="http://schemas.microsoft.com/office/powerpoint/2010/main" val="10104521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39" name="Google Shape;239;p37">
            <a:extLst xmlns:a="http://schemas.openxmlformats.org/drawingml/2006/main">
              <a:ext uri="{FF2B5EF4-FFF2-40B4-BE49-F238E27FC236}">
                <a16:creationId xmlns:a16="http://schemas.microsoft.com/office/drawing/2014/main" id="{07C26997-9D59-423E-BB2F-BB2D3E44D3BB}"/>
              </a:ext>
            </a:extLst>
          </p:cNvPr>
          <p:cNvSpPr>
            <a:spLocks xmlns:a="http://schemas.openxmlformats.org/drawingml/2006/main" noGrp="1"/>
          </p:cNvSpPr>
          <p:nvPr>
            <p:ph type="ctrTitle" idx="0"/>
          </p:nvPr>
        </p:nvSpPr>
        <p:spPr>
          <a:xfrm xmlns:a="http://schemas.openxmlformats.org/drawingml/2006/main">
            <a:off x="311700" y="81000"/>
            <a:ext cx="8520600" cy="69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fontScale="76033"/>
          </a:bodyPr>
          <a:lstStyle xmlns:a="http://schemas.openxmlformats.org/drawingml/2006/main"/>
          <a:p xmlns:a="http://schemas.openxmlformats.org/drawingml/2006/main">
            <a:pPr marL="0" lvl="0" indent="0" algn="l">
              <a:lnSpc>
                <a:spcPct val="100000"/>
              </a:lnSpc>
              <a:spcBef>
                <a:spcPts val="0"/>
              </a:spcBef>
              <a:spcAft>
                <a:spcPts val="0"/>
              </a:spcAft>
              <a:buSzPct val="155435"/>
              <a:buNone/>
            </a:pPr>
            <a:r>
              <a:rPr sz="4400" b="1">
                <a:solidFill>
                  <a:srgbClr val="16324F"/>
                </a:solidFill>
                <a:latin typeface="Arial"/>
                <a:ea typeface="Arial"/>
                <a:cs typeface="Arial"/>
              </a:rPr>
              <a:t>From Data To Action</a:t>
            </a:r>
          </a:p>
        </p:txBody>
      </p:sp>
      <p:sp>
        <p:nvSpPr>
          <p:cNvPr id="240" name="Google Shape;240;p37">
            <a:extLst xmlns:a="http://schemas.openxmlformats.org/drawingml/2006/main">
              <a:ext uri="{FF2B5EF4-FFF2-40B4-BE49-F238E27FC236}">
                <a16:creationId xmlns:a16="http://schemas.microsoft.com/office/drawing/2014/main" id="{0594281A-C92E-4C2B-B23B-213A0F27B9CB}"/>
              </a:ext>
            </a:extLst>
          </p:cNvPr>
          <p:cNvSpPr>
            <a:spLocks xmlns:a="http://schemas.openxmlformats.org/drawingml/2006/main" noGrp="1"/>
          </p:cNvSpPr>
          <p:nvPr>
            <p:ph type="subTitle" idx="1"/>
          </p:nvPr>
        </p:nvSpPr>
        <p:spPr>
          <a:xfrm xmlns:a="http://schemas.openxmlformats.org/drawingml/2006/main">
            <a:off x="1476375" y="1714500"/>
            <a:ext cx="2286000" cy="2714625"/>
          </a:xfrm>
          <a:prstGeom xmlns:a="http://schemas.openxmlformats.org/drawingml/2006/main" prst="roundRect">
            <a:avLst>
              <a:gd name="adj" fmla="val 7500"/>
            </a:avLst>
          </a:prstGeom>
          <a:solidFill xmlns:a="http://schemas.openxmlformats.org/drawingml/2006/main">
            <a:srgbClr val="EAF3F8"/>
          </a:solidFill>
          <a:ln xmlns:a="http://schemas.openxmlformats.org/drawingml/2006/main" w="9525" cmpd="sng">
            <a:solidFill>
              <a:srgbClr val="D8E6EF"/>
            </a:solidFill>
            <a:prstDash val="solid"/>
            <a:headEnd type="none" w="sm" len="sm"/>
            <a:tailEnd type="none" w="sm" len="sm"/>
          </a:ln>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457200" lvl="0" indent="-342900" algn="l">
              <a:lnSpc>
                <a:spcPct val="100000"/>
              </a:lnSpc>
              <a:spcBef>
                <a:spcPts val="0"/>
              </a:spcBef>
              <a:spcAft>
                <a:spcPts val="0"/>
              </a:spcAft>
              <a:buSzPts val="2800"/>
              <a:buNone/>
            </a:pPr>
            <a:r>
              <a:rPr sz="1100" b="1">
                <a:solidFill>
                  <a:srgbClr val="2A9D8F"/>
                </a:solidFill>
                <a:latin typeface="Arial"/>
                <a:ea typeface="Arial"/>
                <a:cs typeface="Arial"/>
              </a:rPr>
              <a:t>01  HINDSIGHT</a:t>
            </a:r>
          </a:p>
          <a:p xmlns:a="http://schemas.openxmlformats.org/drawingml/2006/main">
            <a:pPr marL="457200" lvl="0" indent="-342900" algn="l">
              <a:spcBef>
                <a:spcPts val="0"/>
              </a:spcBef>
              <a:spcAft>
                <a:spcPts val="0"/>
              </a:spcAft>
              <a:buClr>
                <a:schemeClr val="dk1"/>
              </a:buClr>
              <a:buSzPts val="1100"/>
              <a:buFont typeface="Arial"/>
              <a:buNone/>
            </a:pPr>
            <a:r>
              <a:rPr sz="1100" b="1">
                <a:solidFill>
                  <a:srgbClr val="16324F"/>
                </a:solidFill>
              </a:rPr>
              <a:t>Historical Malaysia mortality &amp; clinical datasets</a:t>
            </a:r>
          </a:p>
          <a:p xmlns:a="http://schemas.openxmlformats.org/drawingml/2006/main">
            <a:pPr marL="457200" lvl="0" indent="-342900" algn="l">
              <a:spcBef>
                <a:spcPts val="0"/>
              </a:spcBef>
              <a:spcAft>
                <a:spcPts val="0"/>
              </a:spcAft>
              <a:buClr>
                <a:schemeClr val="dk1"/>
              </a:buClr>
              <a:buSzPts val="1100"/>
              <a:buFont typeface="Arial"/>
              <a:buNone/>
            </a:pPr>
            <a:r>
              <a:rPr sz="1100" b="1">
                <a:solidFill>
                  <a:srgbClr val="16324F"/>
                </a:solidFill>
              </a:rPr>
              <a:t>What happened?</a:t>
            </a:r>
          </a:p>
          <a:p xmlns:a="http://schemas.openxmlformats.org/drawingml/2006/main">
            <a:pPr marL="457200" lvl="0" indent="-342900" algn="l">
              <a:spcBef>
                <a:spcPts val="0"/>
              </a:spcBef>
              <a:spcAft>
                <a:spcPts val="0"/>
              </a:spcAft>
              <a:buClr>
                <a:schemeClr val="dk1"/>
              </a:buClr>
              <a:buSzPts val="1100"/>
              <a:buFont typeface="Arial"/>
              <a:buNone/>
            </a:pPr>
            <a:r>
              <a:rPr sz="1100" b="1">
                <a:solidFill>
                  <a:srgbClr val="16324F"/>
                </a:solidFill>
              </a:rPr>
              <a:t>→ Leading causes of death (heart disease, stroke, diabetes) and past risk patterns from DOSM + Kaggle data</a:t>
            </a:r>
          </a:p>
          <a:p xmlns:a="http://schemas.openxmlformats.org/drawingml/2006/main">
            <a:pPr marL="457200" lvl="0" indent="-342900" algn="l">
              <a:spcBef>
                <a:spcPts val="0"/>
              </a:spcBef>
              <a:spcAft>
                <a:spcPts val="0"/>
              </a:spcAft>
              <a:buClr>
                <a:schemeClr val="dk1"/>
              </a:buClr>
              <a:buSzPts val="1100"/>
              <a:buFont typeface="Arial"/>
              <a:buNone/>
            </a:pPr>
            <a:r>
              <a:t/>
            </a:r>
          </a:p>
          <a:p xmlns:a="http://schemas.openxmlformats.org/drawingml/2006/main">
            <a:pPr marL="457200" lvl="0" indent="-342900" algn="l">
              <a:lnSpc>
                <a:spcPct val="100000"/>
              </a:lnSpc>
              <a:spcBef>
                <a:spcPts val="0"/>
              </a:spcBef>
              <a:spcAft>
                <a:spcPts val="0"/>
              </a:spcAft>
              <a:buSzPts val="2800"/>
              <a:buNone/>
            </a:pPr>
            <a:r>
              <a:t/>
            </a:r>
          </a:p>
        </p:txBody>
      </p:sp>
      <p:pic>
        <p:nvPicPr>
          <p:cNvPr id="252" name="Google Shape;241;p37"/>
          <p:cNvPicPr>
            <a:picLocks xmlns:a="http://schemas.openxmlformats.org/drawingml/2006/main" noChangeAspect="1"/>
          </p:cNvPicPr>
          <p:nvPr/>
        </p:nvPicPr>
        <p:blipFill rotWithShape="1">
          <a:blip xmlns:r="http://schemas.openxmlformats.org/officeDocument/2006/relationships" xmlns:a="http://schemas.openxmlformats.org/drawingml/2006/main" r:embed="Rfe990c9e57c741f5">
            <a:alphaModFix/>
          </a:blip>
          <a:srcRect xmlns:a="http://schemas.openxmlformats.org/drawingml/2006/main" l="0" t="0" r="0" b="0"/>
          <a:stretch xmlns:a="http://schemas.openxmlformats.org/drawingml/2006/main"/>
        </p:blipFill>
        <p:spPr>
          <a:xfrm xmlns:a="http://schemas.openxmlformats.org/drawingml/2006/main">
            <a:off x="1836750" y="885350"/>
            <a:ext cx="1021095" cy="692700"/>
          </a:xfrm>
          <a:prstGeom xmlns:a="http://schemas.openxmlformats.org/drawingml/2006/main" prst="rect">
            <a:avLst/>
          </a:prstGeom>
          <a:ln xmlns:a="http://schemas.openxmlformats.org/drawingml/2006/main">
            <a:noFill/>
          </a:ln>
        </p:spPr>
      </p:pic>
      <p:pic>
        <p:nvPicPr>
          <p:cNvPr id="253" name="Google Shape;242;p37"/>
          <p:cNvPicPr>
            <a:picLocks xmlns:a="http://schemas.openxmlformats.org/drawingml/2006/main" noChangeAspect="1"/>
          </p:cNvPicPr>
          <p:nvPr/>
        </p:nvPicPr>
        <p:blipFill rotWithShape="1">
          <a:blip xmlns:r="http://schemas.openxmlformats.org/officeDocument/2006/relationships" xmlns:a="http://schemas.openxmlformats.org/drawingml/2006/main" r:embed="R0061b7649cf941aa">
            <a:alphaModFix/>
          </a:blip>
          <a:srcRect xmlns:a="http://schemas.openxmlformats.org/drawingml/2006/main" l="0" t="0" r="0" b="0"/>
          <a:stretch xmlns:a="http://schemas.openxmlformats.org/drawingml/2006/main"/>
        </p:blipFill>
        <p:spPr>
          <a:xfrm xmlns:a="http://schemas.openxmlformats.org/drawingml/2006/main">
            <a:off x="4467225" y="932325"/>
            <a:ext cx="849050" cy="692700"/>
          </a:xfrm>
          <a:prstGeom xmlns:a="http://schemas.openxmlformats.org/drawingml/2006/main" prst="rect">
            <a:avLst/>
          </a:prstGeom>
          <a:ln xmlns:a="http://schemas.openxmlformats.org/drawingml/2006/main">
            <a:noFill/>
          </a:ln>
        </p:spPr>
      </p:pic>
      <p:sp>
        <p:nvSpPr>
          <p:cNvPr id="243" name="Google Shape;243;p37">
            <a:extLst xmlns:a="http://schemas.openxmlformats.org/drawingml/2006/main">
              <a:ext uri="{FF2B5EF4-FFF2-40B4-BE49-F238E27FC236}">
                <a16:creationId xmlns:a16="http://schemas.microsoft.com/office/drawing/2014/main" id="{6E855AC0-DFC7-4A89-BCCA-3484320344F8}"/>
              </a:ext>
            </a:extLst>
          </p:cNvPr>
          <p:cNvSpPr>
            <a:spLocks xmlns:a="http://schemas.openxmlformats.org/drawingml/2006/main" noGrp="1"/>
          </p:cNvSpPr>
          <p:nvPr/>
        </p:nvSpPr>
        <p:spPr>
          <a:xfrm xmlns:a="http://schemas.openxmlformats.org/drawingml/2006/main">
            <a:off x="4048125" y="1714500"/>
            <a:ext cx="2286000" cy="2714700"/>
          </a:xfrm>
          <a:prstGeom xmlns:a="http://schemas.openxmlformats.org/drawingml/2006/main" prst="roundRect">
            <a:avLst>
              <a:gd name="adj" fmla="val 7500"/>
            </a:avLst>
          </a:prstGeom>
          <a:solidFill xmlns:a="http://schemas.openxmlformats.org/drawingml/2006/main">
            <a:srgbClr val="E7F5F2"/>
          </a:solidFill>
          <a:ln xmlns:a="http://schemas.openxmlformats.org/drawingml/2006/main" w="9525" cmpd="sng">
            <a:solidFill>
              <a:srgbClr val="C7E6E0"/>
            </a:solidFill>
            <a:prstDash val="solid"/>
            <a:headEnd type="none" w="sm" len="sm"/>
            <a:tailEnd type="none" w="sm" len="sm"/>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None/>
            </a:pPr>
            <a:r>
              <a:rPr sz="1100" b="1">
                <a:solidFill>
                  <a:srgbClr val="2A9D8F"/>
                </a:solidFill>
                <a:latin typeface="Arial"/>
                <a:ea typeface="Arial"/>
                <a:cs typeface="Arial"/>
              </a:rPr>
              <a:t>02  INSIGHT</a:t>
            </a:r>
          </a:p>
          <a:p xmlns:a="http://schemas.openxmlformats.org/drawingml/2006/main">
            <a:pPr marL="0" lvl="0" indent="0" algn="l">
              <a:spcBef>
                <a:spcPts val="42"/>
              </a:spcBef>
              <a:spcAft>
                <a:spcPts val="0"/>
              </a:spcAft>
              <a:buClr>
                <a:schemeClr val="dk1"/>
              </a:buClr>
              <a:buSzPts val="1100"/>
              <a:buFont typeface="Arial"/>
              <a:buNone/>
            </a:pPr>
            <a:r>
              <a:rPr sz="1100" b="1">
                <a:solidFill>
                  <a:srgbClr val="16324F"/>
                </a:solidFill>
              </a:rPr>
              <a:t>User’s current physical examination numbers</a:t>
            </a:r>
          </a:p>
          <a:p xmlns:a="http://schemas.openxmlformats.org/drawingml/2006/main">
            <a:pPr marL="0" lvl="0" indent="0" algn="l">
              <a:spcBef>
                <a:spcPts val="42"/>
              </a:spcBef>
              <a:spcAft>
                <a:spcPts val="0"/>
              </a:spcAft>
              <a:buClr>
                <a:schemeClr val="dk1"/>
              </a:buClr>
              <a:buSzPts val="1100"/>
              <a:buFont typeface="Arial"/>
              <a:buNone/>
            </a:pPr>
            <a:r>
              <a:rPr sz="1100" b="1">
                <a:solidFill>
                  <a:srgbClr val="16324F"/>
                </a:solidFill>
              </a:rPr>
              <a:t>What is happening now?</a:t>
            </a:r>
          </a:p>
          <a:p xmlns:a="http://schemas.openxmlformats.org/drawingml/2006/main">
            <a:pPr marL="0" lvl="0" indent="0" algn="l">
              <a:spcBef>
                <a:spcPts val="42"/>
              </a:spcBef>
              <a:spcAft>
                <a:spcPts val="0"/>
              </a:spcAft>
              <a:buClr>
                <a:schemeClr val="dk1"/>
              </a:buClr>
              <a:buSzPts val="1100"/>
              <a:buFont typeface="Arial"/>
              <a:buNone/>
            </a:pPr>
            <a:r>
              <a:rPr sz="1100" b="1">
                <a:solidFill>
                  <a:srgbClr val="16324F"/>
                </a:solidFill>
              </a:rPr>
              <a:t>→ Compare user’s BP, cholesterol, glucose, BMI against population benchmarks → show current risk level</a:t>
            </a:r>
          </a:p>
          <a:p xmlns:a="http://schemas.openxmlformats.org/drawingml/2006/main">
            <a:pPr marL="0" marR="0" lvl="0" indent="0" algn="l">
              <a:spcBef>
                <a:spcPts val="42"/>
              </a:spcBef>
              <a:spcAft>
                <a:spcPts val="0"/>
              </a:spcAft>
              <a:buNone/>
            </a:pPr>
            <a:r>
              <a:t/>
            </a:r>
          </a:p>
        </p:txBody>
      </p:sp>
      <p:sp>
        <p:nvSpPr>
          <p:cNvPr id="244" name="Google Shape;244;p37">
            <a:extLst xmlns:a="http://schemas.openxmlformats.org/drawingml/2006/main">
              <a:ext uri="{FF2B5EF4-FFF2-40B4-BE49-F238E27FC236}">
                <a16:creationId xmlns:a16="http://schemas.microsoft.com/office/drawing/2014/main" id="{5847FB07-0585-4A44-8915-4694BDBD1F4A}"/>
              </a:ext>
            </a:extLst>
          </p:cNvPr>
          <p:cNvSpPr>
            <a:spLocks xmlns:a="http://schemas.openxmlformats.org/drawingml/2006/main" noGrp="1"/>
          </p:cNvSpPr>
          <p:nvPr/>
        </p:nvSpPr>
        <p:spPr>
          <a:xfrm xmlns:a="http://schemas.openxmlformats.org/drawingml/2006/main">
            <a:off x="6182375" y="1689700"/>
            <a:ext cx="30000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15000"/>
              </a:lnSpc>
              <a:spcBef>
                <a:spcPts val="0"/>
              </a:spcBef>
              <a:spcAft>
                <a:spcPts val="0"/>
              </a:spcAft>
              <a:buSzPts val="1800"/>
              <a:buFont typeface="Arial"/>
              <a:buNone/>
            </a:pPr>
            <a:r>
              <a:t/>
            </a:r>
          </a:p>
        </p:txBody>
      </p:sp>
      <p:pic>
        <p:nvPicPr>
          <p:cNvPr id="256" name="Google Shape;245;p37"/>
          <p:cNvPicPr>
            <a:picLocks xmlns:a="http://schemas.openxmlformats.org/drawingml/2006/main" noChangeAspect="1"/>
          </p:cNvPicPr>
          <p:nvPr/>
        </p:nvPicPr>
        <p:blipFill rotWithShape="1">
          <a:blip xmlns:r="http://schemas.openxmlformats.org/officeDocument/2006/relationships" xmlns:a="http://schemas.openxmlformats.org/drawingml/2006/main" r:embed="R084849dab1504384">
            <a:alphaModFix/>
          </a:blip>
          <a:srcRect xmlns:a="http://schemas.openxmlformats.org/drawingml/2006/main" l="0" t="0" r="0" b="0"/>
          <a:stretch xmlns:a="http://schemas.openxmlformats.org/drawingml/2006/main"/>
        </p:blipFill>
        <p:spPr>
          <a:xfrm xmlns:a="http://schemas.openxmlformats.org/drawingml/2006/main">
            <a:off x="7061450" y="585612"/>
            <a:ext cx="1770850" cy="992450"/>
          </a:xfrm>
          <a:prstGeom xmlns:a="http://schemas.openxmlformats.org/drawingml/2006/main" prst="rect">
            <a:avLst/>
          </a:prstGeom>
          <a:ln xmlns:a="http://schemas.openxmlformats.org/drawingml/2006/main">
            <a:noFill/>
          </a:ln>
        </p:spPr>
      </p:pic>
      <p:sp>
        <p:nvSpPr>
          <p:cNvPr id="246" name="Google Shape;246;p37">
            <a:extLst xmlns:a="http://schemas.openxmlformats.org/drawingml/2006/main">
              <a:ext uri="{FF2B5EF4-FFF2-40B4-BE49-F238E27FC236}">
                <a16:creationId xmlns:a16="http://schemas.microsoft.com/office/drawing/2014/main" id="{AA2A8C9B-00C2-4E00-B565-7D11FD13C8FE}"/>
              </a:ext>
            </a:extLst>
          </p:cNvPr>
          <p:cNvSpPr>
            <a:spLocks xmlns:a="http://schemas.openxmlformats.org/drawingml/2006/main" noGrp="1"/>
          </p:cNvSpPr>
          <p:nvPr/>
        </p:nvSpPr>
        <p:spPr>
          <a:xfrm xmlns:a="http://schemas.openxmlformats.org/drawingml/2006/main">
            <a:off x="6619875" y="1714500"/>
            <a:ext cx="2190900" cy="2714700"/>
          </a:xfrm>
          <a:prstGeom xmlns:a="http://schemas.openxmlformats.org/drawingml/2006/main" prst="roundRect">
            <a:avLst>
              <a:gd name="adj" fmla="val 7826"/>
            </a:avLst>
          </a:prstGeom>
          <a:solidFill xmlns:a="http://schemas.openxmlformats.org/drawingml/2006/main">
            <a:srgbClr val="FBECE7"/>
          </a:solidFill>
          <a:ln xmlns:a="http://schemas.openxmlformats.org/drawingml/2006/main" w="9525" cmpd="sng">
            <a:solidFill>
              <a:srgbClr val="F1D8CF"/>
            </a:solidFill>
            <a:prstDash val="solid"/>
            <a:headEnd type="none" w="sm" len="sm"/>
            <a:tailEnd type="none" w="sm" len="sm"/>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None/>
            </a:pPr>
            <a:r>
              <a:rPr sz="1100" b="1">
                <a:solidFill>
                  <a:srgbClr val="2A9D8F"/>
                </a:solidFill>
                <a:latin typeface="Arial"/>
                <a:ea typeface="Arial"/>
                <a:cs typeface="Arial"/>
              </a:rPr>
              <a:t>03  FORESIGHT</a:t>
            </a:r>
          </a:p>
          <a:p xmlns:a="http://schemas.openxmlformats.org/drawingml/2006/main">
            <a:pPr marL="0" lvl="0" indent="0" algn="l">
              <a:spcBef>
                <a:spcPts val="42"/>
              </a:spcBef>
              <a:spcAft>
                <a:spcPts val="0"/>
              </a:spcAft>
              <a:buSzPts val="1100"/>
              <a:buNone/>
            </a:pPr>
            <a:r>
              <a:rPr sz="1100" b="1">
                <a:solidFill>
                  <a:srgbClr val="16324F"/>
                </a:solidFill>
              </a:rPr>
              <a:t>Risk scores + “what-if” logic</a:t>
            </a:r>
          </a:p>
          <a:p xmlns:a="http://schemas.openxmlformats.org/drawingml/2006/main">
            <a:pPr marL="0" lvl="0" indent="0" algn="l">
              <a:spcBef>
                <a:spcPts val="42"/>
              </a:spcBef>
              <a:spcAft>
                <a:spcPts val="0"/>
              </a:spcAft>
              <a:buSzPts val="1100"/>
              <a:buNone/>
            </a:pPr>
            <a:r>
              <a:rPr sz="1100" b="1">
                <a:solidFill>
                  <a:srgbClr val="16324F"/>
                </a:solidFill>
              </a:rPr>
              <a:t>What may happen next?</a:t>
            </a:r>
          </a:p>
          <a:p xmlns:a="http://schemas.openxmlformats.org/drawingml/2006/main">
            <a:pPr marL="0" lvl="0" indent="0" algn="l">
              <a:spcBef>
                <a:spcPts val="42"/>
              </a:spcBef>
              <a:spcAft>
                <a:spcPts val="0"/>
              </a:spcAft>
              <a:buSzPts val="1100"/>
              <a:buNone/>
            </a:pPr>
            <a:r>
              <a:rPr sz="1100" b="1">
                <a:solidFill>
                  <a:srgbClr val="16324F"/>
                </a:solidFill>
              </a:rPr>
              <a:t>→ Predict future mortality risk if numbers stay high → generate personalised action plan to reduce risk</a:t>
            </a:r>
          </a:p>
          <a:p xmlns:a="http://schemas.openxmlformats.org/drawingml/2006/main">
            <a:pPr marL="0" lvl="0" indent="0" algn="l">
              <a:spcBef>
                <a:spcPts val="42"/>
              </a:spcBef>
              <a:spcAft>
                <a:spcPts val="0"/>
              </a:spcAft>
              <a:buClr>
                <a:schemeClr val="dk1"/>
              </a:buClr>
              <a:buSzPts val="1100"/>
              <a:buFont typeface="Arial"/>
              <a:buNone/>
            </a:pPr>
            <a:r>
              <a:t/>
            </a:r>
          </a:p>
          <a:p xmlns:a="http://schemas.openxmlformats.org/drawingml/2006/main">
            <a:pPr marL="0" marR="0" lvl="0" indent="0" algn="l">
              <a:spcBef>
                <a:spcPts val="42"/>
              </a:spcBef>
              <a:spcAft>
                <a:spcPts val="0"/>
              </a:spcAft>
              <a:buNone/>
            </a:pPr>
            <a:r>
              <a:t/>
            </a:r>
          </a:p>
        </p:txBody>
      </p:sp>
    </p:spTree>
    <p:extLst>
      <p:ext uri="{BB962C8B-B14F-4D97-AF65-F5344CB8AC3E}">
        <p14:creationId xmlns:p14="http://schemas.microsoft.com/office/powerpoint/2010/main" val="38884993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12" name="Google Shape;312;p42">
            <a:extLst xmlns:a="http://schemas.openxmlformats.org/drawingml/2006/main">
              <a:ext uri="{FF2B5EF4-FFF2-40B4-BE49-F238E27FC236}">
                <a16:creationId xmlns:a16="http://schemas.microsoft.com/office/drawing/2014/main" id="{A8A6E193-5EFE-4A28-BA79-50A4FE571BC1}"/>
              </a:ext>
            </a:extLst>
          </p:cNvPr>
          <p:cNvSpPr>
            <a:spLocks xmlns:a="http://schemas.openxmlformats.org/drawingml/2006/main" noGrp="1"/>
          </p:cNvSpPr>
          <p:nvPr>
            <p:ph type="ctrTitle" idx="0"/>
          </p:nvPr>
        </p:nvSpPr>
        <p:spPr>
          <a:xfrm xmlns:a="http://schemas.openxmlformats.org/drawingml/2006/main">
            <a:off x="445371" y="1140215"/>
            <a:ext cx="50637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p xmlns:a="http://schemas.openxmlformats.org/drawingml/2006/main">
            <a:pPr marL="0" lvl="0" indent="0" algn="l">
              <a:lnSpc>
                <a:spcPct val="100000"/>
              </a:lnSpc>
              <a:spcBef>
                <a:spcPts val="0"/>
              </a:spcBef>
              <a:spcAft>
                <a:spcPts val="0"/>
              </a:spcAft>
              <a:buSzPts val="5200"/>
              <a:buNone/>
            </a:pPr>
            <a:r>
              <a:rPr sz="1400" b="1">
                <a:solidFill>
                  <a:srgbClr val="2A9D8F"/>
                </a:solidFill>
                <a:latin typeface="Arial"/>
                <a:ea typeface="Arial"/>
                <a:cs typeface="Arial"/>
              </a:rPr>
              <a:t>From a Health Report to a Clear Next Step</a:t>
            </a:r>
          </a:p>
        </p:txBody>
      </p:sp>
      <p:sp>
        <p:nvSpPr>
          <p:cNvPr id="313" name="Google Shape;313;p42">
            <a:extLst xmlns:a="http://schemas.openxmlformats.org/drawingml/2006/main">
              <a:ext uri="{FF2B5EF4-FFF2-40B4-BE49-F238E27FC236}">
                <a16:creationId xmlns:a16="http://schemas.microsoft.com/office/drawing/2014/main" id="{DDC19303-D299-4ECE-A559-836E4536C5B0}"/>
              </a:ext>
            </a:extLst>
          </p:cNvPr>
          <p:cNvSpPr>
            <a:spLocks xmlns:a="http://schemas.openxmlformats.org/drawingml/2006/main" noGrp="1"/>
          </p:cNvSpPr>
          <p:nvPr/>
        </p:nvSpPr>
        <p:spPr>
          <a:xfrm xmlns:a="http://schemas.openxmlformats.org/drawingml/2006/main">
            <a:off x="5619750" y="1857375"/>
            <a:ext cx="3000375" cy="2476500"/>
          </a:xfrm>
          <a:prstGeom xmlns:a="http://schemas.openxmlformats.org/drawingml/2006/main" prst="roundRect">
            <a:avLst>
              <a:gd name="adj" fmla="val 6923"/>
            </a:avLst>
          </a:prstGeom>
          <a:solidFill xmlns:a="http://schemas.openxmlformats.org/drawingml/2006/main">
            <a:srgbClr val="FFFFFF"/>
          </a:solidFill>
          <a:ln xmlns:a="http://schemas.openxmlformats.org/drawingml/2006/main" w="9525" cmpd="sng">
            <a:solidFill>
              <a:srgbClr val="C7E6E0"/>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FOUR STAGES. ONE CLEAR RESULT.</a:t>
            </a:r>
          </a:p>
          <a:p xmlns:a="http://schemas.openxmlformats.org/drawingml/2006/main">
            <a:pPr marL="0" marR="0" lvl="0" indent="0" algn="l">
              <a:spcBef>
                <a:spcPts val="20"/>
              </a:spcBef>
              <a:spcAft>
                <a:spcPts val="0"/>
              </a:spcAft>
              <a:buNone/>
            </a:pPr>
            <a:r>
              <a:rPr sz="1100" b="1">
                <a:solidFill>
                  <a:srgbClr val="16324F"/>
                </a:solidFill>
                <a:latin typeface="Arial"/>
                <a:ea typeface="Arial"/>
                <a:cs typeface="Arial"/>
              </a:rPr>
              <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01  CAPTURE</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Upload a report or enter known values.</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02  CONFIRM</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Review the OCR fields.</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03  COMPARE</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Use confirmed values with selected datasets and Malaysian context.</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04  EXPLAIN</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Give plain-English guidance.</a:t>
            </a:r>
          </a:p>
        </p:txBody>
      </p:sp>
      <p:sp>
        <p:nvSpPr>
          <p:cNvPr id="314" name="Google Shape;314;p42">
            <a:extLst xmlns:a="http://schemas.openxmlformats.org/drawingml/2006/main">
              <a:ext uri="{FF2B5EF4-FFF2-40B4-BE49-F238E27FC236}">
                <a16:creationId xmlns:a16="http://schemas.microsoft.com/office/drawing/2014/main" id="{DF9CC346-6EE4-4C42-955C-FCF1AB5E1C65}"/>
              </a:ext>
            </a:extLst>
          </p:cNvPr>
          <p:cNvSpPr>
            <a:spLocks xmlns:a="http://schemas.openxmlformats.org/drawingml/2006/main" noGrp="1"/>
          </p:cNvSpPr>
          <p:nvPr/>
        </p:nvSpPr>
        <p:spPr>
          <a:xfrm xmlns:a="http://schemas.openxmlformats.org/drawingml/2006/main">
            <a:off x="333375" y="397674"/>
            <a:ext cx="8528700" cy="6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dk1"/>
              </a:buClr>
              <a:buSzPts val="1100"/>
              <a:buFont typeface="Arial"/>
              <a:buNone/>
            </a:pPr>
            <a:r>
              <a:rPr sz="4400" b="1">
                <a:solidFill>
                  <a:srgbClr val="16324F"/>
                </a:solidFill>
                <a:latin typeface="Arial"/>
                <a:ea typeface="Arial"/>
                <a:cs typeface="Arial"/>
              </a:rPr>
              <a:t>AI WORKFLOW</a:t>
            </a:r>
          </a:p>
        </p:txBody>
      </p:sp>
      <p:sp>
        <p:nvSpPr>
          <p:cNvPr id="315" name="Google Shape;315;p42">
            <a:extLst xmlns:a="http://schemas.openxmlformats.org/drawingml/2006/main">
              <a:ext uri="{FF2B5EF4-FFF2-40B4-BE49-F238E27FC236}">
                <a16:creationId xmlns:a16="http://schemas.microsoft.com/office/drawing/2014/main" id="{9DD504AD-9C16-4E94-9797-578B22CE8014}"/>
              </a:ext>
            </a:extLst>
          </p:cNvPr>
          <p:cNvSpPr>
            <a:spLocks xmlns:a="http://schemas.openxmlformats.org/drawingml/2006/main" noGrp="1"/>
          </p:cNvSpPr>
          <p:nvPr/>
        </p:nvSpPr>
        <p:spPr>
          <a:xfrm xmlns:a="http://schemas.openxmlformats.org/drawingml/2006/main">
            <a:off x="523875" y="1809750"/>
            <a:ext cx="4619625" cy="2619375"/>
          </a:xfrm>
          <a:prstGeom xmlns:a="http://schemas.openxmlformats.org/drawingml/2006/main" prst="roundRect">
            <a:avLst>
              <a:gd name="adj" fmla="val 6545"/>
            </a:avLst>
          </a:prstGeom>
          <a:solidFill xmlns:a="http://schemas.openxmlformats.org/drawingml/2006/main">
            <a:srgbClr val="E7F5F2"/>
          </a:solidFill>
          <a:ln xmlns:a="http://schemas.openxmlformats.org/drawingml/2006/main" w="14275" cmpd="sng">
            <a:solidFill>
              <a:srgbClr val="C7E6E0"/>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050" b="1" i="1">
                <a:solidFill>
                  <a:srgbClr val="2A9D8F"/>
                </a:solidFill>
                <a:latin typeface="Arial"/>
                <a:ea typeface="Arial"/>
                <a:cs typeface="Arial"/>
              </a:rPr>
              <a:t/>
            </a:r>
          </a:p>
        </p:txBody>
      </p:sp>
      <p:pic>
        <p:nvPicPr>
          <p:cNvPr id="321" name=""/>
          <p:cNvPicPr>
            <a:picLocks xmlns:a="http://schemas.openxmlformats.org/drawingml/2006/main" noChangeAspect="1"/>
          </p:cNvPicPr>
          <p:nvPr/>
        </p:nvPicPr>
        <p:blipFill>
          <a:blip xmlns:r="http://schemas.openxmlformats.org/officeDocument/2006/relationships" xmlns:a="http://schemas.openxmlformats.org/drawingml/2006/main" r:embed="Rf514b3010b874468"/>
          <a:srcRect xmlns:a="http://schemas.openxmlformats.org/drawingml/2006/main" l="371" t="0" r="371" b="0"/>
          <a:stretch xmlns:a="http://schemas.openxmlformats.org/drawingml/2006/main">
            <a:fillRect l="0" t="0" r="0" b="0"/>
          </a:stretch>
        </p:blipFill>
        <p:spPr>
          <a:xfrm xmlns:a="http://schemas.openxmlformats.org/drawingml/2006/main">
            <a:off x="523875" y="1809750"/>
            <a:ext cx="4619625" cy="2619375"/>
          </a:xfrm>
          <a:prstGeom xmlns:a="http://schemas.openxmlformats.org/drawingml/2006/main" prst="roundRect">
            <a:avLst>
              <a:gd name="adj" fmla="val 3636"/>
            </a:avLst>
          </a:prstGeom>
        </p:spPr>
      </p:pic>
    </p:spTree>
    <p:extLst>
      <p:ext uri="{BB962C8B-B14F-4D97-AF65-F5344CB8AC3E}">
        <p14:creationId xmlns:p14="http://schemas.microsoft.com/office/powerpoint/2010/main" val="20555232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02" name="Google Shape;302;p41">
            <a:extLst xmlns:a="http://schemas.openxmlformats.org/drawingml/2006/main">
              <a:ext uri="{FF2B5EF4-FFF2-40B4-BE49-F238E27FC236}">
                <a16:creationId xmlns:a16="http://schemas.microsoft.com/office/drawing/2014/main" id="{0F54B9C8-C427-42BE-8271-7D6BA5B7355F}"/>
              </a:ext>
            </a:extLst>
          </p:cNvPr>
          <p:cNvSpPr>
            <a:spLocks xmlns:a="http://schemas.openxmlformats.org/drawingml/2006/main" noGrp="1"/>
          </p:cNvSpPr>
          <p:nvPr>
            <p:ph type="ctrTitle" idx="0"/>
          </p:nvPr>
        </p:nvSpPr>
        <p:spPr>
          <a:xfrm xmlns:a="http://schemas.openxmlformats.org/drawingml/2006/main">
            <a:off x="445371" y="1146826"/>
            <a:ext cx="50637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p xmlns:a="http://schemas.openxmlformats.org/drawingml/2006/main">
            <a:pPr marL="0" lvl="0" indent="0" algn="l">
              <a:lnSpc>
                <a:spcPct val="100000"/>
              </a:lnSpc>
              <a:spcBef>
                <a:spcPts val="0"/>
              </a:spcBef>
              <a:spcAft>
                <a:spcPts val="0"/>
              </a:spcAft>
              <a:buSzPts val="5200"/>
              <a:buNone/>
            </a:pPr>
            <a:r>
              <a:rPr sz="1400" b="1">
                <a:solidFill>
                  <a:srgbClr val="2A9D8F"/>
                </a:solidFill>
                <a:latin typeface="Arial"/>
                <a:ea typeface="Arial"/>
                <a:cs typeface="Arial"/>
              </a:rPr>
              <a:t>What HealthFirst Gives Back to the User</a:t>
            </a:r>
          </a:p>
        </p:txBody>
      </p:sp>
      <p:sp>
        <p:nvSpPr>
          <p:cNvPr id="303" name="Google Shape;303;p41">
            <a:extLst xmlns:a="http://schemas.openxmlformats.org/drawingml/2006/main">
              <a:ext uri="{FF2B5EF4-FFF2-40B4-BE49-F238E27FC236}">
                <a16:creationId xmlns:a16="http://schemas.microsoft.com/office/drawing/2014/main" id="{56535495-9A85-4C03-9C5C-0E78BA8DF78A}"/>
              </a:ext>
            </a:extLst>
          </p:cNvPr>
          <p:cNvSpPr>
            <a:spLocks xmlns:a="http://schemas.openxmlformats.org/drawingml/2006/main" noGrp="1"/>
          </p:cNvSpPr>
          <p:nvPr/>
        </p:nvSpPr>
        <p:spPr>
          <a:xfrm xmlns:a="http://schemas.openxmlformats.org/drawingml/2006/main">
            <a:off x="333375" y="397674"/>
            <a:ext cx="8528700" cy="6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dk1"/>
              </a:buClr>
              <a:buSzPts val="1100"/>
              <a:buFont typeface="Arial"/>
              <a:buNone/>
            </a:pPr>
            <a:r>
              <a:rPr sz="4400" b="1">
                <a:solidFill>
                  <a:srgbClr val="16324F"/>
                </a:solidFill>
                <a:latin typeface="Arial"/>
                <a:ea typeface="Arial"/>
                <a:cs typeface="Arial"/>
              </a:rPr>
              <a:t>AI OUTPUTS</a:t>
            </a:r>
          </a:p>
        </p:txBody>
      </p:sp>
      <p:sp>
        <p:nvSpPr>
          <p:cNvPr id="304" name="Google Shape;304;p41">
            <a:extLst xmlns:a="http://schemas.openxmlformats.org/drawingml/2006/main">
              <a:ext uri="{FF2B5EF4-FFF2-40B4-BE49-F238E27FC236}">
                <a16:creationId xmlns:a16="http://schemas.microsoft.com/office/drawing/2014/main" id="{EBD1E79D-72CF-4202-BD6B-B64F3332FB29}"/>
              </a:ext>
            </a:extLst>
          </p:cNvPr>
          <p:cNvSpPr>
            <a:spLocks xmlns:a="http://schemas.openxmlformats.org/drawingml/2006/main" noGrp="1"/>
          </p:cNvSpPr>
          <p:nvPr/>
        </p:nvSpPr>
        <p:spPr>
          <a:xfrm xmlns:a="http://schemas.openxmlformats.org/drawingml/2006/main">
            <a:off x="523875" y="1809750"/>
            <a:ext cx="2381250" cy="2571750"/>
          </a:xfrm>
          <a:prstGeom xmlns:a="http://schemas.openxmlformats.org/drawingml/2006/main" prst="roundRect">
            <a:avLst>
              <a:gd name="adj" fmla="val 7200"/>
            </a:avLst>
          </a:prstGeom>
          <a:solidFill xmlns:a="http://schemas.openxmlformats.org/drawingml/2006/main">
            <a:srgbClr val="EAF3F8"/>
          </a:solidFill>
          <a:ln xmlns:a="http://schemas.openxmlformats.org/drawingml/2006/main" w="9525" cmpd="sng">
            <a:solidFill>
              <a:srgbClr val="D8E6EF"/>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01  RISK SIGNAL</a:t>
            </a:r>
          </a:p>
          <a:p xmlns:a="http://schemas.openxmlformats.org/drawingml/2006/main">
            <a:pPr marL="0" marR="0" lvl="0" indent="0" algn="l">
              <a:spcBef>
                <a:spcPts val="26"/>
              </a:spcBef>
              <a:spcAft>
                <a:spcPts val="0"/>
              </a:spcAft>
              <a:buNone/>
            </a:pPr>
            <a:r>
              <a:rPr sz="1100" i="1">
                <a:solidFill>
                  <a:srgbClr val="6B7C8F"/>
                </a:solidFill>
                <a:latin typeface="Arial"/>
                <a:ea typeface="Arial"/>
                <a:cs typeface="Arial"/>
              </a:rPr>
              <a:t>A visual cue highlights confirmed values that may deserve attention.</a:t>
            </a:r>
          </a:p>
          <a:p xmlns:a="http://schemas.openxmlformats.org/drawingml/2006/main">
            <a:pPr marL="0" marR="0" lvl="0" indent="0" algn="l">
              <a:spcBef>
                <a:spcPts val="32"/>
              </a:spcBef>
              <a:spcAft>
                <a:spcPts val="0"/>
              </a:spcAft>
              <a:buNone/>
            </a:pPr>
            <a:r>
              <a:rPr sz="1100" b="1">
                <a:solidFill>
                  <a:srgbClr val="16324F"/>
                </a:solidFill>
                <a:latin typeface="Arial"/>
                <a:ea typeface="Arial"/>
                <a:cs typeface="Arial"/>
              </a:rPr>
              <a:t/>
            </a:r>
          </a:p>
          <a:p xmlns:a="http://schemas.openxmlformats.org/drawingml/2006/main">
            <a:pPr marL="0" marR="0" lvl="0" indent="0" algn="l">
              <a:spcBef>
                <a:spcPts val="12"/>
              </a:spcBef>
              <a:spcAft>
                <a:spcPts val="0"/>
              </a:spcAft>
              <a:buNone/>
            </a:pPr>
            <a:r>
              <a:rPr sz="1050">
                <a:solidFill>
                  <a:srgbClr val="475569"/>
                </a:solidFill>
                <a:latin typeface="Arial"/>
                <a:ea typeface="Arial"/>
                <a:cs typeface="Arial"/>
              </a:rPr>
              <a:t>Comparison context stays visible.</a:t>
            </a:r>
          </a:p>
        </p:txBody>
      </p:sp>
      <p:sp>
        <p:nvSpPr>
          <p:cNvPr id="305" name="Google Shape;305;p41">
            <a:extLst xmlns:a="http://schemas.openxmlformats.org/drawingml/2006/main">
              <a:ext uri="{FF2B5EF4-FFF2-40B4-BE49-F238E27FC236}">
                <a16:creationId xmlns:a16="http://schemas.microsoft.com/office/drawing/2014/main" id="{0A6309DE-DEA3-4DC6-B318-16F3283826D7}"/>
              </a:ext>
            </a:extLst>
          </p:cNvPr>
          <p:cNvSpPr>
            <a:spLocks xmlns:a="http://schemas.openxmlformats.org/drawingml/2006/main" noGrp="1"/>
          </p:cNvSpPr>
          <p:nvPr/>
        </p:nvSpPr>
        <p:spPr>
          <a:xfrm xmlns:a="http://schemas.openxmlformats.org/drawingml/2006/main">
            <a:off x="3381375" y="1809750"/>
            <a:ext cx="2381250" cy="2571750"/>
          </a:xfrm>
          <a:prstGeom xmlns:a="http://schemas.openxmlformats.org/drawingml/2006/main" prst="roundRect">
            <a:avLst>
              <a:gd name="adj" fmla="val 7200"/>
            </a:avLst>
          </a:prstGeom>
          <a:solidFill xmlns:a="http://schemas.openxmlformats.org/drawingml/2006/main">
            <a:srgbClr val="E7F5F2"/>
          </a:solidFill>
          <a:ln xmlns:a="http://schemas.openxmlformats.org/drawingml/2006/main" w="9525" cmpd="sng">
            <a:solidFill>
              <a:srgbClr val="C7E6E0"/>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02  PLAIN-ENGLISH SUMMARY</a:t>
            </a:r>
          </a:p>
          <a:p xmlns:a="http://schemas.openxmlformats.org/drawingml/2006/main">
            <a:pPr marL="0" marR="0" lvl="0" indent="0" algn="l">
              <a:spcBef>
                <a:spcPts val="26"/>
              </a:spcBef>
              <a:spcAft>
                <a:spcPts val="0"/>
              </a:spcAft>
              <a:buNone/>
            </a:pPr>
            <a:r>
              <a:rPr sz="1100" i="1">
                <a:solidFill>
                  <a:srgbClr val="6B7C8F"/>
                </a:solidFill>
                <a:latin typeface="Arial"/>
                <a:ea typeface="Arial"/>
                <a:cs typeface="Arial"/>
              </a:rPr>
              <a:t>A short explanation shows what was compared and what remains uncertain.</a:t>
            </a:r>
          </a:p>
          <a:p xmlns:a="http://schemas.openxmlformats.org/drawingml/2006/main">
            <a:pPr marL="0" marR="0" lvl="0" indent="0" algn="l">
              <a:spcBef>
                <a:spcPts val="32"/>
              </a:spcBef>
              <a:spcAft>
                <a:spcPts val="0"/>
              </a:spcAft>
              <a:buNone/>
            </a:pPr>
            <a:r>
              <a:rPr sz="1100" b="1">
                <a:solidFill>
                  <a:srgbClr val="16324F"/>
                </a:solidFill>
                <a:latin typeface="Arial"/>
                <a:ea typeface="Arial"/>
                <a:cs typeface="Arial"/>
              </a:rPr>
              <a:t/>
            </a:r>
          </a:p>
          <a:p xmlns:a="http://schemas.openxmlformats.org/drawingml/2006/main">
            <a:pPr marL="0" marR="0" lvl="0" indent="0" algn="l">
              <a:spcBef>
                <a:spcPts val="12"/>
              </a:spcBef>
              <a:spcAft>
                <a:spcPts val="0"/>
              </a:spcAft>
              <a:buNone/>
            </a:pPr>
            <a:r>
              <a:rPr sz="1050">
                <a:solidFill>
                  <a:srgbClr val="475569"/>
                </a:solidFill>
                <a:latin typeface="Arial"/>
                <a:ea typeface="Arial"/>
                <a:cs typeface="Arial"/>
              </a:rPr>
              <a:t>Sources stay traceable.</a:t>
            </a:r>
          </a:p>
        </p:txBody>
      </p:sp>
      <p:sp>
        <p:nvSpPr>
          <p:cNvPr id="306" name="Google Shape;306;p41">
            <a:extLst xmlns:a="http://schemas.openxmlformats.org/drawingml/2006/main">
              <a:ext uri="{FF2B5EF4-FFF2-40B4-BE49-F238E27FC236}">
                <a16:creationId xmlns:a16="http://schemas.microsoft.com/office/drawing/2014/main" id="{0A42F54A-CB08-4D2A-9869-BA21BBC1B593}"/>
              </a:ext>
            </a:extLst>
          </p:cNvPr>
          <p:cNvSpPr>
            <a:spLocks xmlns:a="http://schemas.openxmlformats.org/drawingml/2006/main" noGrp="1"/>
          </p:cNvSpPr>
          <p:nvPr/>
        </p:nvSpPr>
        <p:spPr>
          <a:xfrm xmlns:a="http://schemas.openxmlformats.org/drawingml/2006/main">
            <a:off x="6238875" y="1809750"/>
            <a:ext cx="2381250" cy="2571750"/>
          </a:xfrm>
          <a:prstGeom xmlns:a="http://schemas.openxmlformats.org/drawingml/2006/main" prst="roundRect">
            <a:avLst>
              <a:gd name="adj" fmla="val 7200"/>
            </a:avLst>
          </a:prstGeom>
          <a:solidFill xmlns:a="http://schemas.openxmlformats.org/drawingml/2006/main">
            <a:srgbClr val="FFF3D6"/>
          </a:solidFill>
          <a:ln xmlns:a="http://schemas.openxmlformats.org/drawingml/2006/main" w="9525" cmpd="sng">
            <a:solidFill>
              <a:srgbClr val="F0E2B8"/>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03  ACTION CARD</a:t>
            </a:r>
          </a:p>
          <a:p xmlns:a="http://schemas.openxmlformats.org/drawingml/2006/main">
            <a:pPr marL="0" marR="0" lvl="0" indent="0" algn="l">
              <a:spcBef>
                <a:spcPts val="26"/>
              </a:spcBef>
              <a:spcAft>
                <a:spcPts val="0"/>
              </a:spcAft>
              <a:buNone/>
            </a:pPr>
            <a:r>
              <a:rPr sz="1100" i="1">
                <a:solidFill>
                  <a:srgbClr val="6B7C8F"/>
                </a:solidFill>
                <a:latin typeface="Arial"/>
                <a:ea typeface="Arial"/>
                <a:cs typeface="Arial"/>
              </a:rPr>
              <a:t>One practical next step, with professional advice when appropriate.</a:t>
            </a:r>
          </a:p>
          <a:p xmlns:a="http://schemas.openxmlformats.org/drawingml/2006/main">
            <a:pPr marL="0" marR="0" lvl="0" indent="0" algn="l">
              <a:spcBef>
                <a:spcPts val="32"/>
              </a:spcBef>
              <a:spcAft>
                <a:spcPts val="0"/>
              </a:spcAft>
              <a:buNone/>
            </a:pPr>
            <a:r>
              <a:rPr sz="1100" b="1">
                <a:solidFill>
                  <a:srgbClr val="16324F"/>
                </a:solidFill>
                <a:latin typeface="Arial"/>
                <a:ea typeface="Arial"/>
                <a:cs typeface="Arial"/>
              </a:rPr>
              <a:t/>
            </a:r>
          </a:p>
          <a:p xmlns:a="http://schemas.openxmlformats.org/drawingml/2006/main">
            <a:pPr marL="0" marR="0" lvl="0" indent="0" algn="l">
              <a:spcBef>
                <a:spcPts val="12"/>
              </a:spcBef>
              <a:spcAft>
                <a:spcPts val="0"/>
              </a:spcAft>
              <a:buNone/>
            </a:pPr>
            <a:r>
              <a:rPr sz="1050">
                <a:solidFill>
                  <a:srgbClr val="475569"/>
                </a:solidFill>
                <a:latin typeface="Arial"/>
                <a:ea typeface="Arial"/>
                <a:cs typeface="Arial"/>
              </a:rPr>
              <a:t>No diagnosis. No invented thresholds.</a:t>
            </a:r>
          </a:p>
          <a:p xmlns:a="http://schemas.openxmlformats.org/drawingml/2006/main">
            <a:pPr marL="0" marR="0" lvl="0" indent="0" algn="l">
              <a:spcBef>
                <a:spcPts val="12"/>
              </a:spcBef>
              <a:spcAft>
                <a:spcPts val="0"/>
              </a:spcAft>
              <a:buNone/>
            </a:pPr>
            <a:r>
              <a:rPr sz="1050">
                <a:solidFill>
                  <a:srgbClr val="475569"/>
                </a:solidFill>
                <a:latin typeface="Arial"/>
                <a:ea typeface="Arial"/>
                <a:cs typeface="Arial"/>
              </a:rPr>
              <a:t/>
            </a:r>
          </a:p>
          <a:p xmlns:a="http://schemas.openxmlformats.org/drawingml/2006/main">
            <a:pPr marL="0" marR="0" lvl="0" indent="0" algn="l">
              <a:spcBef>
                <a:spcPts val="12"/>
              </a:spcBef>
              <a:spcAft>
                <a:spcPts val="0"/>
              </a:spcAft>
              <a:buNone/>
            </a:pPr>
            <a:r>
              <a:rPr sz="1050">
                <a:solidFill>
                  <a:srgbClr val="475569"/>
                </a:solidFill>
                <a:latin typeface="Arial"/>
                <a:ea typeface="Arial"/>
                <a:cs typeface="Arial"/>
              </a:rPr>
              <a:t>Guidance uses confirmed inputs; sources and limits stay visible.</a:t>
            </a:r>
          </a:p>
        </p:txBody>
      </p:sp>
    </p:spTree>
    <p:extLst>
      <p:ext uri="{BB962C8B-B14F-4D97-AF65-F5344CB8AC3E}">
        <p14:creationId xmlns:p14="http://schemas.microsoft.com/office/powerpoint/2010/main" val="513770016"/>
      </p:ext>
    </p:extLst>
  </p:cSld>
</p:sld>
</file>

<file path=ppt/slides/slide13.xml><?xml version="1.0" encoding="utf-8"?>
<p:sld xmlns:p="http://schemas.openxmlformats.org/presentationml/2006/main">
  <p:cSld>
    <p:bg>
      <p:bgPr>
        <a:solidFill xmlns:a="http://schemas.openxmlformats.org/drawingml/2006/main">
          <a:srgbClr val="FEFEFE"/>
        </a:solidFill>
      </p:bgPr>
    </p:bg>
    <p:spTree>
      <p:nvGrpSpPr>
        <p:cNvPr id="1" name=""/>
        <p:cNvGrpSpPr/>
        <p:nvPr/>
      </p:nvGrpSpPr>
      <p:grpSpPr>
        <a:xfrm xmlns:a="http://schemas.openxmlformats.org/drawingml/2006/main"/>
      </p:grpSpPr>
      <p:sp>
        <p:nvSpPr>
          <p:cNvPr id="252" name="Google Shape;252;p38">
            <a:extLst xmlns:a="http://schemas.openxmlformats.org/drawingml/2006/main">
              <a:ext uri="{FF2B5EF4-FFF2-40B4-BE49-F238E27FC236}">
                <a16:creationId xmlns:a16="http://schemas.microsoft.com/office/drawing/2014/main" id="{D7DF8BA3-3036-45C8-9FE7-13F9081D57FB}"/>
              </a:ext>
            </a:extLst>
          </p:cNvPr>
          <p:cNvSpPr>
            <a:spLocks xmlns:a="http://schemas.openxmlformats.org/drawingml/2006/main" noGrp="1"/>
          </p:cNvSpPr>
          <p:nvPr/>
        </p:nvSpPr>
        <p:spPr>
          <a:xfrm xmlns:a="http://schemas.openxmlformats.org/drawingml/2006/main">
            <a:off x="333375" y="397671"/>
            <a:ext cx="8528625" cy="67724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dk1"/>
              </a:buClr>
              <a:buSzPts val="1100"/>
              <a:buFont typeface="Arial"/>
              <a:buNone/>
            </a:pPr>
            <a:r>
              <a:rPr sz="3300" b="1">
                <a:solidFill>
                  <a:srgbClr val="16324F"/>
                </a:solidFill>
                <a:latin typeface="Arial"/>
                <a:ea typeface="Arial"/>
                <a:cs typeface="Arial"/>
              </a:rPr>
              <a:t>Code Quality &amp; System Diagram</a:t>
            </a:r>
          </a:p>
        </p:txBody>
      </p:sp>
      <p:sp>
        <p:nvSpPr>
          <p:cNvPr id="253" name="Google Shape;253;p38">
            <a:extLst xmlns:a="http://schemas.openxmlformats.org/drawingml/2006/main">
              <a:ext uri="{FF2B5EF4-FFF2-40B4-BE49-F238E27FC236}">
                <a16:creationId xmlns:a16="http://schemas.microsoft.com/office/drawing/2014/main" id="{0787329A-CAED-4C61-8DC4-25985271F026}"/>
              </a:ext>
            </a:extLst>
          </p:cNvPr>
          <p:cNvSpPr>
            <a:spLocks xmlns:a="http://schemas.openxmlformats.org/drawingml/2006/main" noGrp="1"/>
          </p:cNvSpPr>
          <p:nvPr/>
        </p:nvSpPr>
        <p:spPr>
          <a:xfrm xmlns:a="http://schemas.openxmlformats.org/drawingml/2006/main">
            <a:off x="333375" y="1132327"/>
            <a:ext cx="703901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2A9D8F"/>
              </a:buClr>
              <a:buSzPts val="1500"/>
              <a:buFont typeface="Arial"/>
              <a:buNone/>
            </a:pPr>
            <a:r>
              <a:rPr sz="1500" b="1">
                <a:solidFill>
                  <a:srgbClr val="2A9D8F"/>
                </a:solidFill>
                <a:latin typeface="Arial"/>
                <a:ea typeface="Arial"/>
                <a:cs typeface="Arial"/>
              </a:rPr>
              <a:t>System architecture and code quality approach</a:t>
            </a:r>
          </a:p>
        </p:txBody>
      </p:sp>
      <p:sp>
        <p:nvSpPr>
          <p:cNvPr id="254" name="Google Shape;254;p38">
            <a:extLst xmlns:a="http://schemas.openxmlformats.org/drawingml/2006/main">
              <a:ext uri="{FF2B5EF4-FFF2-40B4-BE49-F238E27FC236}">
                <a16:creationId xmlns:a16="http://schemas.microsoft.com/office/drawing/2014/main" id="{4438D3F2-3867-4922-8778-3F4E3A86D5EC}"/>
              </a:ext>
            </a:extLst>
          </p:cNvPr>
          <p:cNvSpPr>
            <a:spLocks xmlns:a="http://schemas.openxmlformats.org/drawingml/2006/main" noGrp="1"/>
          </p:cNvSpPr>
          <p:nvPr/>
        </p:nvSpPr>
        <p:spPr>
          <a:xfrm xmlns:a="http://schemas.openxmlformats.org/drawingml/2006/main">
            <a:off x="523875" y="1762125"/>
            <a:ext cx="4953000" cy="2714625"/>
          </a:xfrm>
          <a:prstGeom xmlns:a="http://schemas.openxmlformats.org/drawingml/2006/main" prst="roundRect">
            <a:avLst>
              <a:gd name="adj" fmla="val 6316"/>
            </a:avLst>
          </a:prstGeom>
          <a:solidFill xmlns:a="http://schemas.openxmlformats.org/drawingml/2006/main">
            <a:srgbClr val="F8FBFB"/>
          </a:solidFill>
          <a:ln xmlns:a="http://schemas.openxmlformats.org/drawingml/2006/main" w="14275" cmpd="sng">
            <a:solidFill>
              <a:srgbClr val="CAD9D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15000"/>
              </a:lnSpc>
              <a:spcBef>
                <a:spcPts val="0"/>
              </a:spcBef>
              <a:spcAft>
                <a:spcPts val="0"/>
              </a:spcAft>
              <a:buClr>
                <a:srgbClr val="6B7C8F"/>
              </a:buClr>
              <a:buSzPts val="1200"/>
              <a:buFont typeface="Arial"/>
              <a:buNone/>
            </a:pPr>
            <a:r>
              <a:rPr sz="1200" b="0">
                <a:solidFill>
                  <a:srgbClr val="6B7C8F"/>
                </a:solidFill>
                <a:latin typeface="Arial"/>
                <a:ea typeface="Arial"/>
                <a:cs typeface="Arial"/>
              </a:rPr>
              <a:t>[Insert your high-level system diagram here]</a:t>
            </a:r>
          </a:p>
        </p:txBody>
      </p:sp>
      <p:sp>
        <p:nvSpPr>
          <p:cNvPr id="255" name="Google Shape;255;p38">
            <a:extLst xmlns:a="http://schemas.openxmlformats.org/drawingml/2006/main">
              <a:ext uri="{FF2B5EF4-FFF2-40B4-BE49-F238E27FC236}">
                <a16:creationId xmlns:a16="http://schemas.microsoft.com/office/drawing/2014/main" id="{D905E341-0855-418E-9D61-C8A26880126B}"/>
              </a:ext>
            </a:extLst>
          </p:cNvPr>
          <p:cNvSpPr>
            <a:spLocks xmlns:a="http://schemas.openxmlformats.org/drawingml/2006/main" noGrp="1"/>
          </p:cNvSpPr>
          <p:nvPr/>
        </p:nvSpPr>
        <p:spPr>
          <a:xfrm xmlns:a="http://schemas.openxmlformats.org/drawingml/2006/main">
            <a:off x="5905500" y="1952625"/>
            <a:ext cx="2714625" cy="2333625"/>
          </a:xfrm>
          <a:prstGeom xmlns:a="http://schemas.openxmlformats.org/drawingml/2006/main" prst="roundRect">
            <a:avLst>
              <a:gd name="adj" fmla="val 7347"/>
            </a:avLst>
          </a:prstGeom>
          <a:solidFill xmlns:a="http://schemas.openxmlformats.org/drawingml/2006/main">
            <a:srgbClr val="E7F5F2"/>
          </a:solidFill>
          <a:ln xmlns:a="http://schemas.openxmlformats.org/drawingml/2006/main" w="9525" cmpd="sng">
            <a:solidFill>
              <a:srgbClr val="C7E6E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QUALITY CHECKLIST</a:t>
            </a:r>
          </a:p>
          <a:p xmlns:a="http://schemas.openxmlformats.org/drawingml/2006/main">
            <a:pPr marL="0" marR="0" lvl="0" indent="0" algn="l">
              <a:spcBef>
                <a:spcPts val="20"/>
              </a:spcBef>
              <a:spcAft>
                <a:spcPts val="0"/>
              </a:spcAft>
              <a:buNone/>
            </a:pPr>
            <a:r>
              <a:rPr sz="1100">
                <a:solidFill>
                  <a:srgbClr val="16324F"/>
                </a:solidFill>
                <a:latin typeface="Arial"/>
                <a:ea typeface="Arial"/>
                <a:cs typeface="Arial"/>
              </a:rPr>
              <a:t>01   [Main system flow]</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02   [Code quality practice]</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03   [Testing approach]</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04   [Version control / review process]</a:t>
            </a:r>
          </a:p>
        </p:txBody>
      </p:sp>
    </p:spTree>
    <p:extLst>
      <p:ext uri="{BB962C8B-B14F-4D97-AF65-F5344CB8AC3E}">
        <p14:creationId xmlns:p14="http://schemas.microsoft.com/office/powerpoint/2010/main" val="51631933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68" name="Google Shape;261;p39"/>
          <p:cNvGraphicFramePr/>
          <p:nvPr/>
        </p:nvGraphicFramePr>
        <p:xfrm>
          <a:off xmlns:a="http://schemas.openxmlformats.org/drawingml/2006/main" x="2352193" y="1558256"/>
          <a:ext xmlns:a="http://schemas.openxmlformats.org/drawingml/2006/main" cx="3000000" cy="3000000"/>
        </p:xfrm>
        <a:graphic xmlns:a="http://schemas.openxmlformats.org/drawingml/2006/main">
          <a:graphicData uri="http://schemas.openxmlformats.org/drawingml/2006/table">
            <a:tbl>
              <a:tblPr>
                <a:tableStyleId>{D028F1B8-63C7-492C-981C-25FE4FEC3208}</a:tableStyleId>
              </a:tblPr>
              <a:tblGrid>
                <a:gridCol w="1386550"/>
                <a:gridCol w="1386550"/>
                <a:gridCol w="1386550"/>
              </a:tblGrid>
              <a:tr h="805125">
                <a:tc>
                  <a:txBody>
                    <a:bodyPr/>
                    <a:lstStyle/>
                    <a:p>
                      <a:pPr marL="0" marR="0" lvl="0" indent="0" algn="l">
                        <a:lnSpc>
                          <a:spcPct val="100000"/>
                        </a:lnSpc>
                        <a:spcBef>
                          <a:spcPts val="0"/>
                        </a:spcBef>
                        <a:spcAft>
                          <a:spcPts val="0"/>
                        </a:spcAft>
                        <a:buClr>
                          <a:srgbClr val="000000"/>
                        </a:buClr>
                        <a:buSzPts val="1400"/>
                        <a:buFont typeface="Arial"/>
                        <a:buNone/>
                      </a:pPr>
                      <a:r>
                        <a:t/>
                      </a:r>
                    </a:p>
                  </a:txBody>
                  <a:tcPr marL="91425" marR="91425" marT="91425" marB="91425" anchor="ctr">
                    <a:lnL w="9525" cmpd="sng">
                      <a:solidFill>
                        <a:srgbClr val="222222"/>
                      </a:solidFill>
                      <a:prstDash val="solid"/>
                    </a:lnL>
                    <a:lnR w="9525" cmpd="sng">
                      <a:solidFill>
                        <a:srgbClr val="222222"/>
                      </a:solidFill>
                      <a:prstDash val="solid"/>
                    </a:lnR>
                    <a:lnT w="9525" cmpd="sng">
                      <a:solidFill>
                        <a:srgbClr val="222222"/>
                      </a:solidFill>
                      <a:prstDash val="solid"/>
                    </a:lnT>
                    <a:lnB w="9525" cmpd="sng">
                      <a:solidFill>
                        <a:srgbClr val="222222"/>
                      </a:solidFill>
                      <a:prstDash val="solid"/>
                    </a:lnB>
                    <a:solidFill>
                      <a:srgbClr val="FFF3D6"/>
                    </a:solidFill>
                  </a:tcPr>
                </a:tc>
                <a:tc>
                  <a:txBody>
                    <a:bodyPr/>
                    <a:lstStyle/>
                    <a:p>
                      <a:pPr marL="0" marR="0" lvl="0" indent="0" algn="l">
                        <a:lnSpc>
                          <a:spcPct val="100000"/>
                        </a:lnSpc>
                        <a:spcBef>
                          <a:spcPts val="0"/>
                        </a:spcBef>
                        <a:spcAft>
                          <a:spcPts val="0"/>
                        </a:spcAft>
                        <a:buClr>
                          <a:srgbClr val="000000"/>
                        </a:buClr>
                        <a:buSzPts val="1013"/>
                        <a:buFont typeface="Arial"/>
                        <a:buNone/>
                      </a:pPr>
                      <a:r>
                        <a:rPr sz="1013" u="none" cap="none">
                          <a:solidFill>
                            <a:srgbClr val="16324F"/>
                          </a:solidFill>
                          <a:latin typeface="Arial"/>
                          <a:ea typeface="Arial"/>
                          <a:cs typeface="Arial"/>
                        </a:rPr>
                        <a:t>[Risk 1]</a:t>
                      </a:r>
                    </a:p>
                  </a:txBody>
                  <a:tcPr marL="91425" marR="91425" marT="91425" marB="91425" anchor="ctr">
                    <a:lnL w="9525" cmpd="sng">
                      <a:solidFill>
                        <a:srgbClr val="222222"/>
                      </a:solidFill>
                      <a:prstDash val="solid"/>
                    </a:lnL>
                    <a:lnR w="9525" cmpd="sng">
                      <a:solidFill>
                        <a:srgbClr val="222222"/>
                      </a:solidFill>
                      <a:prstDash val="solid"/>
                    </a:lnR>
                    <a:lnT w="9525" cmpd="sng">
                      <a:solidFill>
                        <a:srgbClr val="222222"/>
                      </a:solidFill>
                      <a:prstDash val="solid"/>
                    </a:lnT>
                    <a:lnB w="9525" cmpd="sng">
                      <a:solidFill>
                        <a:srgbClr val="222222"/>
                      </a:solidFill>
                      <a:prstDash val="solid"/>
                    </a:lnB>
                    <a:solidFill>
                      <a:srgbClr val="FBECE7"/>
                    </a:solidFill>
                  </a:tcPr>
                </a:tc>
                <a:tc>
                  <a:txBody>
                    <a:bodyPr/>
                    <a:lstStyle/>
                    <a:p>
                      <a:pPr marL="0" marR="0" lvl="0" indent="0" algn="l">
                        <a:lnSpc>
                          <a:spcPct val="100000"/>
                        </a:lnSpc>
                        <a:spcBef>
                          <a:spcPts val="0"/>
                        </a:spcBef>
                        <a:spcAft>
                          <a:spcPts val="0"/>
                        </a:spcAft>
                        <a:buClr>
                          <a:srgbClr val="000000"/>
                        </a:buClr>
                        <a:buSzPts val="1013"/>
                        <a:buFont typeface="Arial"/>
                        <a:buNone/>
                      </a:pPr>
                      <a:r>
                        <a:rPr sz="1013" u="none" cap="none">
                          <a:solidFill>
                            <a:srgbClr val="16324F"/>
                          </a:solidFill>
                          <a:latin typeface="Arial"/>
                          <a:ea typeface="Arial"/>
                          <a:cs typeface="Arial"/>
                        </a:rPr>
                        <a:t>[Risk 2]</a:t>
                      </a:r>
                    </a:p>
                  </a:txBody>
                  <a:tcPr marL="91425" marR="91425" marT="91425" marB="91425" anchor="ctr">
                    <a:lnL w="9525" cmpd="sng">
                      <a:solidFill>
                        <a:srgbClr val="222222"/>
                      </a:solidFill>
                      <a:prstDash val="solid"/>
                    </a:lnL>
                    <a:lnR w="9525" cmpd="sng">
                      <a:solidFill>
                        <a:srgbClr val="222222"/>
                      </a:solidFill>
                      <a:prstDash val="solid"/>
                    </a:lnR>
                    <a:lnT w="9525" cmpd="sng">
                      <a:solidFill>
                        <a:srgbClr val="222222"/>
                      </a:solidFill>
                      <a:prstDash val="solid"/>
                    </a:lnT>
                    <a:lnB w="9525" cmpd="sng">
                      <a:solidFill>
                        <a:srgbClr val="222222"/>
                      </a:solidFill>
                      <a:prstDash val="solid"/>
                    </a:lnB>
                    <a:solidFill>
                      <a:srgbClr val="FBECE7"/>
                    </a:solidFill>
                  </a:tcPr>
                </a:tc>
              </a:tr>
              <a:tr h="805125">
                <a:tc>
                  <a:txBody>
                    <a:bodyPr/>
                    <a:lstStyle/>
                    <a:p>
                      <a:pPr marL="0" marR="0" lvl="0" indent="0" algn="l">
                        <a:lnSpc>
                          <a:spcPct val="100000"/>
                        </a:lnSpc>
                        <a:spcBef>
                          <a:spcPts val="0"/>
                        </a:spcBef>
                        <a:spcAft>
                          <a:spcPts val="0"/>
                        </a:spcAft>
                        <a:buClr>
                          <a:schemeClr val="dk1"/>
                        </a:buClr>
                        <a:buSzPts val="1100"/>
                        <a:buFont typeface="Arial"/>
                        <a:buNone/>
                      </a:pPr>
                      <a:r>
                        <a:rPr sz="1013" u="none" cap="none">
                          <a:solidFill>
                            <a:srgbClr val="16324F"/>
                          </a:solidFill>
                          <a:latin typeface="Arial"/>
                          <a:ea typeface="Arial"/>
                          <a:cs typeface="Arial"/>
                        </a:rPr>
                        <a:t>[Risk 3]</a:t>
                      </a:r>
                    </a:p>
                  </a:txBody>
                  <a:tcPr marL="91425" marR="91425" marT="91425" marB="91425" anchor="ctr">
                    <a:lnL w="9525" cmpd="sng">
                      <a:solidFill>
                        <a:srgbClr val="222222"/>
                      </a:solidFill>
                      <a:prstDash val="solid"/>
                    </a:lnL>
                    <a:lnR w="9525" cmpd="sng">
                      <a:solidFill>
                        <a:srgbClr val="222222"/>
                      </a:solidFill>
                      <a:prstDash val="solid"/>
                    </a:lnR>
                    <a:lnT w="9525" cmpd="sng">
                      <a:solidFill>
                        <a:srgbClr val="222222"/>
                      </a:solidFill>
                      <a:prstDash val="solid"/>
                    </a:lnT>
                    <a:lnB w="9525" cmpd="sng">
                      <a:solidFill>
                        <a:srgbClr val="222222"/>
                      </a:solidFill>
                      <a:prstDash val="solid"/>
                    </a:lnB>
                    <a:solidFill>
                      <a:srgbClr val="E7F5F2"/>
                    </a:solidFill>
                  </a:tcPr>
                </a:tc>
                <a:tc>
                  <a:txBody>
                    <a:bodyPr/>
                    <a:lstStyle/>
                    <a:p>
                      <a:pPr marL="0" marR="0" lvl="0" indent="0" algn="l">
                        <a:lnSpc>
                          <a:spcPct val="100000"/>
                        </a:lnSpc>
                        <a:spcBef>
                          <a:spcPts val="0"/>
                        </a:spcBef>
                        <a:spcAft>
                          <a:spcPts val="0"/>
                        </a:spcAft>
                        <a:buClr>
                          <a:srgbClr val="000000"/>
                        </a:buClr>
                        <a:buSzPts val="1013"/>
                        <a:buFont typeface="Arial"/>
                        <a:buNone/>
                      </a:pPr>
                      <a:r>
                        <a:rPr sz="1013" u="none" cap="none">
                          <a:solidFill>
                            <a:srgbClr val="16324F"/>
                          </a:solidFill>
                          <a:latin typeface="Arial"/>
                          <a:ea typeface="Arial"/>
                          <a:cs typeface="Arial"/>
                        </a:rPr>
                        <a:t>[Risk 4]</a:t>
                      </a:r>
                    </a:p>
                  </a:txBody>
                  <a:tcPr marL="91425" marR="91425" marT="91425" marB="91425" anchor="ctr">
                    <a:lnL w="9525" cmpd="sng">
                      <a:solidFill>
                        <a:srgbClr val="222222"/>
                      </a:solidFill>
                      <a:prstDash val="solid"/>
                    </a:lnL>
                    <a:lnR w="9525" cmpd="sng">
                      <a:solidFill>
                        <a:srgbClr val="222222"/>
                      </a:solidFill>
                      <a:prstDash val="solid"/>
                    </a:lnR>
                    <a:lnT w="9525" cmpd="sng">
                      <a:solidFill>
                        <a:srgbClr val="222222"/>
                      </a:solidFill>
                      <a:prstDash val="solid"/>
                    </a:lnT>
                    <a:lnB w="9525" cmpd="sng">
                      <a:solidFill>
                        <a:srgbClr val="222222"/>
                      </a:solidFill>
                      <a:prstDash val="solid"/>
                    </a:lnB>
                    <a:solidFill>
                      <a:srgbClr val="FFF3D6"/>
                    </a:solidFill>
                  </a:tcPr>
                </a:tc>
                <a:tc>
                  <a:txBody>
                    <a:bodyPr/>
                    <a:lstStyle/>
                    <a:p>
                      <a:pPr marL="0" marR="0" lvl="0" indent="0" algn="l">
                        <a:lnSpc>
                          <a:spcPct val="115000"/>
                        </a:lnSpc>
                        <a:spcBef>
                          <a:spcPts val="0"/>
                        </a:spcBef>
                        <a:spcAft>
                          <a:spcPts val="0"/>
                        </a:spcAft>
                        <a:buClr>
                          <a:srgbClr val="000000"/>
                        </a:buClr>
                        <a:buSzPts val="1013"/>
                        <a:buFont typeface="Arial"/>
                        <a:buNone/>
                      </a:pPr>
                      <a:r>
                        <a:rPr sz="1013" u="none" cap="none">
                          <a:solidFill>
                            <a:srgbClr val="16324F"/>
                          </a:solidFill>
                          <a:latin typeface="Arial"/>
                          <a:ea typeface="Arial"/>
                          <a:cs typeface="Arial"/>
                        </a:rPr>
                        <a:t>[Risk 5]</a:t>
                      </a:r>
                    </a:p>
                  </a:txBody>
                  <a:tcPr marL="91425" marR="91425" marT="91425" marB="91425" anchor="ctr">
                    <a:lnL w="9525" cmpd="sng">
                      <a:solidFill>
                        <a:srgbClr val="222222"/>
                      </a:solidFill>
                      <a:prstDash val="solid"/>
                    </a:lnL>
                    <a:lnR w="9525" cmpd="sng">
                      <a:solidFill>
                        <a:srgbClr val="222222"/>
                      </a:solidFill>
                      <a:prstDash val="solid"/>
                    </a:lnR>
                    <a:lnT w="9525" cmpd="sng">
                      <a:solidFill>
                        <a:srgbClr val="222222"/>
                      </a:solidFill>
                      <a:prstDash val="solid"/>
                    </a:lnT>
                    <a:lnB w="9525" cmpd="sng">
                      <a:solidFill>
                        <a:srgbClr val="222222"/>
                      </a:solidFill>
                      <a:prstDash val="solid"/>
                    </a:lnB>
                    <a:solidFill>
                      <a:srgbClr val="FBECE7"/>
                    </a:solidFill>
                  </a:tcPr>
                </a:tc>
              </a:tr>
              <a:tr h="1548450">
                <a:tc>
                  <a:txBody>
                    <a:bodyPr/>
                    <a:lstStyle/>
                    <a:p>
                      <a:pPr marL="0" marR="0" lvl="0" indent="0" algn="l">
                        <a:lnSpc>
                          <a:spcPct val="100000"/>
                        </a:lnSpc>
                        <a:spcBef>
                          <a:spcPts val="0"/>
                        </a:spcBef>
                        <a:spcAft>
                          <a:spcPts val="0"/>
                        </a:spcAft>
                        <a:buClr>
                          <a:srgbClr val="000000"/>
                        </a:buClr>
                        <a:buSzPts val="1013"/>
                        <a:buFont typeface="Arial"/>
                        <a:buNone/>
                      </a:pPr>
                      <a:r>
                        <a:rPr sz="1013" u="none" cap="none">
                          <a:solidFill>
                            <a:srgbClr val="16324F"/>
                          </a:solidFill>
                          <a:latin typeface="Arial"/>
                          <a:ea typeface="Arial"/>
                          <a:cs typeface="Arial"/>
                        </a:rPr>
                        <a:t>[Risk 6]</a:t>
                      </a:r>
                    </a:p>
                  </a:txBody>
                  <a:tcPr marL="91425" marR="91425" marT="91425" marB="91425" anchor="ctr">
                    <a:lnL w="9525" cmpd="sng">
                      <a:solidFill>
                        <a:srgbClr val="222222"/>
                      </a:solidFill>
                      <a:prstDash val="solid"/>
                    </a:lnL>
                    <a:lnR w="9525" cmpd="sng">
                      <a:solidFill>
                        <a:srgbClr val="222222"/>
                      </a:solidFill>
                      <a:prstDash val="solid"/>
                    </a:lnR>
                    <a:lnT w="9525" cmpd="sng">
                      <a:solidFill>
                        <a:srgbClr val="222222"/>
                      </a:solidFill>
                      <a:prstDash val="solid"/>
                    </a:lnT>
                    <a:lnB w="9525" cmpd="sng">
                      <a:solidFill>
                        <a:srgbClr val="222222"/>
                      </a:solidFill>
                      <a:prstDash val="solid"/>
                    </a:lnB>
                    <a:solidFill>
                      <a:srgbClr val="E7F5F2"/>
                    </a:solidFill>
                  </a:tcPr>
                </a:tc>
                <a:tc>
                  <a:txBody>
                    <a:bodyPr/>
                    <a:lstStyle/>
                    <a:p>
                      <a:pPr marL="0" marR="0" lvl="0" indent="0" algn="l">
                        <a:lnSpc>
                          <a:spcPct val="100000"/>
                        </a:lnSpc>
                        <a:spcBef>
                          <a:spcPts val="0"/>
                        </a:spcBef>
                        <a:spcAft>
                          <a:spcPts val="0"/>
                        </a:spcAft>
                        <a:buClr>
                          <a:srgbClr val="000000"/>
                        </a:buClr>
                        <a:buSzPts val="1013"/>
                        <a:buFont typeface="Arial"/>
                        <a:buNone/>
                      </a:pPr>
                      <a:r>
                        <a:rPr sz="1013" u="none" cap="none">
                          <a:solidFill>
                            <a:srgbClr val="16324F"/>
                          </a:solidFill>
                          <a:latin typeface="Arial"/>
                          <a:ea typeface="Arial"/>
                          <a:cs typeface="Arial"/>
                        </a:rPr>
                        <a:t>[Risk 7]</a:t>
                      </a:r>
                    </a:p>
                  </a:txBody>
                  <a:tcPr marL="91425" marR="91425" marT="91425" marB="91425" anchor="ctr">
                    <a:lnL w="9525" cmpd="sng">
                      <a:solidFill>
                        <a:srgbClr val="222222"/>
                      </a:solidFill>
                      <a:prstDash val="solid"/>
                    </a:lnL>
                    <a:lnR w="9525" cmpd="sng">
                      <a:solidFill>
                        <a:srgbClr val="222222"/>
                      </a:solidFill>
                      <a:prstDash val="solid"/>
                    </a:lnR>
                    <a:lnT w="9525" cmpd="sng">
                      <a:solidFill>
                        <a:srgbClr val="222222"/>
                      </a:solidFill>
                      <a:prstDash val="solid"/>
                    </a:lnT>
                    <a:lnB w="9525" cmpd="sng">
                      <a:solidFill>
                        <a:srgbClr val="222222"/>
                      </a:solidFill>
                      <a:prstDash val="solid"/>
                    </a:lnB>
                    <a:solidFill>
                      <a:srgbClr val="E7F5F2"/>
                    </a:solidFill>
                  </a:tcPr>
                </a:tc>
                <a:tc>
                  <a:txBody>
                    <a:bodyPr/>
                    <a:lstStyle/>
                    <a:p>
                      <a:pPr marL="0" marR="0" lvl="0" indent="0" algn="l">
                        <a:lnSpc>
                          <a:spcPct val="100000"/>
                        </a:lnSpc>
                        <a:spcBef>
                          <a:spcPts val="0"/>
                        </a:spcBef>
                        <a:spcAft>
                          <a:spcPts val="0"/>
                        </a:spcAft>
                        <a:buClr>
                          <a:srgbClr val="000000"/>
                        </a:buClr>
                        <a:buSzPts val="1013"/>
                        <a:buFont typeface="Arial"/>
                        <a:buNone/>
                      </a:pPr>
                      <a:r>
                        <a:rPr sz="1013" u="none" cap="none">
                          <a:solidFill>
                            <a:srgbClr val="16324F"/>
                          </a:solidFill>
                          <a:latin typeface="Arial"/>
                          <a:ea typeface="Arial"/>
                          <a:cs typeface="Arial"/>
                        </a:rPr>
                        <a:t>[Risk 8]</a:t>
                      </a:r>
                    </a:p>
                  </a:txBody>
                  <a:tcPr marL="91425" marR="91425" marT="91425" marB="91425" anchor="ctr">
                    <a:lnL w="9525" cmpd="sng">
                      <a:solidFill>
                        <a:srgbClr val="222222"/>
                      </a:solidFill>
                      <a:prstDash val="solid"/>
                    </a:lnL>
                    <a:lnR w="9525" cmpd="sng">
                      <a:solidFill>
                        <a:srgbClr val="222222"/>
                      </a:solidFill>
                      <a:prstDash val="solid"/>
                    </a:lnR>
                    <a:lnT w="9525" cmpd="sng">
                      <a:solidFill>
                        <a:srgbClr val="222222"/>
                      </a:solidFill>
                      <a:prstDash val="solid"/>
                    </a:lnT>
                    <a:lnB w="9525" cmpd="sng">
                      <a:solidFill>
                        <a:srgbClr val="222222"/>
                      </a:solidFill>
                      <a:prstDash val="solid"/>
                    </a:lnB>
                    <a:solidFill>
                      <a:srgbClr val="FFE4A3"/>
                    </a:solidFill>
                  </a:tcPr>
                </a:tc>
              </a:tr>
            </a:tbl>
          </a:graphicData>
        </a:graphic>
      </p:graphicFrame>
      <p:cxnSp>
        <p:nvCxnSpPr>
          <p:cNvPr id="269" name="Google Shape;262;p39"/>
          <p:cNvCxnSpPr/>
          <p:nvPr/>
        </p:nvCxnSpPr>
        <p:spPr>
          <a:xfrm xmlns:a="http://schemas.openxmlformats.org/drawingml/2006/main">
            <a:off x="2406818" y="1438831"/>
            <a:ext cx="4088700" cy="0"/>
          </a:xfrm>
          <a:prstGeom xmlns:a="http://schemas.openxmlformats.org/drawingml/2006/main" prst="straightConnector1">
            <a:avLst/>
          </a:prstGeom>
          <a:ln xmlns:a="http://schemas.openxmlformats.org/drawingml/2006/main" w="28575" cap="flat">
            <a:solidFill>
              <a:schemeClr val="dk2"/>
            </a:solidFill>
            <a:prstDash val="solid"/>
            <a:round/>
            <a:headEnd type="none" w="sm" len="sm"/>
            <a:tailEnd type="stealth" w="med" len="med"/>
          </a:ln>
        </p:spPr>
      </p:cxnSp>
      <p:sp>
        <p:nvSpPr>
          <p:cNvPr id="263" name="Google Shape;263;p39">
            <a:extLst xmlns:a="http://schemas.openxmlformats.org/drawingml/2006/main">
              <a:ext uri="{FF2B5EF4-FFF2-40B4-BE49-F238E27FC236}">
                <a16:creationId xmlns:a16="http://schemas.microsoft.com/office/drawing/2014/main" id="{9B573DC0-223B-4F88-B6AE-75536B65407D}"/>
              </a:ext>
            </a:extLst>
          </p:cNvPr>
          <p:cNvSpPr>
            <a:spLocks xmlns:a="http://schemas.openxmlformats.org/drawingml/2006/main" noGrp="1"/>
          </p:cNvSpPr>
          <p:nvPr>
            <p:ph type="ctrTitle" idx="0"/>
          </p:nvPr>
        </p:nvSpPr>
        <p:spPr>
          <a:xfrm xmlns:a="http://schemas.openxmlformats.org/drawingml/2006/main">
            <a:off x="4063623" y="1075031"/>
            <a:ext cx="736800" cy="28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p xmlns:a="http://schemas.openxmlformats.org/drawingml/2006/main">
            <a:pPr marL="0" lvl="0" indent="0" algn="l">
              <a:lnSpc>
                <a:spcPct val="100000"/>
              </a:lnSpc>
              <a:spcBef>
                <a:spcPts val="0"/>
              </a:spcBef>
              <a:spcAft>
                <a:spcPts val="0"/>
              </a:spcAft>
              <a:buSzPts val="5200"/>
              <a:buNone/>
            </a:pPr>
            <a:r>
              <a:rPr sz="1200" b="1">
                <a:solidFill>
                  <a:schemeClr val="dk2"/>
                </a:solidFill>
              </a:rPr>
              <a:t>Impact</a:t>
            </a:r>
          </a:p>
        </p:txBody>
      </p:sp>
      <p:cxnSp>
        <p:nvCxnSpPr>
          <p:cNvPr id="271" name="Google Shape;264;p39"/>
          <p:cNvCxnSpPr/>
          <p:nvPr/>
        </p:nvCxnSpPr>
        <p:spPr>
          <a:xfrm xmlns:a="http://schemas.openxmlformats.org/drawingml/2006/main" rot="10800000">
            <a:off x="2151393" y="1558256"/>
            <a:ext cx="0" cy="3158700"/>
          </a:xfrm>
          <a:prstGeom xmlns:a="http://schemas.openxmlformats.org/drawingml/2006/main" prst="straightConnector1">
            <a:avLst/>
          </a:prstGeom>
          <a:ln xmlns:a="http://schemas.openxmlformats.org/drawingml/2006/main" w="28575" cap="flat">
            <a:solidFill>
              <a:schemeClr val="dk2"/>
            </a:solidFill>
            <a:prstDash val="solid"/>
            <a:round/>
            <a:headEnd type="none" w="sm" len="sm"/>
            <a:tailEnd type="stealth" w="med" len="med"/>
          </a:ln>
        </p:spPr>
      </p:cxnSp>
      <p:sp>
        <p:nvSpPr>
          <p:cNvPr id="265" name="Google Shape;265;p39">
            <a:extLst xmlns:a="http://schemas.openxmlformats.org/drawingml/2006/main">
              <a:ext uri="{FF2B5EF4-FFF2-40B4-BE49-F238E27FC236}">
                <a16:creationId xmlns:a16="http://schemas.microsoft.com/office/drawing/2014/main" id="{E83CAE30-EC13-4ECA-89C6-F3A364C5DF15}"/>
              </a:ext>
            </a:extLst>
          </p:cNvPr>
          <p:cNvSpPr>
            <a:spLocks xmlns:a="http://schemas.openxmlformats.org/drawingml/2006/main" noGrp="1"/>
          </p:cNvSpPr>
          <p:nvPr>
            <p:ph type="ctrTitle" idx="0"/>
          </p:nvPr>
        </p:nvSpPr>
        <p:spPr>
          <a:xfrm xmlns:a="http://schemas.openxmlformats.org/drawingml/2006/main" rot="-5400000">
            <a:off x="1380000" y="2987902"/>
            <a:ext cx="961500" cy="29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p xmlns:a="http://schemas.openxmlformats.org/drawingml/2006/main">
            <a:pPr marL="0" lvl="0" indent="0" algn="l">
              <a:lnSpc>
                <a:spcPct val="100000"/>
              </a:lnSpc>
              <a:spcBef>
                <a:spcPts val="0"/>
              </a:spcBef>
              <a:spcAft>
                <a:spcPts val="0"/>
              </a:spcAft>
              <a:buSzPts val="5200"/>
              <a:buNone/>
            </a:pPr>
            <a:r>
              <a:rPr sz="1200" b="1">
                <a:solidFill>
                  <a:schemeClr val="dk2"/>
                </a:solidFill>
              </a:rPr>
              <a:t>Likelihood</a:t>
            </a:r>
          </a:p>
        </p:txBody>
      </p:sp>
      <p:sp>
        <p:nvSpPr>
          <p:cNvPr id="266" name="Google Shape;266;p39">
            <a:extLst xmlns:a="http://schemas.openxmlformats.org/drawingml/2006/main">
              <a:ext uri="{FF2B5EF4-FFF2-40B4-BE49-F238E27FC236}">
                <a16:creationId xmlns:a16="http://schemas.microsoft.com/office/drawing/2014/main" id="{DAE7D80D-14D9-4FD5-95CF-B8E79F931148}"/>
              </a:ext>
            </a:extLst>
          </p:cNvPr>
          <p:cNvSpPr>
            <a:spLocks xmlns:a="http://schemas.openxmlformats.org/drawingml/2006/main" noGrp="1"/>
          </p:cNvSpPr>
          <p:nvPr/>
        </p:nvSpPr>
        <p:spPr>
          <a:xfrm xmlns:a="http://schemas.openxmlformats.org/drawingml/2006/main">
            <a:off x="333375" y="397671"/>
            <a:ext cx="8528700" cy="135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dk1"/>
              </a:buClr>
              <a:buSzPts val="1100"/>
              <a:buFont typeface="Arial"/>
              <a:buNone/>
            </a:pPr>
            <a:r>
              <a:rPr sz="4400" b="1">
                <a:solidFill>
                  <a:srgbClr val="16324F"/>
                </a:solidFill>
                <a:latin typeface="Arial"/>
                <a:ea typeface="Arial"/>
                <a:cs typeface="Arial"/>
              </a:rPr>
              <a:t>Security plan &amp; Risks</a:t>
            </a:r>
          </a:p>
          <a:p xmlns:a="http://schemas.openxmlformats.org/drawingml/2006/main">
            <a:pPr marL="0" marR="0" lvl="0" indent="0" algn="l">
              <a:spcBef>
                <a:spcPts val="0"/>
              </a:spcBef>
              <a:spcAft>
                <a:spcPts val="0"/>
              </a:spcAft>
              <a:buClr>
                <a:schemeClr val="dk1"/>
              </a:buClr>
              <a:buSzPts val="1100"/>
              <a:buFont typeface="Arial"/>
              <a:buNone/>
            </a:pPr>
            <a:r>
              <a:t/>
            </a:r>
          </a:p>
        </p:txBody>
      </p:sp>
    </p:spTree>
    <p:extLst>
      <p:ext uri="{BB962C8B-B14F-4D97-AF65-F5344CB8AC3E}">
        <p14:creationId xmlns:p14="http://schemas.microsoft.com/office/powerpoint/2010/main" val="202125462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72" name="Google Shape;272;p40">
            <a:extLst xmlns:a="http://schemas.openxmlformats.org/drawingml/2006/main">
              <a:ext uri="{FF2B5EF4-FFF2-40B4-BE49-F238E27FC236}">
                <a16:creationId xmlns:a16="http://schemas.microsoft.com/office/drawing/2014/main" id="{7A1E1EC7-8FDD-4DEB-BDD3-C7B77FAE6517}"/>
              </a:ext>
            </a:extLst>
          </p:cNvPr>
          <p:cNvSpPr>
            <a:spLocks xmlns:a="http://schemas.openxmlformats.org/drawingml/2006/main" noGrp="1"/>
          </p:cNvSpPr>
          <p:nvPr/>
        </p:nvSpPr>
        <p:spPr>
          <a:xfrm xmlns:a="http://schemas.openxmlformats.org/drawingml/2006/main">
            <a:off x="1288117" y="3638438"/>
            <a:ext cx="1656000" cy="396000"/>
          </a:xfrm>
          <a:prstGeom xmlns:a="http://schemas.openxmlformats.org/drawingml/2006/main" prst="rect">
            <a:avLst/>
          </a:prstGeom>
          <a:solidFill xmlns:a="http://schemas.openxmlformats.org/drawingml/2006/main">
            <a:srgbClr val="FBECE7"/>
          </a:solidFill>
          <a:ln xmlns:a="http://schemas.openxmlformats.org/drawingml/2006/main" w="9525" cmpd="sng">
            <a:solidFill>
              <a:srgbClr val="E8C0B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Clr>
                <a:srgbClr val="16324F"/>
              </a:buClr>
              <a:buSzPts val="1100"/>
              <a:buFont typeface="Arial"/>
              <a:buNone/>
            </a:pPr>
            <a:r>
              <a:rPr sz="1100" b="0">
                <a:solidFill>
                  <a:srgbClr val="16324F"/>
                </a:solidFill>
                <a:latin typeface="Arial"/>
                <a:ea typeface="Arial"/>
                <a:cs typeface="Arial"/>
              </a:rPr>
              <a:t>[Risk 5]</a:t>
            </a:r>
          </a:p>
        </p:txBody>
      </p:sp>
      <p:sp>
        <p:nvSpPr>
          <p:cNvPr id="273" name="Google Shape;273;p40">
            <a:extLst xmlns:a="http://schemas.openxmlformats.org/drawingml/2006/main">
              <a:ext uri="{FF2B5EF4-FFF2-40B4-BE49-F238E27FC236}">
                <a16:creationId xmlns:a16="http://schemas.microsoft.com/office/drawing/2014/main" id="{A09026F5-4549-48C8-8BBE-743DD227004A}"/>
              </a:ext>
            </a:extLst>
          </p:cNvPr>
          <p:cNvSpPr>
            <a:spLocks xmlns:a="http://schemas.openxmlformats.org/drawingml/2006/main" noGrp="1"/>
          </p:cNvSpPr>
          <p:nvPr/>
        </p:nvSpPr>
        <p:spPr>
          <a:xfrm xmlns:a="http://schemas.openxmlformats.org/drawingml/2006/main">
            <a:off x="1288117" y="4196752"/>
            <a:ext cx="1656000" cy="396000"/>
          </a:xfrm>
          <a:prstGeom xmlns:a="http://schemas.openxmlformats.org/drawingml/2006/main" prst="rect">
            <a:avLst/>
          </a:prstGeom>
          <a:solidFill xmlns:a="http://schemas.openxmlformats.org/drawingml/2006/main">
            <a:srgbClr val="FBECE7"/>
          </a:solidFill>
          <a:ln xmlns:a="http://schemas.openxmlformats.org/drawingml/2006/main" w="9525" cmpd="sng">
            <a:solidFill>
              <a:srgbClr val="E8C0B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324F"/>
              </a:buClr>
              <a:buSzPts val="1100"/>
              <a:buFont typeface="Arial"/>
              <a:buNone/>
            </a:pPr>
            <a:r>
              <a:rPr sz="1100" b="0">
                <a:solidFill>
                  <a:srgbClr val="16324F"/>
                </a:solidFill>
                <a:latin typeface="Arial"/>
                <a:ea typeface="Arial"/>
                <a:cs typeface="Arial"/>
              </a:rPr>
              <a:t>[Risk 6]</a:t>
            </a:r>
          </a:p>
        </p:txBody>
      </p:sp>
      <p:sp>
        <p:nvSpPr>
          <p:cNvPr id="274" name="Google Shape;274;p40">
            <a:extLst xmlns:a="http://schemas.openxmlformats.org/drawingml/2006/main">
              <a:ext uri="{FF2B5EF4-FFF2-40B4-BE49-F238E27FC236}">
                <a16:creationId xmlns:a16="http://schemas.microsoft.com/office/drawing/2014/main" id="{39CB0AE2-36A1-4E30-93BF-559C179EBB46}"/>
              </a:ext>
            </a:extLst>
          </p:cNvPr>
          <p:cNvSpPr>
            <a:spLocks xmlns:a="http://schemas.openxmlformats.org/drawingml/2006/main" noGrp="1"/>
          </p:cNvSpPr>
          <p:nvPr/>
        </p:nvSpPr>
        <p:spPr>
          <a:xfrm xmlns:a="http://schemas.openxmlformats.org/drawingml/2006/main">
            <a:off x="1288117" y="1405142"/>
            <a:ext cx="1656000" cy="396000"/>
          </a:xfrm>
          <a:prstGeom xmlns:a="http://schemas.openxmlformats.org/drawingml/2006/main" prst="rect">
            <a:avLst/>
          </a:prstGeom>
          <a:solidFill xmlns:a="http://schemas.openxmlformats.org/drawingml/2006/main">
            <a:srgbClr val="FFF3D6"/>
          </a:solidFill>
          <a:ln xmlns:a="http://schemas.openxmlformats.org/drawingml/2006/main" w="9525" cmpd="sng">
            <a:solidFill>
              <a:srgbClr val="E7CF89"/>
            </a:solidFill>
            <a:prstDash val="solid"/>
            <a:headEnd type="none" w="sm" len="sm"/>
            <a:tailEnd type="none" w="sm" len="sm"/>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Clr>
                <a:srgbClr val="16324F"/>
              </a:buClr>
              <a:buSzPts val="1100"/>
              <a:buFont typeface="Arial"/>
              <a:buNone/>
            </a:pPr>
            <a:r>
              <a:rPr sz="1100" b="0">
                <a:solidFill>
                  <a:srgbClr val="16324F"/>
                </a:solidFill>
                <a:latin typeface="Arial"/>
                <a:ea typeface="Arial"/>
                <a:cs typeface="Arial"/>
              </a:rPr>
              <a:t>[Risk 1]</a:t>
            </a:r>
          </a:p>
        </p:txBody>
      </p:sp>
      <p:sp>
        <p:nvSpPr>
          <p:cNvPr id="275" name="Google Shape;275;p40">
            <a:extLst xmlns:a="http://schemas.openxmlformats.org/drawingml/2006/main">
              <a:ext uri="{FF2B5EF4-FFF2-40B4-BE49-F238E27FC236}">
                <a16:creationId xmlns:a16="http://schemas.microsoft.com/office/drawing/2014/main" id="{5659012F-D135-4431-BD88-A750634344FC}"/>
              </a:ext>
            </a:extLst>
          </p:cNvPr>
          <p:cNvSpPr>
            <a:spLocks xmlns:a="http://schemas.openxmlformats.org/drawingml/2006/main" noGrp="1"/>
          </p:cNvSpPr>
          <p:nvPr/>
        </p:nvSpPr>
        <p:spPr>
          <a:xfrm xmlns:a="http://schemas.openxmlformats.org/drawingml/2006/main">
            <a:off x="1288117" y="1963453"/>
            <a:ext cx="1656000" cy="396000"/>
          </a:xfrm>
          <a:prstGeom xmlns:a="http://schemas.openxmlformats.org/drawingml/2006/main" prst="rect">
            <a:avLst/>
          </a:prstGeom>
          <a:solidFill xmlns:a="http://schemas.openxmlformats.org/drawingml/2006/main">
            <a:srgbClr val="FFF3D6"/>
          </a:solidFill>
          <a:ln xmlns:a="http://schemas.openxmlformats.org/drawingml/2006/main" w="9525" cmpd="sng">
            <a:solidFill>
              <a:srgbClr val="E7CF8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1100"/>
              <a:buFont typeface="Arial"/>
              <a:buNone/>
            </a:pPr>
            <a:r>
              <a:rPr sz="1100" b="0">
                <a:solidFill>
                  <a:srgbClr val="16324F"/>
                </a:solidFill>
                <a:latin typeface="Arial"/>
                <a:ea typeface="Arial"/>
                <a:cs typeface="Arial"/>
              </a:rPr>
              <a:t>[Risk 2]</a:t>
            </a:r>
          </a:p>
        </p:txBody>
      </p:sp>
      <p:sp>
        <p:nvSpPr>
          <p:cNvPr id="276" name="Google Shape;276;p40">
            <a:extLst xmlns:a="http://schemas.openxmlformats.org/drawingml/2006/main">
              <a:ext uri="{FF2B5EF4-FFF2-40B4-BE49-F238E27FC236}">
                <a16:creationId xmlns:a16="http://schemas.microsoft.com/office/drawing/2014/main" id="{D29EAE29-C6EE-404D-874D-944A30BEB56B}"/>
              </a:ext>
            </a:extLst>
          </p:cNvPr>
          <p:cNvSpPr>
            <a:spLocks xmlns:a="http://schemas.openxmlformats.org/drawingml/2006/main" noGrp="1"/>
          </p:cNvSpPr>
          <p:nvPr/>
        </p:nvSpPr>
        <p:spPr>
          <a:xfrm xmlns:a="http://schemas.openxmlformats.org/drawingml/2006/main">
            <a:off x="1288117" y="2521788"/>
            <a:ext cx="1656000" cy="396000"/>
          </a:xfrm>
          <a:prstGeom xmlns:a="http://schemas.openxmlformats.org/drawingml/2006/main" prst="rect">
            <a:avLst/>
          </a:prstGeom>
          <a:solidFill xmlns:a="http://schemas.openxmlformats.org/drawingml/2006/main">
            <a:srgbClr val="FFF3D6"/>
          </a:solidFill>
          <a:ln xmlns:a="http://schemas.openxmlformats.org/drawingml/2006/main" w="9525" cmpd="sng">
            <a:solidFill>
              <a:srgbClr val="E7CF8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1100"/>
              <a:buFont typeface="Arial"/>
              <a:buNone/>
            </a:pPr>
            <a:r>
              <a:rPr sz="1100" b="0">
                <a:solidFill>
                  <a:srgbClr val="16324F"/>
                </a:solidFill>
                <a:latin typeface="Arial"/>
                <a:ea typeface="Arial"/>
                <a:cs typeface="Arial"/>
              </a:rPr>
              <a:t>[Risk 3]</a:t>
            </a:r>
          </a:p>
        </p:txBody>
      </p:sp>
      <p:sp>
        <p:nvSpPr>
          <p:cNvPr id="277" name="Google Shape;277;p40">
            <a:extLst xmlns:a="http://schemas.openxmlformats.org/drawingml/2006/main">
              <a:ext uri="{FF2B5EF4-FFF2-40B4-BE49-F238E27FC236}">
                <a16:creationId xmlns:a16="http://schemas.microsoft.com/office/drawing/2014/main" id="{7C863DDC-4C27-4759-B7C2-3018A8AECD5C}"/>
              </a:ext>
            </a:extLst>
          </p:cNvPr>
          <p:cNvSpPr>
            <a:spLocks xmlns:a="http://schemas.openxmlformats.org/drawingml/2006/main" noGrp="1"/>
          </p:cNvSpPr>
          <p:nvPr/>
        </p:nvSpPr>
        <p:spPr>
          <a:xfrm xmlns:a="http://schemas.openxmlformats.org/drawingml/2006/main">
            <a:off x="1288117" y="3080102"/>
            <a:ext cx="1656000" cy="396000"/>
          </a:xfrm>
          <a:prstGeom xmlns:a="http://schemas.openxmlformats.org/drawingml/2006/main" prst="rect">
            <a:avLst/>
          </a:prstGeom>
          <a:solidFill xmlns:a="http://schemas.openxmlformats.org/drawingml/2006/main">
            <a:srgbClr val="FFF3D6"/>
          </a:solidFill>
          <a:ln xmlns:a="http://schemas.openxmlformats.org/drawingml/2006/main" w="9525" cmpd="sng">
            <a:solidFill>
              <a:srgbClr val="E7CF89"/>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1100"/>
              <a:buFont typeface="Arial"/>
              <a:buNone/>
            </a:pPr>
            <a:r>
              <a:rPr sz="1100" b="0">
                <a:solidFill>
                  <a:srgbClr val="16324F"/>
                </a:solidFill>
                <a:latin typeface="Arial"/>
                <a:ea typeface="Arial"/>
                <a:cs typeface="Arial"/>
              </a:rPr>
              <a:t>[Risk 4]</a:t>
            </a:r>
          </a:p>
        </p:txBody>
      </p:sp>
      <p:sp>
        <p:nvSpPr>
          <p:cNvPr id="278" name="Google Shape;278;p40">
            <a:extLst xmlns:a="http://schemas.openxmlformats.org/drawingml/2006/main">
              <a:ext uri="{FF2B5EF4-FFF2-40B4-BE49-F238E27FC236}">
                <a16:creationId xmlns:a16="http://schemas.microsoft.com/office/drawing/2014/main" id="{289A4428-BB2A-47F0-8F06-67AAF55F0C20}"/>
              </a:ext>
            </a:extLst>
          </p:cNvPr>
          <p:cNvSpPr>
            <a:spLocks xmlns:a="http://schemas.openxmlformats.org/drawingml/2006/main" noGrp="1"/>
          </p:cNvSpPr>
          <p:nvPr/>
        </p:nvSpPr>
        <p:spPr>
          <a:xfrm xmlns:a="http://schemas.openxmlformats.org/drawingml/2006/main">
            <a:off x="3402425" y="1979176"/>
            <a:ext cx="43206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Clr>
                <a:srgbClr val="16324F"/>
              </a:buClr>
              <a:buSzPts val="1100"/>
              <a:buFont typeface="Arial"/>
              <a:buNone/>
            </a:pPr>
            <a:r>
              <a:rPr sz="1100" b="1">
                <a:solidFill>
                  <a:srgbClr val="16324F"/>
                </a:solidFill>
                <a:latin typeface="Arial"/>
                <a:ea typeface="Arial"/>
                <a:cs typeface="Arial"/>
              </a:rPr>
              <a:t>[Mitigation 2]</a:t>
            </a:r>
          </a:p>
        </p:txBody>
      </p:sp>
      <p:sp>
        <p:nvSpPr>
          <p:cNvPr id="279" name="Google Shape;279;p40">
            <a:extLst xmlns:a="http://schemas.openxmlformats.org/drawingml/2006/main">
              <a:ext uri="{FF2B5EF4-FFF2-40B4-BE49-F238E27FC236}">
                <a16:creationId xmlns:a16="http://schemas.microsoft.com/office/drawing/2014/main" id="{F01CD380-02A4-40D2-B6F4-F683D53B1B07}"/>
              </a:ext>
            </a:extLst>
          </p:cNvPr>
          <p:cNvSpPr>
            <a:spLocks xmlns:a="http://schemas.openxmlformats.org/drawingml/2006/main" noGrp="1"/>
          </p:cNvSpPr>
          <p:nvPr/>
        </p:nvSpPr>
        <p:spPr>
          <a:xfrm xmlns:a="http://schemas.openxmlformats.org/drawingml/2006/main">
            <a:off x="3402425" y="1426138"/>
            <a:ext cx="20298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Clr>
                <a:srgbClr val="16324F"/>
              </a:buClr>
              <a:buSzPts val="1100"/>
              <a:buFont typeface="Arial"/>
              <a:buNone/>
            </a:pPr>
            <a:r>
              <a:rPr sz="1100" b="1">
                <a:solidFill>
                  <a:srgbClr val="16324F"/>
                </a:solidFill>
                <a:latin typeface="Arial"/>
                <a:ea typeface="Arial"/>
                <a:cs typeface="Arial"/>
              </a:rPr>
              <a:t>[Mitigation 1]</a:t>
            </a:r>
          </a:p>
        </p:txBody>
      </p:sp>
      <p:pic>
        <p:nvPicPr>
          <p:cNvPr id="311" name="Google Shape;280;p40"/>
          <p:cNvPicPr>
            <a:picLocks xmlns:a="http://schemas.openxmlformats.org/drawingml/2006/main" noChangeAspect="1"/>
          </p:cNvPicPr>
          <p:nvPr/>
        </p:nvPicPr>
        <p:blipFill rotWithShape="1">
          <a:blip xmlns:r="http://schemas.openxmlformats.org/officeDocument/2006/relationships" xmlns:a="http://schemas.openxmlformats.org/drawingml/2006/main" r:embed="R7cca94cc2a2943a3">
            <a:alphaModFix/>
          </a:blip>
          <a:srcRect xmlns:a="http://schemas.openxmlformats.org/drawingml/2006/main" l="0" t="0" r="0" b="0"/>
          <a:stretch xmlns:a="http://schemas.openxmlformats.org/drawingml/2006/main"/>
        </p:blipFill>
        <p:spPr>
          <a:xfrm xmlns:a="http://schemas.openxmlformats.org/drawingml/2006/main">
            <a:off x="4722417" y="3103388"/>
            <a:ext cx="360000" cy="360000"/>
          </a:xfrm>
          <a:prstGeom xmlns:a="http://schemas.openxmlformats.org/drawingml/2006/main" prst="rect">
            <a:avLst/>
          </a:prstGeom>
          <a:ln xmlns:a="http://schemas.openxmlformats.org/drawingml/2006/main">
            <a:noFill/>
          </a:ln>
        </p:spPr>
      </p:pic>
      <p:sp>
        <p:nvSpPr>
          <p:cNvPr id="281" name="Google Shape;281;p40">
            <a:extLst xmlns:a="http://schemas.openxmlformats.org/drawingml/2006/main">
              <a:ext uri="{FF2B5EF4-FFF2-40B4-BE49-F238E27FC236}">
                <a16:creationId xmlns:a16="http://schemas.microsoft.com/office/drawing/2014/main" id="{247F0FCA-C5A2-4805-A01A-499A00C98F92}"/>
              </a:ext>
            </a:extLst>
          </p:cNvPr>
          <p:cNvSpPr>
            <a:spLocks xmlns:a="http://schemas.openxmlformats.org/drawingml/2006/main" noGrp="1"/>
          </p:cNvSpPr>
          <p:nvPr/>
        </p:nvSpPr>
        <p:spPr>
          <a:xfrm xmlns:a="http://schemas.openxmlformats.org/drawingml/2006/main">
            <a:off x="3402425" y="2527126"/>
            <a:ext cx="30000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Clr>
                <a:srgbClr val="16324F"/>
              </a:buClr>
              <a:buSzPts val="1100"/>
              <a:buFont typeface="Arial"/>
              <a:buNone/>
            </a:pPr>
            <a:r>
              <a:rPr sz="1100" b="1">
                <a:solidFill>
                  <a:srgbClr val="16324F"/>
                </a:solidFill>
                <a:latin typeface="Arial"/>
                <a:ea typeface="Arial"/>
                <a:cs typeface="Arial"/>
              </a:rPr>
              <a:t>[Mitigation 3]</a:t>
            </a:r>
          </a:p>
        </p:txBody>
      </p:sp>
      <p:pic>
        <p:nvPicPr>
          <p:cNvPr id="313" name="Google Shape;282;p40"/>
          <p:cNvPicPr>
            <a:picLocks xmlns:a="http://schemas.openxmlformats.org/drawingml/2006/main" noChangeAspect="1"/>
          </p:cNvPicPr>
          <p:nvPr/>
        </p:nvPicPr>
        <p:blipFill rotWithShape="1">
          <a:blip xmlns:r="http://schemas.openxmlformats.org/officeDocument/2006/relationships" xmlns:a="http://schemas.openxmlformats.org/drawingml/2006/main" r:embed="R27a7941fcdc8470b">
            <a:alphaModFix/>
          </a:blip>
          <a:srcRect xmlns:a="http://schemas.openxmlformats.org/drawingml/2006/main" l="0" t="0" r="0" b="0"/>
          <a:stretch xmlns:a="http://schemas.openxmlformats.org/drawingml/2006/main"/>
        </p:blipFill>
        <p:spPr>
          <a:xfrm xmlns:a="http://schemas.openxmlformats.org/drawingml/2006/main">
            <a:off x="5525008" y="2533177"/>
            <a:ext cx="360000" cy="360000"/>
          </a:xfrm>
          <a:prstGeom xmlns:a="http://schemas.openxmlformats.org/drawingml/2006/main" prst="rect">
            <a:avLst/>
          </a:prstGeom>
          <a:ln xmlns:a="http://schemas.openxmlformats.org/drawingml/2006/main">
            <a:noFill/>
          </a:ln>
        </p:spPr>
      </p:pic>
      <p:sp>
        <p:nvSpPr>
          <p:cNvPr id="283" name="Google Shape;283;p40">
            <a:extLst xmlns:a="http://schemas.openxmlformats.org/drawingml/2006/main">
              <a:ext uri="{FF2B5EF4-FFF2-40B4-BE49-F238E27FC236}">
                <a16:creationId xmlns:a16="http://schemas.microsoft.com/office/drawing/2014/main" id="{51305D88-C752-4932-B23F-845BA9050528}"/>
              </a:ext>
            </a:extLst>
          </p:cNvPr>
          <p:cNvSpPr>
            <a:spLocks xmlns:a="http://schemas.openxmlformats.org/drawingml/2006/main" noGrp="1"/>
          </p:cNvSpPr>
          <p:nvPr/>
        </p:nvSpPr>
        <p:spPr>
          <a:xfrm xmlns:a="http://schemas.openxmlformats.org/drawingml/2006/main">
            <a:off x="3402425" y="3106388"/>
            <a:ext cx="30000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Clr>
                <a:srgbClr val="16324F"/>
              </a:buClr>
              <a:buSzPts val="1100"/>
              <a:buFont typeface="Arial"/>
              <a:buNone/>
            </a:pPr>
            <a:r>
              <a:rPr sz="1100" b="1">
                <a:solidFill>
                  <a:srgbClr val="16324F"/>
                </a:solidFill>
                <a:latin typeface="Arial"/>
                <a:ea typeface="Arial"/>
                <a:cs typeface="Arial"/>
              </a:rPr>
              <a:t>[Mitigation 4]</a:t>
            </a:r>
          </a:p>
        </p:txBody>
      </p:sp>
      <p:pic>
        <p:nvPicPr>
          <p:cNvPr id="315" name="Google Shape;284;p40"/>
          <p:cNvPicPr>
            <a:picLocks xmlns:a="http://schemas.openxmlformats.org/drawingml/2006/main" noChangeAspect="1"/>
          </p:cNvPicPr>
          <p:nvPr/>
        </p:nvPicPr>
        <p:blipFill rotWithShape="1">
          <a:blip xmlns:r="http://schemas.openxmlformats.org/officeDocument/2006/relationships" xmlns:a="http://schemas.openxmlformats.org/drawingml/2006/main" r:embed="R1fbab92dd6714e04">
            <a:alphaModFix/>
          </a:blip>
          <a:srcRect xmlns:a="http://schemas.openxmlformats.org/drawingml/2006/main" l="0" t="0" r="0" b="0"/>
          <a:stretch xmlns:a="http://schemas.openxmlformats.org/drawingml/2006/main"/>
        </p:blipFill>
        <p:spPr>
          <a:xfrm xmlns:a="http://schemas.openxmlformats.org/drawingml/2006/main">
            <a:off x="5249336" y="1425238"/>
            <a:ext cx="360000" cy="360000"/>
          </a:xfrm>
          <a:prstGeom xmlns:a="http://schemas.openxmlformats.org/drawingml/2006/main" prst="rect">
            <a:avLst/>
          </a:prstGeom>
          <a:ln xmlns:a="http://schemas.openxmlformats.org/drawingml/2006/main">
            <a:noFill/>
          </a:ln>
        </p:spPr>
      </p:pic>
      <p:sp>
        <p:nvSpPr>
          <p:cNvPr id="285" name="Google Shape;285;p40">
            <a:extLst xmlns:a="http://schemas.openxmlformats.org/drawingml/2006/main">
              <a:ext uri="{FF2B5EF4-FFF2-40B4-BE49-F238E27FC236}">
                <a16:creationId xmlns:a16="http://schemas.microsoft.com/office/drawing/2014/main" id="{1465FD2C-F18E-4EBE-9F97-AF41D40D787C}"/>
              </a:ext>
            </a:extLst>
          </p:cNvPr>
          <p:cNvSpPr>
            <a:spLocks xmlns:a="http://schemas.openxmlformats.org/drawingml/2006/main" noGrp="1"/>
          </p:cNvSpPr>
          <p:nvPr/>
        </p:nvSpPr>
        <p:spPr>
          <a:xfrm xmlns:a="http://schemas.openxmlformats.org/drawingml/2006/main">
            <a:off x="3402425" y="3650969"/>
            <a:ext cx="14112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spcBef>
                <a:spcPts val="0"/>
              </a:spcBef>
              <a:spcAft>
                <a:spcPts val="0"/>
              </a:spcAft>
              <a:buClr>
                <a:srgbClr val="16324F"/>
              </a:buClr>
              <a:buSzPts val="1100"/>
              <a:buFont typeface="Arial"/>
              <a:buNone/>
            </a:pPr>
            <a:r>
              <a:rPr sz="1100" b="1">
                <a:solidFill>
                  <a:srgbClr val="16324F"/>
                </a:solidFill>
                <a:latin typeface="Arial"/>
                <a:ea typeface="Arial"/>
                <a:cs typeface="Arial"/>
              </a:rPr>
              <a:t>[Mitigation 5]</a:t>
            </a:r>
          </a:p>
        </p:txBody>
      </p:sp>
      <p:pic>
        <p:nvPicPr>
          <p:cNvPr id="317" name="Google Shape;286;p40"/>
          <p:cNvPicPr>
            <a:picLocks xmlns:a="http://schemas.openxmlformats.org/drawingml/2006/main" noChangeAspect="1"/>
          </p:cNvPicPr>
          <p:nvPr/>
        </p:nvPicPr>
        <p:blipFill rotWithShape="1">
          <a:blip xmlns:r="http://schemas.openxmlformats.org/officeDocument/2006/relationships" xmlns:a="http://schemas.openxmlformats.org/drawingml/2006/main" r:embed="R7961a8a12cba496e">
            <a:alphaModFix/>
          </a:blip>
          <a:srcRect xmlns:a="http://schemas.openxmlformats.org/drawingml/2006/main" l="0" t="0" r="0" b="0"/>
          <a:stretch xmlns:a="http://schemas.openxmlformats.org/drawingml/2006/main"/>
        </p:blipFill>
        <p:spPr>
          <a:xfrm xmlns:a="http://schemas.openxmlformats.org/drawingml/2006/main">
            <a:off x="5348656" y="4233588"/>
            <a:ext cx="360000" cy="360000"/>
          </a:xfrm>
          <a:prstGeom xmlns:a="http://schemas.openxmlformats.org/drawingml/2006/main" prst="rect">
            <a:avLst/>
          </a:prstGeom>
          <a:ln xmlns:a="http://schemas.openxmlformats.org/drawingml/2006/main">
            <a:noFill/>
          </a:ln>
        </p:spPr>
      </p:pic>
      <p:sp>
        <p:nvSpPr>
          <p:cNvPr id="287" name="Google Shape;287;p40">
            <a:extLst xmlns:a="http://schemas.openxmlformats.org/drawingml/2006/main">
              <a:ext uri="{FF2B5EF4-FFF2-40B4-BE49-F238E27FC236}">
                <a16:creationId xmlns:a16="http://schemas.microsoft.com/office/drawing/2014/main" id="{4ADF689C-DCC1-49C4-B93B-56B499715C27}"/>
              </a:ext>
            </a:extLst>
          </p:cNvPr>
          <p:cNvSpPr>
            <a:spLocks xmlns:a="http://schemas.openxmlformats.org/drawingml/2006/main" noGrp="1"/>
          </p:cNvSpPr>
          <p:nvPr/>
        </p:nvSpPr>
        <p:spPr>
          <a:xfrm xmlns:a="http://schemas.openxmlformats.org/drawingml/2006/main">
            <a:off x="3402425" y="4217763"/>
            <a:ext cx="1907700" cy="3756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6324F"/>
              </a:buClr>
              <a:buSzPts val="1100"/>
              <a:buFont typeface="Arial"/>
              <a:buNone/>
            </a:pPr>
            <a:r>
              <a:rPr sz="1100" b="1">
                <a:solidFill>
                  <a:srgbClr val="16324F"/>
                </a:solidFill>
                <a:latin typeface="Arial"/>
                <a:ea typeface="Arial"/>
                <a:cs typeface="Arial"/>
              </a:rPr>
              <a:t>[Mitigation 6]</a:t>
            </a:r>
          </a:p>
        </p:txBody>
      </p:sp>
      <p:pic>
        <p:nvPicPr>
          <p:cNvPr id="319" name="Google Shape;288;p40"/>
          <p:cNvPicPr>
            <a:picLocks xmlns:a="http://schemas.openxmlformats.org/drawingml/2006/main" noChangeAspect="1"/>
          </p:cNvPicPr>
          <p:nvPr/>
        </p:nvPicPr>
        <p:blipFill rotWithShape="1">
          <a:blip xmlns:r="http://schemas.openxmlformats.org/officeDocument/2006/relationships" xmlns:a="http://schemas.openxmlformats.org/drawingml/2006/main" r:embed="R39181a4a62484bdc">
            <a:alphaModFix/>
          </a:blip>
          <a:srcRect xmlns:a="http://schemas.openxmlformats.org/drawingml/2006/main" l="0" t="0" r="0" b="0"/>
          <a:stretch xmlns:a="http://schemas.openxmlformats.org/drawingml/2006/main"/>
        </p:blipFill>
        <p:spPr>
          <a:xfrm xmlns:a="http://schemas.openxmlformats.org/drawingml/2006/main">
            <a:off x="4440340" y="3650956"/>
            <a:ext cx="360000" cy="360000"/>
          </a:xfrm>
          <a:prstGeom xmlns:a="http://schemas.openxmlformats.org/drawingml/2006/main" prst="rect">
            <a:avLst/>
          </a:prstGeom>
          <a:ln xmlns:a="http://schemas.openxmlformats.org/drawingml/2006/main">
            <a:noFill/>
          </a:ln>
        </p:spPr>
      </p:pic>
      <p:pic>
        <p:nvPicPr>
          <p:cNvPr id="320" name="Google Shape;289;p40"/>
          <p:cNvPicPr>
            <a:picLocks xmlns:a="http://schemas.openxmlformats.org/drawingml/2006/main" noChangeAspect="1"/>
          </p:cNvPicPr>
          <p:nvPr/>
        </p:nvPicPr>
        <p:blipFill rotWithShape="1">
          <a:blip xmlns:r="http://schemas.openxmlformats.org/officeDocument/2006/relationships" xmlns:a="http://schemas.openxmlformats.org/drawingml/2006/main" r:embed="R7e0a3fa43c05460a">
            <a:alphaModFix/>
          </a:blip>
          <a:srcRect xmlns:a="http://schemas.openxmlformats.org/drawingml/2006/main" l="0" t="0" r="0" b="0"/>
          <a:stretch xmlns:a="http://schemas.openxmlformats.org/drawingml/2006/main"/>
        </p:blipFill>
        <p:spPr>
          <a:xfrm xmlns:a="http://schemas.openxmlformats.org/drawingml/2006/main">
            <a:off x="7507016" y="1996009"/>
            <a:ext cx="360000" cy="360000"/>
          </a:xfrm>
          <a:prstGeom xmlns:a="http://schemas.openxmlformats.org/drawingml/2006/main" prst="rect">
            <a:avLst/>
          </a:prstGeom>
          <a:ln xmlns:a="http://schemas.openxmlformats.org/drawingml/2006/main">
            <a:noFill/>
          </a:ln>
        </p:spPr>
      </p:pic>
      <p:cxnSp>
        <p:nvCxnSpPr>
          <p:cNvPr id="321" name="Google Shape;290;p40"/>
          <p:cNvCxnSpPr>
            <a:stCxn xmlns:a="http://schemas.openxmlformats.org/drawingml/2006/main" id="274" idx="3"/>
            <a:endCxn xmlns:a="http://schemas.openxmlformats.org/drawingml/2006/main" id="279" idx="1"/>
          </p:cNvCxnSpPr>
          <p:nvPr/>
        </p:nvCxnSpPr>
        <p:spPr>
          <a:xfrm xmlns:a="http://schemas.openxmlformats.org/drawingml/2006/main">
            <a:off x="2944117" y="1603142"/>
            <a:ext cx="458400" cy="0"/>
          </a:xfrm>
          <a:prstGeom xmlns:a="http://schemas.openxmlformats.org/drawingml/2006/main" prst="straightConnector1">
            <a:avLst/>
          </a:prstGeom>
          <a:ln xmlns:a="http://schemas.openxmlformats.org/drawingml/2006/main" w="9525" cap="flat">
            <a:solidFill>
              <a:srgbClr val="6AA84F"/>
            </a:solidFill>
            <a:prstDash val="solid"/>
            <a:round/>
            <a:headEnd type="none" w="sm" len="sm"/>
            <a:tailEnd type="triangle" w="med" len="med"/>
          </a:ln>
        </p:spPr>
      </p:cxnSp>
      <p:cxnSp>
        <p:nvCxnSpPr>
          <p:cNvPr id="322" name="Google Shape;291;p40"/>
          <p:cNvCxnSpPr/>
          <p:nvPr/>
        </p:nvCxnSpPr>
        <p:spPr>
          <a:xfrm xmlns:a="http://schemas.openxmlformats.org/drawingml/2006/main">
            <a:off x="2944117" y="2156192"/>
            <a:ext cx="458400" cy="0"/>
          </a:xfrm>
          <a:prstGeom xmlns:a="http://schemas.openxmlformats.org/drawingml/2006/main" prst="straightConnector1">
            <a:avLst/>
          </a:prstGeom>
          <a:ln xmlns:a="http://schemas.openxmlformats.org/drawingml/2006/main" w="9525" cap="flat">
            <a:solidFill>
              <a:srgbClr val="6AA84F"/>
            </a:solidFill>
            <a:prstDash val="solid"/>
            <a:round/>
            <a:headEnd type="none" w="sm" len="sm"/>
            <a:tailEnd type="triangle" w="med" len="med"/>
          </a:ln>
        </p:spPr>
      </p:cxnSp>
      <p:cxnSp>
        <p:nvCxnSpPr>
          <p:cNvPr id="323" name="Google Shape;292;p40"/>
          <p:cNvCxnSpPr/>
          <p:nvPr/>
        </p:nvCxnSpPr>
        <p:spPr>
          <a:xfrm xmlns:a="http://schemas.openxmlformats.org/drawingml/2006/main">
            <a:off x="2944117" y="2719792"/>
            <a:ext cx="458400" cy="0"/>
          </a:xfrm>
          <a:prstGeom xmlns:a="http://schemas.openxmlformats.org/drawingml/2006/main" prst="straightConnector1">
            <a:avLst/>
          </a:prstGeom>
          <a:ln xmlns:a="http://schemas.openxmlformats.org/drawingml/2006/main" w="9525" cap="flat">
            <a:solidFill>
              <a:srgbClr val="6AA84F"/>
            </a:solidFill>
            <a:prstDash val="solid"/>
            <a:round/>
            <a:headEnd type="none" w="sm" len="sm"/>
            <a:tailEnd type="triangle" w="med" len="med"/>
          </a:ln>
        </p:spPr>
      </p:cxnSp>
      <p:cxnSp>
        <p:nvCxnSpPr>
          <p:cNvPr id="324" name="Google Shape;293;p40"/>
          <p:cNvCxnSpPr/>
          <p:nvPr/>
        </p:nvCxnSpPr>
        <p:spPr>
          <a:xfrm xmlns:a="http://schemas.openxmlformats.org/drawingml/2006/main">
            <a:off x="2944117" y="3278117"/>
            <a:ext cx="458400" cy="0"/>
          </a:xfrm>
          <a:prstGeom xmlns:a="http://schemas.openxmlformats.org/drawingml/2006/main" prst="straightConnector1">
            <a:avLst/>
          </a:prstGeom>
          <a:ln xmlns:a="http://schemas.openxmlformats.org/drawingml/2006/main" w="9525" cap="flat">
            <a:solidFill>
              <a:srgbClr val="6AA84F"/>
            </a:solidFill>
            <a:prstDash val="solid"/>
            <a:round/>
            <a:headEnd type="none" w="sm" len="sm"/>
            <a:tailEnd type="triangle" w="med" len="med"/>
          </a:ln>
        </p:spPr>
      </p:cxnSp>
      <p:cxnSp>
        <p:nvCxnSpPr>
          <p:cNvPr id="325" name="Google Shape;294;p40"/>
          <p:cNvCxnSpPr/>
          <p:nvPr/>
        </p:nvCxnSpPr>
        <p:spPr>
          <a:xfrm xmlns:a="http://schemas.openxmlformats.org/drawingml/2006/main">
            <a:off x="2944117" y="3836442"/>
            <a:ext cx="458400" cy="0"/>
          </a:xfrm>
          <a:prstGeom xmlns:a="http://schemas.openxmlformats.org/drawingml/2006/main" prst="straightConnector1">
            <a:avLst/>
          </a:prstGeom>
          <a:ln xmlns:a="http://schemas.openxmlformats.org/drawingml/2006/main" w="9525" cap="flat">
            <a:solidFill>
              <a:srgbClr val="6AA84F"/>
            </a:solidFill>
            <a:prstDash val="solid"/>
            <a:round/>
            <a:headEnd type="none" w="sm" len="sm"/>
            <a:tailEnd type="triangle" w="med" len="med"/>
          </a:ln>
        </p:spPr>
      </p:cxnSp>
      <p:cxnSp>
        <p:nvCxnSpPr>
          <p:cNvPr id="326" name="Google Shape;295;p40"/>
          <p:cNvCxnSpPr/>
          <p:nvPr/>
        </p:nvCxnSpPr>
        <p:spPr>
          <a:xfrm xmlns:a="http://schemas.openxmlformats.org/drawingml/2006/main">
            <a:off x="2944117" y="4394767"/>
            <a:ext cx="458400" cy="0"/>
          </a:xfrm>
          <a:prstGeom xmlns:a="http://schemas.openxmlformats.org/drawingml/2006/main" prst="straightConnector1">
            <a:avLst/>
          </a:prstGeom>
          <a:ln xmlns:a="http://schemas.openxmlformats.org/drawingml/2006/main" w="9525" cap="flat">
            <a:solidFill>
              <a:srgbClr val="6AA84F"/>
            </a:solidFill>
            <a:prstDash val="solid"/>
            <a:round/>
            <a:headEnd type="none" w="sm" len="sm"/>
            <a:tailEnd type="triangle" w="med" len="med"/>
          </a:ln>
        </p:spPr>
      </p:cxnSp>
      <p:sp>
        <p:nvSpPr>
          <p:cNvPr id="296" name="Google Shape;296;p40">
            <a:extLst xmlns:a="http://schemas.openxmlformats.org/drawingml/2006/main">
              <a:ext uri="{FF2B5EF4-FFF2-40B4-BE49-F238E27FC236}">
                <a16:creationId xmlns:a16="http://schemas.microsoft.com/office/drawing/2014/main" id="{304F563B-E095-4A96-B9DD-AA6ECA704314}"/>
              </a:ext>
            </a:extLst>
          </p:cNvPr>
          <p:cNvSpPr>
            <a:spLocks xmlns:a="http://schemas.openxmlformats.org/drawingml/2006/main" noGrp="1"/>
          </p:cNvSpPr>
          <p:nvPr/>
        </p:nvSpPr>
        <p:spPr>
          <a:xfrm xmlns:a="http://schemas.openxmlformats.org/drawingml/2006/main">
            <a:off x="333375" y="397674"/>
            <a:ext cx="8528700" cy="6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dk1"/>
              </a:buClr>
              <a:buSzPts val="1100"/>
              <a:buFont typeface="Arial"/>
              <a:buNone/>
            </a:pPr>
            <a:r>
              <a:rPr sz="3300" b="1">
                <a:solidFill>
                  <a:srgbClr val="16324F"/>
                </a:solidFill>
                <a:latin typeface="Arial"/>
                <a:ea typeface="Arial"/>
                <a:cs typeface="Arial"/>
              </a:rPr>
              <a:t>Security Risks — </a:t>
            </a:r>
            <a:r>
              <a:rPr sz="3300" b="1">
                <a:solidFill>
                  <a:srgbClr val="2A9D8F"/>
                </a:solidFill>
                <a:latin typeface="Arial"/>
                <a:ea typeface="Arial"/>
                <a:cs typeface="Arial"/>
              </a:rPr>
              <a:t>Mitigation</a:t>
            </a:r>
          </a:p>
        </p:txBody>
      </p:sp>
    </p:spTree>
    <p:extLst>
      <p:ext uri="{BB962C8B-B14F-4D97-AF65-F5344CB8AC3E}">
        <p14:creationId xmlns:p14="http://schemas.microsoft.com/office/powerpoint/2010/main" val="198959977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02" name="Google Shape;302;p41">
            <a:extLst xmlns:a="http://schemas.openxmlformats.org/drawingml/2006/main">
              <a:ext uri="{FF2B5EF4-FFF2-40B4-BE49-F238E27FC236}">
                <a16:creationId xmlns:a16="http://schemas.microsoft.com/office/drawing/2014/main" id="{0F54B9C8-C427-42BE-8271-7D6BA5B7355F}"/>
              </a:ext>
            </a:extLst>
          </p:cNvPr>
          <p:cNvSpPr>
            <a:spLocks xmlns:a="http://schemas.openxmlformats.org/drawingml/2006/main" noGrp="1"/>
          </p:cNvSpPr>
          <p:nvPr>
            <p:ph type="ctrTitle" idx="0"/>
          </p:nvPr>
        </p:nvSpPr>
        <p:spPr>
          <a:xfrm xmlns:a="http://schemas.openxmlformats.org/drawingml/2006/main">
            <a:off x="445371" y="1146826"/>
            <a:ext cx="50637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p xmlns:a="http://schemas.openxmlformats.org/drawingml/2006/main">
            <a:pPr marL="0" lvl="0" indent="0" algn="l">
              <a:lnSpc>
                <a:spcPct val="100000"/>
              </a:lnSpc>
              <a:spcBef>
                <a:spcPts val="0"/>
              </a:spcBef>
              <a:spcAft>
                <a:spcPts val="0"/>
              </a:spcAft>
              <a:buSzPts val="5200"/>
              <a:buNone/>
            </a:pPr>
            <a:r>
              <a:rPr sz="1400" b="1">
                <a:solidFill>
                  <a:srgbClr val="2A9D8F"/>
                </a:solidFill>
                <a:latin typeface="Arial"/>
                <a:ea typeface="Arial"/>
                <a:cs typeface="Arial"/>
              </a:rPr>
              <a:t>Show the current or traditional user experience:</a:t>
            </a:r>
          </a:p>
        </p:txBody>
      </p:sp>
      <p:sp>
        <p:nvSpPr>
          <p:cNvPr id="303" name="Google Shape;303;p41">
            <a:extLst xmlns:a="http://schemas.openxmlformats.org/drawingml/2006/main">
              <a:ext uri="{FF2B5EF4-FFF2-40B4-BE49-F238E27FC236}">
                <a16:creationId xmlns:a16="http://schemas.microsoft.com/office/drawing/2014/main" id="{56535495-9A85-4C03-9C5C-0E78BA8DF78A}"/>
              </a:ext>
            </a:extLst>
          </p:cNvPr>
          <p:cNvSpPr>
            <a:spLocks xmlns:a="http://schemas.openxmlformats.org/drawingml/2006/main" noGrp="1"/>
          </p:cNvSpPr>
          <p:nvPr/>
        </p:nvSpPr>
        <p:spPr>
          <a:xfrm xmlns:a="http://schemas.openxmlformats.org/drawingml/2006/main">
            <a:off x="333375" y="397674"/>
            <a:ext cx="8528700" cy="6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dk1"/>
              </a:buClr>
              <a:buSzPts val="1100"/>
              <a:buFont typeface="Arial"/>
              <a:buNone/>
            </a:pPr>
            <a:r>
              <a:rPr sz="4400" b="1">
                <a:solidFill>
                  <a:srgbClr val="16324F"/>
                </a:solidFill>
                <a:latin typeface="Arial"/>
                <a:ea typeface="Arial"/>
                <a:cs typeface="Arial"/>
              </a:rPr>
              <a:t>Innovation</a:t>
            </a:r>
          </a:p>
          <a:p xmlns:a="http://schemas.openxmlformats.org/drawingml/2006/main">
            <a:pPr marL="0" marR="0" lvl="0" indent="0" algn="l">
              <a:spcBef>
                <a:spcPts val="0"/>
              </a:spcBef>
              <a:spcAft>
                <a:spcPts val="0"/>
              </a:spcAft>
              <a:buClr>
                <a:schemeClr val="dk1"/>
              </a:buClr>
              <a:buSzPts val="1100"/>
              <a:buFont typeface="Arial"/>
              <a:buNone/>
            </a:pPr>
            <a:r>
              <a:t/>
            </a:r>
          </a:p>
        </p:txBody>
      </p:sp>
      <p:sp>
        <p:nvSpPr>
          <p:cNvPr id="304" name="Google Shape;304;p41">
            <a:extLst xmlns:a="http://schemas.openxmlformats.org/drawingml/2006/main">
              <a:ext uri="{FF2B5EF4-FFF2-40B4-BE49-F238E27FC236}">
                <a16:creationId xmlns:a16="http://schemas.microsoft.com/office/drawing/2014/main" id="{EBD1E79D-72CF-4202-BD6B-B64F3332FB29}"/>
              </a:ext>
            </a:extLst>
          </p:cNvPr>
          <p:cNvSpPr>
            <a:spLocks xmlns:a="http://schemas.openxmlformats.org/drawingml/2006/main" noGrp="1"/>
          </p:cNvSpPr>
          <p:nvPr/>
        </p:nvSpPr>
        <p:spPr>
          <a:xfrm xmlns:a="http://schemas.openxmlformats.org/drawingml/2006/main">
            <a:off x="523875" y="1809750"/>
            <a:ext cx="2381250" cy="2571750"/>
          </a:xfrm>
          <a:prstGeom xmlns:a="http://schemas.openxmlformats.org/drawingml/2006/main" prst="roundRect">
            <a:avLst>
              <a:gd name="adj" fmla="val 7200"/>
            </a:avLst>
          </a:prstGeom>
          <a:solidFill xmlns:a="http://schemas.openxmlformats.org/drawingml/2006/main">
            <a:srgbClr val="EAF3F8"/>
          </a:solidFill>
          <a:ln xmlns:a="http://schemas.openxmlformats.org/drawingml/2006/main" w="9525" cmpd="sng">
            <a:solidFill>
              <a:srgbClr val="D8E6EF"/>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01  CURRENT STEP</a:t>
            </a:r>
          </a:p>
          <a:p xmlns:a="http://schemas.openxmlformats.org/drawingml/2006/main">
            <a:pPr marL="0" marR="0" lvl="0" indent="0" algn="l">
              <a:spcBef>
                <a:spcPts val="26"/>
              </a:spcBef>
              <a:spcAft>
                <a:spcPts val="0"/>
              </a:spcAft>
              <a:buNone/>
            </a:pPr>
            <a:r>
              <a:rPr sz="1100" i="1">
                <a:solidFill>
                  <a:srgbClr val="6B7C8F"/>
                </a:solidFill>
                <a:latin typeface="Arial"/>
                <a:ea typeface="Arial"/>
                <a:cs typeface="Arial"/>
              </a:rPr>
              <a:t>[Insert screenshot / image]</a:t>
            </a:r>
          </a:p>
          <a:p xmlns:a="http://schemas.openxmlformats.org/drawingml/2006/main">
            <a:pPr marL="0" marR="0" lvl="0" indent="0" algn="l">
              <a:spcBef>
                <a:spcPts val="32"/>
              </a:spcBef>
              <a:spcAft>
                <a:spcPts val="0"/>
              </a:spcAft>
              <a:buNone/>
            </a:pPr>
            <a:r>
              <a:rPr sz="1100" b="1">
                <a:solidFill>
                  <a:srgbClr val="16324F"/>
                </a:solidFill>
                <a:latin typeface="Arial"/>
                <a:ea typeface="Arial"/>
                <a:cs typeface="Arial"/>
              </a:rPr>
              <a:t>[What happens here?]</a:t>
            </a:r>
          </a:p>
          <a:p xmlns:a="http://schemas.openxmlformats.org/drawingml/2006/main">
            <a:pPr marL="0" marR="0" lvl="0" indent="0" algn="l">
              <a:spcBef>
                <a:spcPts val="12"/>
              </a:spcBef>
              <a:spcAft>
                <a:spcPts val="0"/>
              </a:spcAft>
              <a:buNone/>
            </a:pPr>
            <a:r>
              <a:rPr sz="1050">
                <a:solidFill>
                  <a:srgbClr val="475569"/>
                </a:solidFill>
                <a:latin typeface="Arial"/>
                <a:ea typeface="Arial"/>
                <a:cs typeface="Arial"/>
              </a:rPr>
              <a:t>[User pain point or limitation]</a:t>
            </a:r>
          </a:p>
        </p:txBody>
      </p:sp>
      <p:sp>
        <p:nvSpPr>
          <p:cNvPr id="305" name="Google Shape;305;p41">
            <a:extLst xmlns:a="http://schemas.openxmlformats.org/drawingml/2006/main">
              <a:ext uri="{FF2B5EF4-FFF2-40B4-BE49-F238E27FC236}">
                <a16:creationId xmlns:a16="http://schemas.microsoft.com/office/drawing/2014/main" id="{0A6309DE-DEA3-4DC6-B318-16F3283826D7}"/>
              </a:ext>
            </a:extLst>
          </p:cNvPr>
          <p:cNvSpPr>
            <a:spLocks xmlns:a="http://schemas.openxmlformats.org/drawingml/2006/main" noGrp="1"/>
          </p:cNvSpPr>
          <p:nvPr/>
        </p:nvSpPr>
        <p:spPr>
          <a:xfrm xmlns:a="http://schemas.openxmlformats.org/drawingml/2006/main">
            <a:off x="3381375" y="1809750"/>
            <a:ext cx="2381250" cy="2571750"/>
          </a:xfrm>
          <a:prstGeom xmlns:a="http://schemas.openxmlformats.org/drawingml/2006/main" prst="roundRect">
            <a:avLst>
              <a:gd name="adj" fmla="val 7200"/>
            </a:avLst>
          </a:prstGeom>
          <a:solidFill xmlns:a="http://schemas.openxmlformats.org/drawingml/2006/main">
            <a:srgbClr val="E7F5F2"/>
          </a:solidFill>
          <a:ln xmlns:a="http://schemas.openxmlformats.org/drawingml/2006/main" w="9525" cmpd="sng">
            <a:solidFill>
              <a:srgbClr val="C7E6E0"/>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02  CURRENT STEP</a:t>
            </a:r>
          </a:p>
          <a:p xmlns:a="http://schemas.openxmlformats.org/drawingml/2006/main">
            <a:pPr marL="0" marR="0" lvl="0" indent="0" algn="l">
              <a:spcBef>
                <a:spcPts val="26"/>
              </a:spcBef>
              <a:spcAft>
                <a:spcPts val="0"/>
              </a:spcAft>
              <a:buNone/>
            </a:pPr>
            <a:r>
              <a:rPr sz="1100" i="1">
                <a:solidFill>
                  <a:srgbClr val="6B7C8F"/>
                </a:solidFill>
                <a:latin typeface="Arial"/>
                <a:ea typeface="Arial"/>
                <a:cs typeface="Arial"/>
              </a:rPr>
              <a:t>[Insert screenshot / image]</a:t>
            </a:r>
          </a:p>
          <a:p xmlns:a="http://schemas.openxmlformats.org/drawingml/2006/main">
            <a:pPr marL="0" marR="0" lvl="0" indent="0" algn="l">
              <a:spcBef>
                <a:spcPts val="32"/>
              </a:spcBef>
              <a:spcAft>
                <a:spcPts val="0"/>
              </a:spcAft>
              <a:buNone/>
            </a:pPr>
            <a:r>
              <a:rPr sz="1100" b="1">
                <a:solidFill>
                  <a:srgbClr val="16324F"/>
                </a:solidFill>
                <a:latin typeface="Arial"/>
                <a:ea typeface="Arial"/>
                <a:cs typeface="Arial"/>
              </a:rPr>
              <a:t>[What happens here?]</a:t>
            </a:r>
          </a:p>
          <a:p xmlns:a="http://schemas.openxmlformats.org/drawingml/2006/main">
            <a:pPr marL="0" marR="0" lvl="0" indent="0" algn="l">
              <a:spcBef>
                <a:spcPts val="12"/>
              </a:spcBef>
              <a:spcAft>
                <a:spcPts val="0"/>
              </a:spcAft>
              <a:buNone/>
            </a:pPr>
            <a:r>
              <a:rPr sz="1050">
                <a:solidFill>
                  <a:srgbClr val="475569"/>
                </a:solidFill>
                <a:latin typeface="Arial"/>
                <a:ea typeface="Arial"/>
                <a:cs typeface="Arial"/>
              </a:rPr>
              <a:t>[User pain point or limitation]</a:t>
            </a:r>
          </a:p>
        </p:txBody>
      </p:sp>
      <p:sp>
        <p:nvSpPr>
          <p:cNvPr id="306" name="Google Shape;306;p41">
            <a:extLst xmlns:a="http://schemas.openxmlformats.org/drawingml/2006/main">
              <a:ext uri="{FF2B5EF4-FFF2-40B4-BE49-F238E27FC236}">
                <a16:creationId xmlns:a16="http://schemas.microsoft.com/office/drawing/2014/main" id="{0A42F54A-CB08-4D2A-9869-BA21BBC1B593}"/>
              </a:ext>
            </a:extLst>
          </p:cNvPr>
          <p:cNvSpPr>
            <a:spLocks xmlns:a="http://schemas.openxmlformats.org/drawingml/2006/main" noGrp="1"/>
          </p:cNvSpPr>
          <p:nvPr/>
        </p:nvSpPr>
        <p:spPr>
          <a:xfrm xmlns:a="http://schemas.openxmlformats.org/drawingml/2006/main">
            <a:off x="6238875" y="1809750"/>
            <a:ext cx="2381250" cy="2571750"/>
          </a:xfrm>
          <a:prstGeom xmlns:a="http://schemas.openxmlformats.org/drawingml/2006/main" prst="roundRect">
            <a:avLst>
              <a:gd name="adj" fmla="val 7200"/>
            </a:avLst>
          </a:prstGeom>
          <a:solidFill xmlns:a="http://schemas.openxmlformats.org/drawingml/2006/main">
            <a:srgbClr val="FFF3D6"/>
          </a:solidFill>
          <a:ln xmlns:a="http://schemas.openxmlformats.org/drawingml/2006/main" w="9525" cmpd="sng">
            <a:solidFill>
              <a:srgbClr val="F0E2B8"/>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03  CURRENT STEP</a:t>
            </a:r>
          </a:p>
          <a:p xmlns:a="http://schemas.openxmlformats.org/drawingml/2006/main">
            <a:pPr marL="0" marR="0" lvl="0" indent="0" algn="l">
              <a:spcBef>
                <a:spcPts val="26"/>
              </a:spcBef>
              <a:spcAft>
                <a:spcPts val="0"/>
              </a:spcAft>
              <a:buNone/>
            </a:pPr>
            <a:r>
              <a:rPr sz="1100" i="1">
                <a:solidFill>
                  <a:srgbClr val="6B7C8F"/>
                </a:solidFill>
                <a:latin typeface="Arial"/>
                <a:ea typeface="Arial"/>
                <a:cs typeface="Arial"/>
              </a:rPr>
              <a:t>[Insert screenshot / image]</a:t>
            </a:r>
          </a:p>
          <a:p xmlns:a="http://schemas.openxmlformats.org/drawingml/2006/main">
            <a:pPr marL="0" marR="0" lvl="0" indent="0" algn="l">
              <a:spcBef>
                <a:spcPts val="32"/>
              </a:spcBef>
              <a:spcAft>
                <a:spcPts val="0"/>
              </a:spcAft>
              <a:buNone/>
            </a:pPr>
            <a:r>
              <a:rPr sz="1100" b="1">
                <a:solidFill>
                  <a:srgbClr val="16324F"/>
                </a:solidFill>
                <a:latin typeface="Arial"/>
                <a:ea typeface="Arial"/>
                <a:cs typeface="Arial"/>
              </a:rPr>
              <a:t>[What happens here?]</a:t>
            </a:r>
          </a:p>
          <a:p xmlns:a="http://schemas.openxmlformats.org/drawingml/2006/main">
            <a:pPr marL="0" marR="0" lvl="0" indent="0" algn="l">
              <a:spcBef>
                <a:spcPts val="12"/>
              </a:spcBef>
              <a:spcAft>
                <a:spcPts val="0"/>
              </a:spcAft>
              <a:buNone/>
            </a:pPr>
            <a:r>
              <a:rPr sz="1050">
                <a:solidFill>
                  <a:srgbClr val="475569"/>
                </a:solidFill>
                <a:latin typeface="Arial"/>
                <a:ea typeface="Arial"/>
                <a:cs typeface="Arial"/>
              </a:rPr>
              <a:t>[User pain point or limitation]</a:t>
            </a:r>
          </a:p>
        </p:txBody>
      </p:sp>
    </p:spTree>
    <p:extLst>
      <p:ext uri="{BB962C8B-B14F-4D97-AF65-F5344CB8AC3E}">
        <p14:creationId xmlns:p14="http://schemas.microsoft.com/office/powerpoint/2010/main" val="51377001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12" name="Google Shape;312;p42">
            <a:extLst xmlns:a="http://schemas.openxmlformats.org/drawingml/2006/main">
              <a:ext uri="{FF2B5EF4-FFF2-40B4-BE49-F238E27FC236}">
                <a16:creationId xmlns:a16="http://schemas.microsoft.com/office/drawing/2014/main" id="{A8A6E193-5EFE-4A28-BA79-50A4FE571BC1}"/>
              </a:ext>
            </a:extLst>
          </p:cNvPr>
          <p:cNvSpPr>
            <a:spLocks xmlns:a="http://schemas.openxmlformats.org/drawingml/2006/main" noGrp="1"/>
          </p:cNvSpPr>
          <p:nvPr>
            <p:ph type="ctrTitle" idx="0"/>
          </p:nvPr>
        </p:nvSpPr>
        <p:spPr>
          <a:xfrm xmlns:a="http://schemas.openxmlformats.org/drawingml/2006/main">
            <a:off x="445371" y="1140215"/>
            <a:ext cx="50637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p xmlns:a="http://schemas.openxmlformats.org/drawingml/2006/main">
            <a:pPr marL="0" lvl="0" indent="0" algn="l">
              <a:lnSpc>
                <a:spcPct val="100000"/>
              </a:lnSpc>
              <a:spcBef>
                <a:spcPts val="0"/>
              </a:spcBef>
              <a:spcAft>
                <a:spcPts val="0"/>
              </a:spcAft>
              <a:buSzPts val="5200"/>
              <a:buNone/>
            </a:pPr>
            <a:r>
              <a:rPr sz="1400" b="1">
                <a:solidFill>
                  <a:srgbClr val="2A9D8F"/>
                </a:solidFill>
                <a:latin typeface="Arial"/>
                <a:ea typeface="Arial"/>
                <a:cs typeface="Arial"/>
              </a:rPr>
              <a:t>Show your proposed solution and added value:</a:t>
            </a:r>
          </a:p>
        </p:txBody>
      </p:sp>
      <p:sp>
        <p:nvSpPr>
          <p:cNvPr id="313" name="Google Shape;313;p42">
            <a:extLst xmlns:a="http://schemas.openxmlformats.org/drawingml/2006/main">
              <a:ext uri="{FF2B5EF4-FFF2-40B4-BE49-F238E27FC236}">
                <a16:creationId xmlns:a16="http://schemas.microsoft.com/office/drawing/2014/main" id="{DDC19303-D299-4ECE-A559-836E4536C5B0}"/>
              </a:ext>
            </a:extLst>
          </p:cNvPr>
          <p:cNvSpPr>
            <a:spLocks xmlns:a="http://schemas.openxmlformats.org/drawingml/2006/main" noGrp="1"/>
          </p:cNvSpPr>
          <p:nvPr/>
        </p:nvSpPr>
        <p:spPr>
          <a:xfrm xmlns:a="http://schemas.openxmlformats.org/drawingml/2006/main">
            <a:off x="5619750" y="1857375"/>
            <a:ext cx="3000375" cy="2476500"/>
          </a:xfrm>
          <a:prstGeom xmlns:a="http://schemas.openxmlformats.org/drawingml/2006/main" prst="roundRect">
            <a:avLst>
              <a:gd name="adj" fmla="val 6923"/>
            </a:avLst>
          </a:prstGeom>
          <a:solidFill xmlns:a="http://schemas.openxmlformats.org/drawingml/2006/main">
            <a:srgbClr val="FFFFFF"/>
          </a:solidFill>
          <a:ln xmlns:a="http://schemas.openxmlformats.org/drawingml/2006/main" w="9525" cmpd="sng">
            <a:solidFill>
              <a:srgbClr val="C7E6E0"/>
            </a:solidFill>
            <a:prstDash val="solid"/>
            <a:headEnd type="none" w="sm" len="sm"/>
            <a:tailEnd type="none" w="sm" len="sm"/>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spcBef>
                <a:spcPts val="0"/>
              </a:spcBef>
              <a:spcAft>
                <a:spcPts val="0"/>
              </a:spcAft>
              <a:buNone/>
            </a:pPr>
            <a:r>
              <a:rPr sz="1000" b="1">
                <a:solidFill>
                  <a:srgbClr val="2A9D8F"/>
                </a:solidFill>
                <a:latin typeface="Arial"/>
                <a:ea typeface="Arial"/>
                <a:cs typeface="Arial"/>
              </a:rPr>
              <a:t>ADDED VALUE</a:t>
            </a:r>
          </a:p>
          <a:p xmlns:a="http://schemas.openxmlformats.org/drawingml/2006/main">
            <a:pPr marL="0" marR="0" lvl="0" indent="0" algn="l">
              <a:spcBef>
                <a:spcPts val="20"/>
              </a:spcBef>
              <a:spcAft>
                <a:spcPts val="0"/>
              </a:spcAft>
              <a:buNone/>
            </a:pPr>
            <a:r>
              <a:rPr sz="1100" b="1">
                <a:solidFill>
                  <a:srgbClr val="16324F"/>
                </a:solidFill>
                <a:latin typeface="Arial"/>
                <a:ea typeface="Arial"/>
                <a:cs typeface="Arial"/>
              </a:rPr>
              <a:t>01   [What is new?]</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02   [How is it better for the user?]</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03   [What evidence supports the value?]</a:t>
            </a:r>
          </a:p>
          <a:p xmlns:a="http://schemas.openxmlformats.org/drawingml/2006/main">
            <a:pPr marL="0" marR="0" lvl="0" indent="0" algn="l">
              <a:spcBef>
                <a:spcPts val="18"/>
              </a:spcBef>
              <a:spcAft>
                <a:spcPts val="0"/>
              </a:spcAft>
              <a:buNone/>
            </a:pPr>
            <a:r>
              <a:rPr sz="1100">
                <a:solidFill>
                  <a:srgbClr val="16324F"/>
                </a:solidFill>
                <a:latin typeface="Arial"/>
                <a:ea typeface="Arial"/>
                <a:cs typeface="Arial"/>
              </a:rPr>
              <a:t>04   [What changes compared with today?]</a:t>
            </a:r>
          </a:p>
        </p:txBody>
      </p:sp>
      <p:sp>
        <p:nvSpPr>
          <p:cNvPr id="314" name="Google Shape;314;p42">
            <a:extLst xmlns:a="http://schemas.openxmlformats.org/drawingml/2006/main">
              <a:ext uri="{FF2B5EF4-FFF2-40B4-BE49-F238E27FC236}">
                <a16:creationId xmlns:a16="http://schemas.microsoft.com/office/drawing/2014/main" id="{DF9CC346-6EE4-4C42-955C-FCF1AB5E1C65}"/>
              </a:ext>
            </a:extLst>
          </p:cNvPr>
          <p:cNvSpPr>
            <a:spLocks xmlns:a="http://schemas.openxmlformats.org/drawingml/2006/main" noGrp="1"/>
          </p:cNvSpPr>
          <p:nvPr/>
        </p:nvSpPr>
        <p:spPr>
          <a:xfrm xmlns:a="http://schemas.openxmlformats.org/drawingml/2006/main">
            <a:off x="333375" y="397674"/>
            <a:ext cx="8528700" cy="6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dk1"/>
              </a:buClr>
              <a:buSzPts val="1100"/>
              <a:buFont typeface="Arial"/>
              <a:buNone/>
            </a:pPr>
            <a:r>
              <a:rPr sz="4400" b="1">
                <a:solidFill>
                  <a:srgbClr val="16324F"/>
                </a:solidFill>
                <a:latin typeface="Arial"/>
                <a:ea typeface="Arial"/>
                <a:cs typeface="Arial"/>
              </a:rPr>
              <a:t>Innovation</a:t>
            </a:r>
          </a:p>
          <a:p xmlns:a="http://schemas.openxmlformats.org/drawingml/2006/main">
            <a:pPr marL="0" marR="0" lvl="0" indent="0" algn="l">
              <a:spcBef>
                <a:spcPts val="0"/>
              </a:spcBef>
              <a:spcAft>
                <a:spcPts val="0"/>
              </a:spcAft>
              <a:buClr>
                <a:schemeClr val="dk1"/>
              </a:buClr>
              <a:buSzPts val="1100"/>
              <a:buFont typeface="Arial"/>
              <a:buNone/>
            </a:pPr>
            <a:r>
              <a:t/>
            </a:r>
          </a:p>
        </p:txBody>
      </p:sp>
      <p:sp>
        <p:nvSpPr>
          <p:cNvPr id="315" name="Google Shape;315;p42">
            <a:extLst xmlns:a="http://schemas.openxmlformats.org/drawingml/2006/main">
              <a:ext uri="{FF2B5EF4-FFF2-40B4-BE49-F238E27FC236}">
                <a16:creationId xmlns:a16="http://schemas.microsoft.com/office/drawing/2014/main" id="{9DD504AD-9C16-4E94-9797-578B22CE8014}"/>
              </a:ext>
            </a:extLst>
          </p:cNvPr>
          <p:cNvSpPr>
            <a:spLocks xmlns:a="http://schemas.openxmlformats.org/drawingml/2006/main" noGrp="1"/>
          </p:cNvSpPr>
          <p:nvPr/>
        </p:nvSpPr>
        <p:spPr>
          <a:xfrm xmlns:a="http://schemas.openxmlformats.org/drawingml/2006/main">
            <a:off x="523875" y="1809750"/>
            <a:ext cx="4619625" cy="2619375"/>
          </a:xfrm>
          <a:prstGeom xmlns:a="http://schemas.openxmlformats.org/drawingml/2006/main" prst="roundRect">
            <a:avLst>
              <a:gd name="adj" fmla="val 6545"/>
            </a:avLst>
          </a:prstGeom>
          <a:solidFill xmlns:a="http://schemas.openxmlformats.org/drawingml/2006/main">
            <a:srgbClr val="E7F5F2"/>
          </a:solidFill>
          <a:ln xmlns:a="http://schemas.openxmlformats.org/drawingml/2006/main" w="14275" cmpd="sng">
            <a:solidFill>
              <a:srgbClr val="C7E6E0"/>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050" b="1" i="1">
                <a:solidFill>
                  <a:srgbClr val="2A9D8F"/>
                </a:solidFill>
                <a:latin typeface="Arial"/>
                <a:ea typeface="Arial"/>
                <a:cs typeface="Arial"/>
              </a:rPr>
              <a:t>[Insert proposed solution screen(s)]</a:t>
            </a:r>
          </a:p>
        </p:txBody>
      </p:sp>
    </p:spTree>
    <p:extLst>
      <p:ext uri="{BB962C8B-B14F-4D97-AF65-F5344CB8AC3E}">
        <p14:creationId xmlns:p14="http://schemas.microsoft.com/office/powerpoint/2010/main" val="20555232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21" name="Google Shape;321;p43">
            <a:extLst xmlns:a="http://schemas.openxmlformats.org/drawingml/2006/main">
              <a:ext uri="{FF2B5EF4-FFF2-40B4-BE49-F238E27FC236}">
                <a16:creationId xmlns:a16="http://schemas.microsoft.com/office/drawing/2014/main" id="{046D4C98-1C78-4799-ACCF-56DE77737A05}"/>
              </a:ext>
            </a:extLst>
          </p:cNvPr>
          <p:cNvSpPr>
            <a:spLocks xmlns:a="http://schemas.openxmlformats.org/drawingml/2006/main" noGrp="1"/>
          </p:cNvSpPr>
          <p:nvPr>
            <p:ph type="ctrTitle" idx="0"/>
          </p:nvPr>
        </p:nvSpPr>
        <p:spPr>
          <a:xfrm xmlns:a="http://schemas.openxmlformats.org/drawingml/2006/main">
            <a:off x="311700" y="74457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fontScale="47631"/>
          </a:bodyPr>
          <a:lstStyle xmlns:a="http://schemas.openxmlformats.org/drawingml/2006/main"/>
          <a:p xmlns:a="http://schemas.openxmlformats.org/drawingml/2006/main">
            <a:pPr marL="0" lvl="0" indent="0" algn="l">
              <a:lnSpc>
                <a:spcPct val="100000"/>
              </a:lnSpc>
              <a:spcBef>
                <a:spcPts val="0"/>
              </a:spcBef>
              <a:spcAft>
                <a:spcPts val="0"/>
              </a:spcAft>
              <a:buClr>
                <a:schemeClr val="dk1"/>
              </a:buClr>
              <a:buSzPct val="49488"/>
              <a:buFont typeface="Arial"/>
              <a:buNone/>
            </a:pPr>
            <a:r>
              <a:rPr sz="4200" b="1">
                <a:solidFill>
                  <a:srgbClr val="16324F"/>
                </a:solidFill>
                <a:latin typeface="Arial"/>
                <a:ea typeface="Arial"/>
                <a:cs typeface="Arial"/>
              </a:rPr>
              <a:t>References</a:t>
            </a:r>
          </a:p>
          <a:p xmlns:a="http://schemas.openxmlformats.org/drawingml/2006/main">
            <a:pPr marL="0" lvl="0" indent="0" algn="ctr">
              <a:lnSpc>
                <a:spcPct val="100000"/>
              </a:lnSpc>
              <a:spcBef>
                <a:spcPts val="0"/>
              </a:spcBef>
              <a:spcAft>
                <a:spcPts val="0"/>
              </a:spcAft>
              <a:buSzPct val="259935"/>
              <a:buNone/>
            </a:pPr>
            <a:r>
              <a:t/>
            </a:r>
          </a:p>
        </p:txBody>
      </p:sp>
      <p:sp>
        <p:nvSpPr>
          <p:cNvPr id="322" name="Google Shape;322;p43">
            <a:extLst xmlns:a="http://schemas.openxmlformats.org/drawingml/2006/main">
              <a:ext uri="{FF2B5EF4-FFF2-40B4-BE49-F238E27FC236}">
                <a16:creationId xmlns:a16="http://schemas.microsoft.com/office/drawing/2014/main" id="{DE5599E4-9EDC-4033-994D-672D0A8BF040}"/>
              </a:ext>
            </a:extLst>
          </p:cNvPr>
          <p:cNvSpPr>
            <a:spLocks xmlns:a="http://schemas.openxmlformats.org/drawingml/2006/main" noGrp="1"/>
          </p:cNvSpPr>
          <p:nvPr>
            <p:ph type="subTitle" idx="1"/>
          </p:nvPr>
        </p:nvSpPr>
        <p:spPr>
          <a:xfrm xmlns:a="http://schemas.openxmlformats.org/drawingml/2006/main">
            <a:off x="619125" y="1666875"/>
            <a:ext cx="7858125" cy="2381250"/>
          </a:xfrm>
          <a:prstGeom xmlns:a="http://schemas.openxmlformats.org/drawingml/2006/main" prst="roundRect">
            <a:avLst>
              <a:gd name="adj" fmla="val 7200"/>
            </a:avLst>
          </a:prstGeom>
          <a:solidFill xmlns:a="http://schemas.openxmlformats.org/drawingml/2006/main">
            <a:srgbClr val="E7F5F2"/>
          </a:solidFill>
          <a:ln xmlns:a="http://schemas.openxmlformats.org/drawingml/2006/main" w="9525" cmpd="sng">
            <a:solidFill>
              <a:srgbClr val="C7E6E0"/>
            </a:solidFill>
            <a:prstDash val="solid"/>
            <a:headEnd type="none" w="sm" len="sm"/>
            <a:tailEnd type="none" w="sm" len="sm"/>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457200" lvl="0" indent="-342900" algn="ctr">
              <a:lnSpc>
                <a:spcPct val="100000"/>
              </a:lnSpc>
              <a:spcBef>
                <a:spcPts val="0"/>
              </a:spcBef>
              <a:spcAft>
                <a:spcPts val="0"/>
              </a:spcAft>
              <a:buSzPts val="2800"/>
              <a:buNone/>
            </a:pPr>
            <a:r>
              <a:rPr sz="1200" b="1">
                <a:solidFill>
                  <a:srgbClr val="2A9D8F"/>
                </a:solidFill>
                <a:latin typeface="Arial"/>
                <a:ea typeface="Arial"/>
                <a:cs typeface="Arial"/>
              </a:rPr>
              <a:t>01  Department of Statistics Malaysia (DOSM). (2025). Statistics on Causes of Death, Malaysia 2025. https://www.dosm.gov.my/portal-main/release-content/statistics-on-causes-of-death-malaysia-2025</a:t>
            </a:r>
          </a:p>
          <a:p xmlns:a="http://schemas.openxmlformats.org/drawingml/2006/main">
            <a:pPr marL="457200" lvl="0" indent="-342900" algn="ctr">
              <a:lnSpc>
                <a:spcPct val="100000"/>
              </a:lnSpc>
              <a:spcBef>
                <a:spcPts val="28"/>
              </a:spcBef>
              <a:spcAft>
                <a:spcPts val="0"/>
              </a:spcAft>
              <a:buSzPts val="2800"/>
              <a:buNone/>
            </a:pPr>
            <a:r>
              <a:rPr sz="1200" b="1">
                <a:solidFill>
                  <a:srgbClr val="2A9D8F"/>
                </a:solidFill>
                <a:latin typeface="Arial"/>
                <a:ea typeface="Arial"/>
                <a:cs typeface="Arial"/>
              </a:rPr>
              <a:t/>
            </a:r>
          </a:p>
          <a:p xmlns:a="http://schemas.openxmlformats.org/drawingml/2006/main">
            <a:pPr marL="457200" lvl="0" indent="-342900" algn="ctr">
              <a:lnSpc>
                <a:spcPct val="100000"/>
              </a:lnSpc>
              <a:spcBef>
                <a:spcPts val="28"/>
              </a:spcBef>
              <a:spcAft>
                <a:spcPts val="0"/>
              </a:spcAft>
              <a:buSzPts val="2800"/>
              <a:buNone/>
            </a:pPr>
            <a:r>
              <a:rPr sz="1200" b="1">
                <a:solidFill>
                  <a:srgbClr val="2A9D8F"/>
                </a:solidFill>
                <a:latin typeface="Arial"/>
                <a:ea typeface="Arial"/>
                <a:cs typeface="Arial"/>
              </a:rPr>
              <a:t>02  OpenDOSM. Deaths by District &amp; Sex. https://open.dosm.gov.my/data-catalogue/deaths_district_sex</a:t>
            </a:r>
          </a:p>
          <a:p xmlns:a="http://schemas.openxmlformats.org/drawingml/2006/main">
            <a:pPr marL="457200" lvl="0" indent="-342900" algn="ctr">
              <a:lnSpc>
                <a:spcPct val="100000"/>
              </a:lnSpc>
              <a:spcBef>
                <a:spcPts val="28"/>
              </a:spcBef>
              <a:spcAft>
                <a:spcPts val="0"/>
              </a:spcAft>
              <a:buSzPts val="2800"/>
              <a:buNone/>
            </a:pPr>
            <a:r>
              <a:rPr sz="1200" b="1">
                <a:solidFill>
                  <a:srgbClr val="2A9D8F"/>
                </a:solidFill>
                <a:latin typeface="Arial"/>
                <a:ea typeface="Arial"/>
                <a:cs typeface="Arial"/>
              </a:rPr>
              <a:t/>
            </a:r>
          </a:p>
          <a:p xmlns:a="http://schemas.openxmlformats.org/drawingml/2006/main">
            <a:pPr marL="457200" lvl="0" indent="-342900" algn="ctr">
              <a:lnSpc>
                <a:spcPct val="100000"/>
              </a:lnSpc>
              <a:spcBef>
                <a:spcPts val="28"/>
              </a:spcBef>
              <a:spcAft>
                <a:spcPts val="0"/>
              </a:spcAft>
              <a:buSzPts val="2800"/>
              <a:buNone/>
            </a:pPr>
            <a:r>
              <a:rPr sz="1200" b="1">
                <a:solidFill>
                  <a:srgbClr val="2A9D8F"/>
                </a:solidFill>
                <a:latin typeface="Arial"/>
                <a:ea typeface="Arial"/>
                <a:cs typeface="Arial"/>
              </a:rPr>
              <a:t>03  Kaggle datasets used in the project: cardiovascular disease, diabetes, heart failure and stroke. Source links are listed on Slide 9.</a:t>
            </a:r>
          </a:p>
        </p:txBody>
      </p:sp>
    </p:spTree>
    <p:extLst>
      <p:ext uri="{BB962C8B-B14F-4D97-AF65-F5344CB8AC3E}">
        <p14:creationId xmlns:p14="http://schemas.microsoft.com/office/powerpoint/2010/main" val="160404194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28" name="Google Shape;328;p44">
            <a:extLst xmlns:a="http://schemas.openxmlformats.org/drawingml/2006/main">
              <a:ext uri="{FF2B5EF4-FFF2-40B4-BE49-F238E27FC236}">
                <a16:creationId xmlns:a16="http://schemas.microsoft.com/office/drawing/2014/main" id="{F8D1845E-A579-482F-967D-34C0AD6FE932}"/>
              </a:ext>
            </a:extLst>
          </p:cNvPr>
          <p:cNvSpPr>
            <a:spLocks xmlns:a="http://schemas.openxmlformats.org/drawingml/2006/main" noGrp="1"/>
          </p:cNvSpPr>
          <p:nvPr/>
        </p:nvSpPr>
        <p:spPr>
          <a:xfrm xmlns:a="http://schemas.openxmlformats.org/drawingml/2006/main">
            <a:off x="1714500" y="1857375"/>
            <a:ext cx="57150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5000" b="1">
                <a:solidFill>
                  <a:srgbClr val="16324F"/>
                </a:solidFill>
                <a:latin typeface="Arial"/>
                <a:ea typeface="Arial"/>
                <a:cs typeface="Arial"/>
              </a:rPr>
              <a:t>Thank you.</a:t>
            </a:r>
          </a:p>
          <a:p xmlns:a="http://schemas.openxmlformats.org/drawingml/2006/main">
            <a:pPr marL="0" marR="0" lvl="0" indent="0" algn="ctr">
              <a:spcBef>
                <a:spcPts val="18"/>
              </a:spcBef>
              <a:spcAft>
                <a:spcPts val="0"/>
              </a:spcAft>
              <a:buNone/>
            </a:pPr>
            <a:r>
              <a:rPr sz="1600" b="1">
                <a:solidFill>
                  <a:srgbClr val="2A9D8F"/>
                </a:solidFill>
                <a:latin typeface="Arial"/>
                <a:ea typeface="Arial"/>
                <a:cs typeface="Arial"/>
              </a:rPr>
              <a:t>Questions &amp; discussion</a:t>
            </a:r>
          </a:p>
        </p:txBody>
      </p:sp>
    </p:spTree>
    <p:extLst>
      <p:ext uri="{BB962C8B-B14F-4D97-AF65-F5344CB8AC3E}">
        <p14:creationId xmlns:p14="http://schemas.microsoft.com/office/powerpoint/2010/main" val="152322164"/>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2026-08-02T06:45:53.4090000Z</dcterms:created>
  <dcterms:modified xsi:type="dcterms:W3CDTF">2026-08-02T06:45:53.4090000Z</dcterms:modified>
</coreProperties>
</file>