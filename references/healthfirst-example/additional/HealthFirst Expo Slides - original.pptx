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11" Type="http://schemas.openxmlformats.org/officeDocument/2006/relationships/slide" Target="slides/slide5.xml"/><Relationship Id="rId22" Type="http://schemas.openxmlformats.org/officeDocument/2006/relationships/font" Target="fonts/PlusJakartaSans-italic.fntdata"/><Relationship Id="rId10" Type="http://schemas.openxmlformats.org/officeDocument/2006/relationships/slide" Target="slides/slide4.xml"/><Relationship Id="rId21" Type="http://schemas.openxmlformats.org/officeDocument/2006/relationships/font" Target="fonts/PlusJakarta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1ea29a25_2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f61ea29a25_2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105" name="Google Shape;105;g3f61ea29a25_2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20cf8ae1_8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620cf8ae1_8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620cf8ae1_8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20cf8ae1_8_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620cf8ae1_8_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620cf8ae1_8_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e2e486e1_1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f6e2e486e1_1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f6e2e486e1_1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e2e486e1_7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6e2e486e1_7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6e2e486e1_7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b8f390124_2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8b8f390124_2_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8b8f390124_2_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e2e486e1_2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6e2e486e1_2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6e2e486e1_2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6e2e486e1_22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6e2e486e1_2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6e2e486e1_2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6e2e486e1_2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6e2e486e1_22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6287d2718_6_2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f6287d2718_6_2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6287d2718_6_2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61ea29a25_2_1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g3f61ea29a25_2_1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350" name="Google Shape;350;g3f61ea29a25_2_1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61ea29a25_2_2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3f61ea29a25_2_2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357" name="Google Shape;357;g3f61ea29a25_2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0" name="Google Shape;100;p2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ealthfirst-team04-frontend.onrender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/>
          <p:nvPr/>
        </p:nvSpPr>
        <p:spPr>
          <a:xfrm>
            <a:off x="4982843" y="1397588"/>
            <a:ext cx="3443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4000"/>
              <a:buFont typeface="Arial"/>
              <a:buNone/>
            </a:pPr>
            <a:r>
              <a:rPr b="1" lang="en-GB" sz="4000">
                <a:solidFill>
                  <a:srgbClr val="0F766E"/>
                </a:solidFill>
              </a:rPr>
              <a:t>HealthFirst</a:t>
            </a:r>
            <a:endParaRPr>
              <a:solidFill>
                <a:srgbClr val="0F766E"/>
              </a:solidFill>
            </a:endParaRPr>
          </a:p>
        </p:txBody>
      </p:sp>
      <p:sp>
        <p:nvSpPr>
          <p:cNvPr id="108" name="Google Shape;108;p29"/>
          <p:cNvSpPr/>
          <p:nvPr/>
        </p:nvSpPr>
        <p:spPr>
          <a:xfrm>
            <a:off x="4982843" y="850529"/>
            <a:ext cx="34434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100"/>
              <a:buFont typeface="Arial"/>
              <a:buNone/>
            </a:pPr>
            <a:r>
              <a:rPr b="1" lang="en-GB" sz="2100">
                <a:solidFill>
                  <a:srgbClr val="6B6B6B"/>
                </a:solidFill>
              </a:rPr>
              <a:t>TM04 </a:t>
            </a:r>
            <a:r>
              <a:rPr b="1" i="0" lang="en-GB" sz="2100" u="none" cap="none">
                <a:solidFill>
                  <a:srgbClr val="6B6B6B"/>
                </a:solidFill>
              </a:rPr>
              <a:t>Onboarding Project</a:t>
            </a:r>
            <a:endParaRPr b="1">
              <a:solidFill>
                <a:srgbClr val="6B6B6B"/>
              </a:solidFill>
            </a:endParaRPr>
          </a:p>
        </p:txBody>
      </p:sp>
      <p:sp>
        <p:nvSpPr>
          <p:cNvPr id="109" name="Google Shape;109;p29"/>
          <p:cNvSpPr/>
          <p:nvPr/>
        </p:nvSpPr>
        <p:spPr>
          <a:xfrm>
            <a:off x="4982843" y="430795"/>
            <a:ext cx="3443400" cy="1077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29"/>
          <p:cNvSpPr/>
          <p:nvPr/>
        </p:nvSpPr>
        <p:spPr>
          <a:xfrm>
            <a:off x="4982855" y="2571750"/>
            <a:ext cx="35466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</a:rPr>
              <a:t>Huang Guan</a:t>
            </a:r>
            <a:r>
              <a:rPr lang="en-GB" sz="1600">
                <a:solidFill>
                  <a:srgbClr val="0F766E"/>
                </a:solidFill>
              </a:rPr>
              <a:t> - Project Manager</a:t>
            </a:r>
            <a:endParaRPr sz="1600">
              <a:solidFill>
                <a:srgbClr val="0F76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</a:rPr>
              <a:t>Hnin Darli - </a:t>
            </a:r>
            <a:r>
              <a:rPr lang="en-GB" sz="1600">
                <a:solidFill>
                  <a:srgbClr val="0F766E"/>
                </a:solidFill>
              </a:rPr>
              <a:t>Data Analyst</a:t>
            </a:r>
            <a:endParaRPr sz="1600">
              <a:solidFill>
                <a:srgbClr val="0F76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</a:rPr>
              <a:t>Qian Jiang</a:t>
            </a:r>
            <a:r>
              <a:rPr lang="en-GB" sz="1600">
                <a:solidFill>
                  <a:srgbClr val="0F766E"/>
                </a:solidFill>
              </a:rPr>
              <a:t> - UI/UX / Frontend</a:t>
            </a:r>
            <a:endParaRPr sz="1600">
              <a:solidFill>
                <a:srgbClr val="0F76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</a:rPr>
              <a:t>LiHanXia</a:t>
            </a:r>
            <a:r>
              <a:rPr lang="en-GB" sz="1600">
                <a:solidFill>
                  <a:srgbClr val="0F766E"/>
                </a:solidFill>
              </a:rPr>
              <a:t> - Backend</a:t>
            </a:r>
            <a:endParaRPr sz="1600">
              <a:solidFill>
                <a:srgbClr val="0F76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</a:rPr>
              <a:t>Keith Junn Chong </a:t>
            </a:r>
            <a:r>
              <a:rPr lang="en-GB" sz="1600">
                <a:solidFill>
                  <a:srgbClr val="0F766E"/>
                </a:solidFill>
              </a:rPr>
              <a:t>- Database</a:t>
            </a:r>
            <a:endParaRPr sz="1600">
              <a:solidFill>
                <a:srgbClr val="0F766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</a:rPr>
              <a:t>Benshuai </a:t>
            </a:r>
            <a:r>
              <a:rPr lang="en-GB" sz="1600">
                <a:solidFill>
                  <a:srgbClr val="0F766E"/>
                </a:solidFill>
              </a:rPr>
              <a:t>- AI / LLM</a:t>
            </a:r>
            <a:endParaRPr sz="1600">
              <a:solidFill>
                <a:srgbClr val="0F76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F766E"/>
              </a:solidFill>
            </a:endParaRPr>
          </a:p>
        </p:txBody>
      </p:sp>
      <p:pic>
        <p:nvPicPr>
          <p:cNvPr id="111" name="Google Shape;111;p29" title="healthfirst-cover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08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480060" y="342900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lang="en-GB" sz="1200">
                <a:solidFill>
                  <a:srgbClr val="0F766E"/>
                </a:solidFill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0"/>
          <p:cNvSpPr/>
          <p:nvPr/>
        </p:nvSpPr>
        <p:spPr>
          <a:xfrm>
            <a:off x="480060" y="582930"/>
            <a:ext cx="81610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Calibri"/>
              <a:buNone/>
            </a:pP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Middle-</a:t>
            </a: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ged Malaysians </a:t>
            </a: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omplete </a:t>
            </a: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ealth </a:t>
            </a: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creenings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300"/>
              <a:buFont typeface="Calibri"/>
              <a:buNone/>
            </a:pP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BUT C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annot </a:t>
            </a: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ct on the </a:t>
            </a:r>
            <a:r>
              <a:rPr b="1" lang="en-GB" sz="2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en-GB" sz="2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esults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0"/>
          <p:cNvSpPr/>
          <p:nvPr/>
        </p:nvSpPr>
        <p:spPr>
          <a:xfrm>
            <a:off x="480060" y="1533678"/>
            <a:ext cx="23316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5000"/>
              <a:buFont typeface="Calibri"/>
              <a:buNone/>
            </a:pPr>
            <a:r>
              <a:rPr b="1" i="0" lang="en-GB" sz="5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 in 2</a:t>
            </a:r>
            <a:endParaRPr b="0" i="0" sz="51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0"/>
          <p:cNvSpPr/>
          <p:nvPr/>
        </p:nvSpPr>
        <p:spPr>
          <a:xfrm>
            <a:off x="480050" y="2356645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GB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Malaysian adults with </a:t>
            </a:r>
            <a:r>
              <a:rPr b="1" i="0" lang="en-GB" sz="1300" u="none" cap="none" strike="noStrike">
                <a:solidFill>
                  <a:srgbClr val="0F766E"/>
                </a:solidFill>
                <a:highlight>
                  <a:srgbClr val="CCFBF1"/>
                </a:highlight>
                <a:latin typeface="Calibri"/>
                <a:ea typeface="Calibri"/>
                <a:cs typeface="Calibri"/>
                <a:sym typeface="Calibri"/>
              </a:rPr>
              <a:t>high cholesterol</a:t>
            </a:r>
            <a:r>
              <a:rPr b="0" i="0" lang="en-GB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do not know they have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0"/>
          <p:cNvSpPr/>
          <p:nvPr/>
        </p:nvSpPr>
        <p:spPr>
          <a:xfrm>
            <a:off x="480049" y="3076720"/>
            <a:ext cx="259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800"/>
              <a:buFont typeface="Calibri"/>
              <a:buNone/>
            </a:pPr>
            <a:r>
              <a:rPr b="0" i="0" lang="en-GB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NHMS 2023, Ministry of Health Malaysia</a:t>
            </a:r>
            <a:endParaRPr b="0" i="0" sz="12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800"/>
              <a:buFont typeface="Calibri"/>
              <a:buNone/>
            </a:pPr>
            <a:r>
              <a:t/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0"/>
          <p:cNvSpPr/>
          <p:nvPr/>
        </p:nvSpPr>
        <p:spPr>
          <a:xfrm>
            <a:off x="3886872" y="1827021"/>
            <a:ext cx="109800" cy="1098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F766E"/>
              </a:solidFill>
            </a:endParaRPr>
          </a:p>
        </p:txBody>
      </p:sp>
      <p:sp>
        <p:nvSpPr>
          <p:cNvPr id="123" name="Google Shape;123;p30"/>
          <p:cNvSpPr/>
          <p:nvPr/>
        </p:nvSpPr>
        <p:spPr>
          <a:xfrm>
            <a:off x="4126902" y="1751583"/>
            <a:ext cx="480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400"/>
              <a:buFont typeface="Calibri"/>
              <a:buNone/>
            </a:pPr>
            <a:r>
              <a:rPr b="1" i="0" lang="en-GB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Written for doctors, not patients</a:t>
            </a:r>
            <a:endParaRPr b="0" i="0" sz="16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0"/>
          <p:cNvSpPr/>
          <p:nvPr/>
        </p:nvSpPr>
        <p:spPr>
          <a:xfrm>
            <a:off x="4126902" y="2012187"/>
            <a:ext cx="480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GB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Reports list values and ranges, not meaning</a:t>
            </a:r>
            <a:endParaRPr b="0" i="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0"/>
          <p:cNvSpPr/>
          <p:nvPr/>
        </p:nvSpPr>
        <p:spPr>
          <a:xfrm>
            <a:off x="3886872" y="2673463"/>
            <a:ext cx="109800" cy="1098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F766E"/>
              </a:solidFill>
            </a:endParaRPr>
          </a:p>
        </p:txBody>
      </p:sp>
      <p:sp>
        <p:nvSpPr>
          <p:cNvPr id="126" name="Google Shape;126;p30"/>
          <p:cNvSpPr/>
          <p:nvPr/>
        </p:nvSpPr>
        <p:spPr>
          <a:xfrm>
            <a:off x="4126902" y="2598025"/>
            <a:ext cx="480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400"/>
              <a:buFont typeface="Calibri"/>
              <a:buNone/>
            </a:pPr>
            <a:r>
              <a:rPr b="1" i="0" lang="en-GB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Statistics feel distant</a:t>
            </a:r>
            <a:endParaRPr b="0" i="0" sz="16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0"/>
          <p:cNvSpPr/>
          <p:nvPr/>
        </p:nvSpPr>
        <p:spPr>
          <a:xfrm>
            <a:off x="4126902" y="2858629"/>
            <a:ext cx="480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GB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National data describes populations, not people</a:t>
            </a:r>
            <a:endParaRPr b="0" i="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0"/>
          <p:cNvSpPr/>
          <p:nvPr/>
        </p:nvSpPr>
        <p:spPr>
          <a:xfrm>
            <a:off x="3886872" y="3481027"/>
            <a:ext cx="109800" cy="1098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F766E"/>
              </a:solidFill>
            </a:endParaRPr>
          </a:p>
        </p:txBody>
      </p:sp>
      <p:sp>
        <p:nvSpPr>
          <p:cNvPr id="129" name="Google Shape;129;p30"/>
          <p:cNvSpPr/>
          <p:nvPr/>
        </p:nvSpPr>
        <p:spPr>
          <a:xfrm>
            <a:off x="4126907" y="3523535"/>
            <a:ext cx="480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 effort does not last</a:t>
            </a:r>
            <a:endParaRPr b="1" sz="1600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400"/>
              <a:buFont typeface="Calibri"/>
              <a:buNone/>
            </a:pPr>
            <a:r>
              <a:t/>
            </a:r>
            <a:endParaRPr b="1" sz="1600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/>
          <p:nvPr/>
        </p:nvSpPr>
        <p:spPr>
          <a:xfrm>
            <a:off x="4126902" y="3712495"/>
            <a:ext cx="4800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They search, join a gym, watch their diet — then it fades</a:t>
            </a:r>
            <a:endParaRPr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square with white text and a heart and pulse&#10;&#10;AI-generated content may be incorrect."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7401" y="0"/>
            <a:ext cx="1296600" cy="13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/>
          <p:nvPr/>
        </p:nvSpPr>
        <p:spPr>
          <a:xfrm>
            <a:off x="480047" y="3344725"/>
            <a:ext cx="31017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5000"/>
              <a:buFont typeface="Calibri"/>
              <a:buNone/>
            </a:pPr>
            <a:r>
              <a:rPr b="1" i="0" lang="en-GB" sz="5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GB" sz="51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3%  </a:t>
            </a:r>
            <a:r>
              <a:rPr b="1" lang="en-GB" sz="16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Ischaemic Heart Disease</a:t>
            </a:r>
            <a:endParaRPr b="0" i="0" sz="16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480050" y="42426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Top 1 Principal Cause of Death</a:t>
            </a:r>
            <a:endParaRPr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/>
          <p:nvPr/>
        </p:nvSpPr>
        <p:spPr>
          <a:xfrm>
            <a:off x="480060" y="288036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lang="en-GB" sz="1200">
                <a:solidFill>
                  <a:srgbClr val="0F766E"/>
                </a:solidFill>
              </a:rPr>
              <a:t>User Persona</a:t>
            </a:r>
            <a:endParaRPr i="0" sz="11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1"/>
          <p:cNvSpPr/>
          <p:nvPr/>
        </p:nvSpPr>
        <p:spPr>
          <a:xfrm>
            <a:off x="480060" y="500634"/>
            <a:ext cx="5006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user: has the numbers, not the meaning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1"/>
          <p:cNvSpPr/>
          <p:nvPr/>
        </p:nvSpPr>
        <p:spPr>
          <a:xfrm>
            <a:off x="5726430" y="308610"/>
            <a:ext cx="2914650" cy="788670"/>
          </a:xfrm>
          <a:prstGeom prst="roundRect">
            <a:avLst>
              <a:gd fmla="val 8696" name="adj"/>
            </a:avLst>
          </a:prstGeom>
          <a:solidFill>
            <a:srgbClr val="CCFBF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1"/>
          <p:cNvSpPr/>
          <p:nvPr/>
        </p:nvSpPr>
        <p:spPr>
          <a:xfrm>
            <a:off x="5863590" y="377190"/>
            <a:ext cx="264033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“The doctor went through everything, </a:t>
            </a:r>
            <a:r>
              <a:rPr b="1" i="0" lang="en-GB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but there was too much to remember.</a:t>
            </a:r>
            <a:r>
              <a:rPr b="0" i="1" lang="en-GB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I have the report — </a:t>
            </a:r>
            <a:r>
              <a:rPr b="1" i="0" lang="en-GB" sz="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 just don’t know what to do with it.”</a:t>
            </a:r>
            <a:endParaRPr b="0" i="0" sz="9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1"/>
          <p:cNvSpPr/>
          <p:nvPr/>
        </p:nvSpPr>
        <p:spPr>
          <a:xfrm>
            <a:off x="480060" y="1062990"/>
            <a:ext cx="2434590" cy="3669030"/>
          </a:xfrm>
          <a:prstGeom prst="rect">
            <a:avLst/>
          </a:prstGeom>
          <a:solidFill>
            <a:srgbClr val="29686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651510" y="1155202"/>
            <a:ext cx="209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Screened but </a:t>
            </a: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nsupported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m.png" id="145" name="Google Shape;14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434" y="1426464"/>
            <a:ext cx="1028700" cy="102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6" name="Google Shape;146;p31"/>
          <p:cNvSpPr/>
          <p:nvPr/>
        </p:nvSpPr>
        <p:spPr>
          <a:xfrm>
            <a:off x="651510" y="2592324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 Wei Jian, 48, Kuala Lumpur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651510" y="2852928"/>
            <a:ext cx="209169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Operations manager, married, two teenage children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Rarely exercises, eats irregularly, sleeps late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 completed his company’s annual screening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Cannot recall what the doctor explained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Char char="•"/>
            </a:pPr>
            <a:r>
              <a:rPr b="0" i="0" lang="en-GB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Friends his age recently diagnosed with heart disease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3257550" y="1110996"/>
            <a:ext cx="54178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Frustrations</a:t>
            </a:r>
            <a:endParaRPr b="0" i="0" sz="16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1"/>
          <p:cNvSpPr/>
          <p:nvPr/>
        </p:nvSpPr>
        <p:spPr>
          <a:xfrm>
            <a:off x="3257550" y="1440180"/>
            <a:ext cx="205740" cy="205740"/>
          </a:xfrm>
          <a:prstGeom prst="ellipse">
            <a:avLst/>
          </a:prstGeom>
          <a:solidFill>
            <a:srgbClr val="E6F1F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766E"/>
              </a:solidFill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3257550" y="1440180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3566097" y="1368214"/>
            <a:ext cx="510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Cannot tell which numbers on the report matter, or which ones may require further attention.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3257550" y="2002536"/>
            <a:ext cx="205740" cy="205740"/>
          </a:xfrm>
          <a:prstGeom prst="ellipse">
            <a:avLst/>
          </a:prstGeom>
          <a:solidFill>
            <a:srgbClr val="E6F1F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766E"/>
              </a:solidFill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3257550" y="2002536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1"/>
          <p:cNvSpPr/>
          <p:nvPr/>
        </p:nvSpPr>
        <p:spPr>
          <a:xfrm>
            <a:off x="3566135" y="1865420"/>
            <a:ext cx="510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Searching online and asking friends returns scattered, conflicting answers.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3257550" y="2564892"/>
            <a:ext cx="205740" cy="205740"/>
          </a:xfrm>
          <a:prstGeom prst="ellipse">
            <a:avLst/>
          </a:prstGeom>
          <a:solidFill>
            <a:srgbClr val="E6F1F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766E"/>
              </a:solidFill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3257550" y="2564892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1"/>
          <p:cNvSpPr/>
          <p:nvPr/>
        </p:nvSpPr>
        <p:spPr>
          <a:xfrm>
            <a:off x="3566110" y="2512601"/>
            <a:ext cx="510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National statistics feel distant — “heart disease is the leading cause of death, but what does that mean for me?”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1"/>
          <p:cNvSpPr/>
          <p:nvPr/>
        </p:nvSpPr>
        <p:spPr>
          <a:xfrm>
            <a:off x="3257550" y="3236976"/>
            <a:ext cx="54178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Motivations</a:t>
            </a:r>
            <a:endParaRPr b="0" i="0" sz="16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1"/>
          <p:cNvSpPr/>
          <p:nvPr/>
        </p:nvSpPr>
        <p:spPr>
          <a:xfrm>
            <a:off x="3257550" y="3566160"/>
            <a:ext cx="205740" cy="205740"/>
          </a:xfrm>
          <a:prstGeom prst="ellipse">
            <a:avLst/>
          </a:prstGeom>
          <a:solidFill>
            <a:srgbClr val="E6F1F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766E"/>
              </a:solidFill>
            </a:endParaRPr>
          </a:p>
        </p:txBody>
      </p:sp>
      <p:sp>
        <p:nvSpPr>
          <p:cNvPr id="160" name="Google Shape;160;p31"/>
          <p:cNvSpPr/>
          <p:nvPr/>
        </p:nvSpPr>
        <p:spPr>
          <a:xfrm>
            <a:off x="3257550" y="3566160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3566222" y="3514719"/>
            <a:ext cx="510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Staying well enough to enjoy retirement with his family, without becoming dependent on others.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1"/>
          <p:cNvSpPr/>
          <p:nvPr/>
        </p:nvSpPr>
        <p:spPr>
          <a:xfrm>
            <a:off x="3257550" y="4128516"/>
            <a:ext cx="205740" cy="205740"/>
          </a:xfrm>
          <a:prstGeom prst="ellipse">
            <a:avLst/>
          </a:prstGeom>
          <a:solidFill>
            <a:srgbClr val="E6F1F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766E"/>
              </a:solidFill>
            </a:endParaRPr>
          </a:p>
        </p:txBody>
      </p:sp>
      <p:sp>
        <p:nvSpPr>
          <p:cNvPr id="163" name="Google Shape;163;p31"/>
          <p:cNvSpPr/>
          <p:nvPr/>
        </p:nvSpPr>
        <p:spPr>
          <a:xfrm>
            <a:off x="3257550" y="4128516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rgbClr val="0F766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1"/>
          <p:cNvSpPr/>
          <p:nvPr/>
        </p:nvSpPr>
        <p:spPr>
          <a:xfrm>
            <a:off x="3566222" y="3991388"/>
            <a:ext cx="5109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 finally has real numbers in hand and wants to use them before problems appear.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/>
          <p:nvPr/>
        </p:nvSpPr>
        <p:spPr>
          <a:xfrm>
            <a:off x="425196" y="417717"/>
            <a:ext cx="274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lang="en-GB" sz="1200">
                <a:solidFill>
                  <a:srgbClr val="0F766E"/>
                </a:solidFill>
              </a:rPr>
              <a:t>Empathy Map</a:t>
            </a:r>
            <a:endParaRPr b="0" i="0" sz="1100" u="none" cap="none" strike="noStrike">
              <a:solidFill>
                <a:srgbClr val="2968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425196" y="630801"/>
            <a:ext cx="5760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Mr Lim, in the weeks after his annual screening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1836" y="233172"/>
            <a:ext cx="884682" cy="884682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3" name="Google Shape;173;p32"/>
          <p:cNvSpPr/>
          <p:nvPr/>
        </p:nvSpPr>
        <p:spPr>
          <a:xfrm>
            <a:off x="5212080" y="384048"/>
            <a:ext cx="24688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800"/>
              <a:buFont typeface="Calibri"/>
              <a:buNone/>
            </a:pPr>
            <a:r>
              <a:rPr b="1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Mr Lim Wei Jian, 48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8A81"/>
              </a:buClr>
              <a:buSzPts val="800"/>
              <a:buFont typeface="Calibri"/>
              <a:buNone/>
            </a:pPr>
            <a:r>
              <a:rPr b="0" i="0" lang="en-GB" sz="1000" u="none" cap="none" strike="noStrike">
                <a:solidFill>
                  <a:srgbClr val="6E8A81"/>
                </a:solidFill>
                <a:latin typeface="Calibri"/>
                <a:ea typeface="Calibri"/>
                <a:cs typeface="Calibri"/>
                <a:sym typeface="Calibri"/>
              </a:rPr>
              <a:t>Operations manager, Kuala Lumpur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8A81"/>
              </a:buClr>
              <a:buSzPts val="800"/>
              <a:buFont typeface="Calibri"/>
              <a:buNone/>
            </a:pPr>
            <a:r>
              <a:rPr b="0" i="0" lang="en-GB" sz="1000" u="none" cap="none" strike="noStrike">
                <a:solidFill>
                  <a:srgbClr val="6E8A81"/>
                </a:solidFill>
                <a:latin typeface="Calibri"/>
                <a:ea typeface="Calibri"/>
                <a:cs typeface="Calibri"/>
                <a:sym typeface="Calibri"/>
              </a:rPr>
              <a:t>Two teenage children · rarely exercises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2"/>
          <p:cNvSpPr/>
          <p:nvPr/>
        </p:nvSpPr>
        <p:spPr>
          <a:xfrm>
            <a:off x="425200" y="1234450"/>
            <a:ext cx="50226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2900"/>
              <a:buFont typeface="Calibri"/>
              <a:buNone/>
            </a:pPr>
            <a:r>
              <a:rPr b="1" i="0" lang="en-GB" sz="29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“I don’t know</a:t>
            </a:r>
            <a:r>
              <a:rPr lang="en-GB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29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where to start.”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5692140" y="1275588"/>
            <a:ext cx="3024300" cy="973800"/>
          </a:xfrm>
          <a:prstGeom prst="roundRect">
            <a:avLst>
              <a:gd fmla="val 3521" name="adj"/>
            </a:avLst>
          </a:prstGeom>
          <a:solidFill>
            <a:srgbClr val="FFFFFF"/>
          </a:solidFill>
          <a:ln cap="flat" cmpd="sng" w="12700">
            <a:solidFill>
              <a:srgbClr val="CF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5884164" y="1412748"/>
            <a:ext cx="274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700"/>
              <a:buFont typeface="Calibri"/>
              <a:buNone/>
            </a:pPr>
            <a:r>
              <a:rPr b="1" lang="en-GB" sz="1200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WHAT WE WANT FOR HIM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2"/>
          <p:cNvSpPr/>
          <p:nvPr/>
        </p:nvSpPr>
        <p:spPr>
          <a:xfrm>
            <a:off x="5884164" y="1604772"/>
            <a:ext cx="26746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900"/>
              <a:buFont typeface="Calibri"/>
              <a:buNone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Understand which results need his attention — and take one appropriate next step.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2"/>
          <p:cNvSpPr/>
          <p:nvPr/>
        </p:nvSpPr>
        <p:spPr>
          <a:xfrm>
            <a:off x="425196" y="2510028"/>
            <a:ext cx="1939614" cy="1138428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12700">
            <a:solidFill>
              <a:srgbClr val="CF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9" name="Google Shape;17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" y="267462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2"/>
          <p:cNvSpPr/>
          <p:nvPr/>
        </p:nvSpPr>
        <p:spPr>
          <a:xfrm>
            <a:off x="809244" y="2647188"/>
            <a:ext cx="139097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SEE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603500" y="2907800"/>
            <a:ext cx="176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Numbers flagged in 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Search results that contradict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Peers watching their health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2"/>
          <p:cNvSpPr/>
          <p:nvPr/>
        </p:nvSpPr>
        <p:spPr>
          <a:xfrm>
            <a:off x="2543118" y="2510028"/>
            <a:ext cx="1939614" cy="1138428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12700">
            <a:solidFill>
              <a:srgbClr val="CF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3" name="Google Shape;18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1426" y="267462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/>
          <p:nvPr/>
        </p:nvSpPr>
        <p:spPr>
          <a:xfrm>
            <a:off x="2927166" y="2647188"/>
            <a:ext cx="139097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SAY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2721375" y="2907800"/>
            <a:ext cx="176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“I’m fine, nothing serious”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Honest with his wife about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2"/>
          <p:cNvSpPr/>
          <p:nvPr/>
        </p:nvSpPr>
        <p:spPr>
          <a:xfrm>
            <a:off x="4661040" y="2510028"/>
            <a:ext cx="1939614" cy="1138428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12700">
            <a:solidFill>
              <a:srgbClr val="CF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7" name="Google Shape;18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9348" y="267462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/>
          <p:nvPr/>
        </p:nvSpPr>
        <p:spPr>
          <a:xfrm>
            <a:off x="5045088" y="2647188"/>
            <a:ext cx="139097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4839348" y="2888931"/>
            <a:ext cx="15831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Searches his values online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Supplements, gym, diet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lang="en-GB" sz="1000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Then attempts</a:t>
            </a: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 fade</a:t>
            </a:r>
            <a:r>
              <a:rPr lang="en-GB" sz="1000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 slowly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6778961" y="2510028"/>
            <a:ext cx="1939614" cy="1138428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12700">
            <a:solidFill>
              <a:srgbClr val="CF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1" name="Google Shape;19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7269" y="2674620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/>
          <p:nvPr/>
        </p:nvSpPr>
        <p:spPr>
          <a:xfrm>
            <a:off x="7163009" y="2647188"/>
            <a:ext cx="139097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b="1" i="0" lang="en-GB" sz="12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HEAR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6957269" y="2907792"/>
            <a:ext cx="1582998" cy="644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Doctor: “keep an eye on it”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Everyone else: eat better, exercise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2"/>
          <p:cNvSpPr/>
          <p:nvPr/>
        </p:nvSpPr>
        <p:spPr>
          <a:xfrm>
            <a:off x="425200" y="3813050"/>
            <a:ext cx="3922800" cy="1027200"/>
          </a:xfrm>
          <a:prstGeom prst="roundRect">
            <a:avLst>
              <a:gd fmla="val 3623" name="adj"/>
            </a:avLst>
          </a:prstGeom>
          <a:solidFill>
            <a:srgbClr val="FFFFFF"/>
          </a:solidFill>
          <a:ln cap="flat" cmpd="sng" w="12700">
            <a:solidFill>
              <a:srgbClr val="CF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504" y="3977640"/>
            <a:ext cx="130302" cy="13030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/>
          <p:nvPr/>
        </p:nvSpPr>
        <p:spPr>
          <a:xfrm>
            <a:off x="802386" y="3950208"/>
            <a:ext cx="205740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b="1" lang="en-GB" sz="1200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r>
              <a:rPr b="1" lang="en-GB" sz="1200">
                <a:solidFill>
                  <a:srgbClr val="6E8A8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200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PAINS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603504" y="4210812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Doesn’t know which numbers matter</a:t>
            </a:r>
            <a:endParaRPr sz="1000">
              <a:solidFill>
                <a:srgbClr val="1035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More anxious after the screening than before it</a:t>
            </a:r>
            <a:endParaRPr sz="1000">
              <a:solidFill>
                <a:srgbClr val="1035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0352F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10352F"/>
                </a:solidFill>
                <a:latin typeface="Calibri"/>
                <a:ea typeface="Calibri"/>
                <a:cs typeface="Calibri"/>
                <a:sym typeface="Calibri"/>
              </a:rPr>
              <a:t>No symptoms, so the urgency fades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4380787" y="4101084"/>
            <a:ext cx="42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6CD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BFD6C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4855464" y="3813048"/>
            <a:ext cx="3863111" cy="946404"/>
          </a:xfrm>
          <a:prstGeom prst="roundRect">
            <a:avLst>
              <a:gd fmla="val 3623" name="adj"/>
            </a:avLst>
          </a:prstGeom>
          <a:solidFill>
            <a:srgbClr val="EDF7F3"/>
          </a:solidFill>
          <a:ln cap="flat" cmpd="sng" w="12700">
            <a:solidFill>
              <a:srgbClr val="A9C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33772" y="3977640"/>
            <a:ext cx="130302" cy="13030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/>
          <p:nvPr/>
        </p:nvSpPr>
        <p:spPr>
          <a:xfrm>
            <a:off x="5232654" y="3950208"/>
            <a:ext cx="274320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B5E"/>
              </a:buClr>
              <a:buSzPts val="800"/>
              <a:buFont typeface="Calibri"/>
              <a:buNone/>
            </a:pPr>
            <a:r>
              <a:rPr b="1" lang="en-GB" sz="1200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GAINS </a:t>
            </a:r>
            <a:r>
              <a:rPr b="1" i="0" lang="en-GB" sz="1200" u="none" cap="none" strike="noStrike">
                <a:solidFill>
                  <a:srgbClr val="1D6B5E"/>
                </a:solidFill>
                <a:latin typeface="Calibri"/>
                <a:ea typeface="Calibri"/>
                <a:cs typeface="Calibri"/>
                <a:sym typeface="Calibri"/>
              </a:rPr>
              <a:t>WITH HEALTHFIRST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5033772" y="4210812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F3B33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F3B33"/>
                </a:solidFill>
                <a:latin typeface="Calibri"/>
                <a:ea typeface="Calibri"/>
                <a:cs typeface="Calibri"/>
                <a:sym typeface="Calibri"/>
              </a:rPr>
              <a:t>Knows which results need attention</a:t>
            </a:r>
            <a:endParaRPr sz="1000">
              <a:solidFill>
                <a:srgbClr val="0F3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F3B33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F3B33"/>
                </a:solidFill>
                <a:latin typeface="Calibri"/>
                <a:ea typeface="Calibri"/>
                <a:cs typeface="Calibri"/>
                <a:sym typeface="Calibri"/>
              </a:rPr>
              <a:t>A few clear, prioritised next steps</a:t>
            </a:r>
            <a:endParaRPr sz="1000">
              <a:solidFill>
                <a:srgbClr val="0F3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5500" lvl="0" marL="1800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F3B33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F3B33"/>
                </a:solidFill>
                <a:latin typeface="Calibri"/>
                <a:ea typeface="Calibri"/>
                <a:cs typeface="Calibri"/>
                <a:sym typeface="Calibri"/>
              </a:rPr>
              <a:t>Stays well enough to enjoy retirement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/>
          <p:nvPr/>
        </p:nvSpPr>
        <p:spPr>
          <a:xfrm>
            <a:off x="329175" y="4309988"/>
            <a:ext cx="5720400" cy="744600"/>
          </a:xfrm>
          <a:prstGeom prst="roundRect">
            <a:avLst>
              <a:gd fmla="val 7619" name="adj"/>
            </a:avLst>
          </a:prstGeom>
          <a:solidFill>
            <a:srgbClr val="EDF7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/>
          <p:nvPr/>
        </p:nvSpPr>
        <p:spPr>
          <a:xfrm>
            <a:off x="2558553" y="4649134"/>
            <a:ext cx="702300" cy="310800"/>
          </a:xfrm>
          <a:prstGeom prst="roundRect">
            <a:avLst>
              <a:gd fmla="val 50000" name="adj"/>
            </a:avLst>
          </a:prstGeom>
          <a:solidFill>
            <a:srgbClr val="2A6862"/>
          </a:solidFill>
          <a:ln cap="flat" cmpd="sng" w="9525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/>
          <p:nvPr/>
        </p:nvSpPr>
        <p:spPr>
          <a:xfrm>
            <a:off x="3370541" y="4649134"/>
            <a:ext cx="844800" cy="310800"/>
          </a:xfrm>
          <a:prstGeom prst="roundRect">
            <a:avLst>
              <a:gd fmla="val 50000" name="adj"/>
            </a:avLst>
          </a:prstGeom>
          <a:solidFill>
            <a:srgbClr val="2A6862"/>
          </a:solidFill>
          <a:ln cap="flat" cmpd="sng" w="9525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/>
          <p:nvPr/>
        </p:nvSpPr>
        <p:spPr>
          <a:xfrm>
            <a:off x="4325174" y="4649134"/>
            <a:ext cx="1201500" cy="310800"/>
          </a:xfrm>
          <a:prstGeom prst="roundRect">
            <a:avLst>
              <a:gd fmla="val 50000" name="adj"/>
            </a:avLst>
          </a:prstGeom>
          <a:solidFill>
            <a:srgbClr val="2A6862"/>
          </a:solidFill>
          <a:ln cap="flat" cmpd="sng" w="9525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3"/>
          <p:cNvSpPr/>
          <p:nvPr/>
        </p:nvSpPr>
        <p:spPr>
          <a:xfrm>
            <a:off x="4325174" y="4649134"/>
            <a:ext cx="1201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900"/>
              <a:buFont typeface="Plus Jakarta Sans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Heart failure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/>
          <p:nvPr/>
        </p:nvSpPr>
        <p:spPr>
          <a:xfrm>
            <a:off x="2558553" y="4649134"/>
            <a:ext cx="702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900"/>
              <a:buFont typeface="Plus Jakarta Sans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Stroke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3370541" y="4649134"/>
            <a:ext cx="84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900"/>
              <a:buFont typeface="Plus Jakarta Sans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Diabetes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605395" y="4649134"/>
            <a:ext cx="1843500" cy="310800"/>
          </a:xfrm>
          <a:prstGeom prst="roundRect">
            <a:avLst>
              <a:gd fmla="val 50000" name="adj"/>
            </a:avLst>
          </a:prstGeom>
          <a:solidFill>
            <a:srgbClr val="2A6862"/>
          </a:solidFill>
          <a:ln cap="flat" cmpd="sng" w="9525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3"/>
          <p:cNvSpPr/>
          <p:nvPr/>
        </p:nvSpPr>
        <p:spPr>
          <a:xfrm>
            <a:off x="329184" y="256032"/>
            <a:ext cx="8485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3"/>
          <p:cNvSpPr/>
          <p:nvPr/>
        </p:nvSpPr>
        <p:spPr>
          <a:xfrm>
            <a:off x="329184" y="475488"/>
            <a:ext cx="8485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900"/>
              <a:buFont typeface="Arial"/>
              <a:buNone/>
            </a:pPr>
            <a:r>
              <a:rPr b="1" i="0" lang="en-GB" sz="190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HealthFirst:</a:t>
            </a:r>
            <a:r>
              <a:rPr b="1" lang="en-GB" sz="1500">
                <a:solidFill>
                  <a:srgbClr val="6B7C8F"/>
                </a:solidFill>
              </a:rPr>
              <a:t> makes your screening numbers mean something — and worth acting 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3"/>
          <p:cNvSpPr/>
          <p:nvPr/>
        </p:nvSpPr>
        <p:spPr>
          <a:xfrm>
            <a:off x="329184" y="1042416"/>
            <a:ext cx="1965960" cy="29260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"/>
          <p:cNvSpPr/>
          <p:nvPr/>
        </p:nvSpPr>
        <p:spPr>
          <a:xfrm>
            <a:off x="329184" y="1042416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3"/>
          <p:cNvSpPr/>
          <p:nvPr/>
        </p:nvSpPr>
        <p:spPr>
          <a:xfrm>
            <a:off x="2761488" y="1042416"/>
            <a:ext cx="6053328" cy="2926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3"/>
          <p:cNvSpPr/>
          <p:nvPr/>
        </p:nvSpPr>
        <p:spPr>
          <a:xfrm>
            <a:off x="2761488" y="1042416"/>
            <a:ext cx="6053328" cy="292608"/>
          </a:xfrm>
          <a:prstGeom prst="rect">
            <a:avLst/>
          </a:prstGeom>
          <a:solidFill>
            <a:srgbClr val="296862"/>
          </a:solidFill>
          <a:ln cap="flat" cmpd="sng" w="9525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3"/>
          <p:cNvSpPr/>
          <p:nvPr/>
        </p:nvSpPr>
        <p:spPr>
          <a:xfrm>
            <a:off x="329184" y="164592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Written for doctors, not patients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329184" y="2075680"/>
            <a:ext cx="196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GB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Reports list values and ranges, not meaning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2377440" y="1619608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Arial"/>
              <a:buNone/>
            </a:pPr>
            <a:r>
              <a:rPr b="1" i="0" lang="en-GB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2770625" y="1638532"/>
            <a:ext cx="2761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Personalised health insights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2761501" y="2011680"/>
            <a:ext cx="276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i="0" lang="en-GB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Transform confirmed health information into understandable personalised insights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329184" y="2573828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Statistics feel distant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3"/>
          <p:cNvSpPr/>
          <p:nvPr/>
        </p:nvSpPr>
        <p:spPr>
          <a:xfrm>
            <a:off x="329184" y="2913670"/>
            <a:ext cx="196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GB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National data describes populations, not people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2377440" y="2631715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Arial"/>
              <a:buNone/>
            </a:pPr>
            <a:r>
              <a:rPr b="1" i="0" lang="en-GB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2761488" y="2573828"/>
            <a:ext cx="276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Malaysian health context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2761488" y="2913670"/>
            <a:ext cx="276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i="0" lang="en-GB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Connect relevant findings with Malaysian health statistics so users understand why it matters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329184" y="3471754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effort does not last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329184" y="3828972"/>
            <a:ext cx="196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i="0" lang="en-GB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They search, join a gym, watch their diet — then it fades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2377440" y="3515049"/>
            <a:ext cx="31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Arial"/>
              <a:buNone/>
            </a:pPr>
            <a:r>
              <a:rPr b="1" i="0" lang="en-GB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2770625" y="3535802"/>
            <a:ext cx="276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GB" sz="13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Prioritised preventive action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2761503" y="3828975"/>
            <a:ext cx="337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i="0" lang="en-GB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Clear, relevant and prioritised preventive actions, and when professional follow-up may be appropriate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325" y="1554500"/>
            <a:ext cx="2324275" cy="161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9600" y="2146575"/>
            <a:ext cx="2324275" cy="161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8075" y="2635500"/>
            <a:ext cx="2016926" cy="227211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/>
          <p:nvPr/>
        </p:nvSpPr>
        <p:spPr>
          <a:xfrm>
            <a:off x="605395" y="4649134"/>
            <a:ext cx="1843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900"/>
              <a:buFont typeface="Plus Jakarta Sans"/>
              <a:buNone/>
            </a:pPr>
            <a:r>
              <a:rPr b="1" i="0" lang="en-GB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Cardiovascular disease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704052" y="4376150"/>
            <a:ext cx="481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750"/>
              <a:buFont typeface="Plus Jakarta Sans"/>
              <a:buNone/>
            </a:pPr>
            <a:r>
              <a:rPr b="1" i="0" lang="en-GB" sz="1200" u="none" cap="none" strike="noStrike">
                <a:solidFill>
                  <a:srgbClr val="296862"/>
                </a:solidFill>
                <a:latin typeface="Calibri"/>
                <a:ea typeface="Calibri"/>
                <a:cs typeface="Calibri"/>
                <a:sym typeface="Calibri"/>
              </a:rPr>
              <a:t>4 MAIN HEALTH FOCUS</a:t>
            </a:r>
            <a:endParaRPr i="0" sz="1200" u="none" cap="none" strike="noStrike">
              <a:solidFill>
                <a:srgbClr val="2968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/>
          <p:nvPr/>
        </p:nvSpPr>
        <p:spPr>
          <a:xfrm>
            <a:off x="502920" y="384048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725"/>
              </a:buClr>
              <a:buSzPts val="2100"/>
              <a:buFont typeface="Plus Jakarta Sans"/>
              <a:buNone/>
            </a:pPr>
            <a:r>
              <a:rPr b="1" i="0" lang="en-GB" sz="2100" u="none" cap="none" strike="noStrike">
                <a:solidFill>
                  <a:srgbClr val="11172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Epics and User Stories for the Build-up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/>
          <p:nvPr/>
        </p:nvSpPr>
        <p:spPr>
          <a:xfrm>
            <a:off x="502920" y="1174333"/>
            <a:ext cx="2517600" cy="3227700"/>
          </a:xfrm>
          <a:prstGeom prst="roundRect">
            <a:avLst>
              <a:gd fmla="val 2906" name="adj"/>
            </a:avLst>
          </a:prstGeom>
          <a:solidFill>
            <a:srgbClr val="F0FCF3"/>
          </a:solidFill>
          <a:ln cap="flat" cmpd="sng" w="12700">
            <a:solidFill>
              <a:srgbClr val="F0FC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2A686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4"/>
          <p:cNvSpPr/>
          <p:nvPr/>
        </p:nvSpPr>
        <p:spPr>
          <a:xfrm>
            <a:off x="502920" y="1174333"/>
            <a:ext cx="2517600" cy="960000"/>
          </a:xfrm>
          <a:prstGeom prst="roundRect">
            <a:avLst>
              <a:gd fmla="val 7619" name="adj"/>
            </a:avLst>
          </a:prstGeom>
          <a:solidFill>
            <a:srgbClr val="296862"/>
          </a:solidFill>
          <a:ln cap="flat" cmpd="sng" w="12700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502920" y="2024725"/>
            <a:ext cx="2517600" cy="109800"/>
          </a:xfrm>
          <a:prstGeom prst="rect">
            <a:avLst/>
          </a:prstGeom>
          <a:solidFill>
            <a:srgbClr val="296862"/>
          </a:solidFill>
          <a:ln cap="flat" cmpd="sng" w="12700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667512" y="1293205"/>
            <a:ext cx="218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C6BF"/>
              </a:buClr>
              <a:buSzPts val="750"/>
              <a:buFont typeface="Plus Jakarta Sans"/>
              <a:buNone/>
            </a:pPr>
            <a:r>
              <a:rPr b="1" i="0" lang="en-GB" sz="750" u="none" cap="none" strike="noStrike">
                <a:solidFill>
                  <a:srgbClr val="9CC6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EPIC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667512" y="1466941"/>
            <a:ext cx="2188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Plus Jakarta Sans"/>
              <a:buNone/>
            </a:pPr>
            <a:r>
              <a:rPr b="1" i="0" lang="en-GB" sz="1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Difficulty Understanding Health Screening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667512" y="2299045"/>
            <a:ext cx="218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800"/>
              <a:buFont typeface="Plus Jakarta Sans"/>
              <a:buNone/>
            </a:pPr>
            <a:r>
              <a:rPr b="1" i="0" lang="en-GB" sz="80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 1.1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667512" y="2472781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1050"/>
              <a:buFont typeface="Plus Jakarta Sans"/>
              <a:buNone/>
            </a:pPr>
            <a:r>
              <a:rPr b="1" i="0" lang="en-GB" sz="1050" u="none" cap="none" strike="noStrike">
                <a:solidFill>
                  <a:srgbClr val="2968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Health Screening Information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667512" y="3030565"/>
            <a:ext cx="2188500" cy="11100"/>
          </a:xfrm>
          <a:prstGeom prst="rect">
            <a:avLst/>
          </a:prstGeom>
          <a:solidFill>
            <a:srgbClr val="CFE5DF"/>
          </a:solidFill>
          <a:ln cap="flat" cmpd="sng" w="12700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667512" y="3268309"/>
            <a:ext cx="218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800"/>
              <a:buFont typeface="Plus Jakarta Sans"/>
              <a:buNone/>
            </a:pPr>
            <a:r>
              <a:rPr b="1" i="0" lang="en-GB" sz="80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 1.2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667512" y="3442045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1050"/>
              <a:buFont typeface="Plus Jakarta Sans"/>
              <a:buNone/>
            </a:pPr>
            <a:r>
              <a:rPr b="1" i="0" lang="en-GB" sz="1050" u="none" cap="none" strike="noStrike">
                <a:solidFill>
                  <a:srgbClr val="2968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and Confirm Health Information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667512" y="4072981"/>
            <a:ext cx="218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750"/>
              <a:buFont typeface="Plus Jakarta Sans"/>
              <a:buNone/>
            </a:pPr>
            <a:r>
              <a:rPr b="1" i="0" lang="en-GB" sz="75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MUST HAVE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3313176" y="1174333"/>
            <a:ext cx="2517600" cy="3227700"/>
          </a:xfrm>
          <a:prstGeom prst="roundRect">
            <a:avLst>
              <a:gd fmla="val 2906" name="adj"/>
            </a:avLst>
          </a:prstGeom>
          <a:solidFill>
            <a:srgbClr val="F0FCF3"/>
          </a:solidFill>
          <a:ln cap="flat" cmpd="sng" w="12700">
            <a:solidFill>
              <a:srgbClr val="F0FC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2A686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4"/>
          <p:cNvSpPr/>
          <p:nvPr/>
        </p:nvSpPr>
        <p:spPr>
          <a:xfrm>
            <a:off x="3313176" y="1174333"/>
            <a:ext cx="2517600" cy="960000"/>
          </a:xfrm>
          <a:prstGeom prst="roundRect">
            <a:avLst>
              <a:gd fmla="val 7619" name="adj"/>
            </a:avLst>
          </a:prstGeom>
          <a:solidFill>
            <a:srgbClr val="296862"/>
          </a:solidFill>
          <a:ln cap="flat" cmpd="sng" w="12700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4"/>
          <p:cNvSpPr/>
          <p:nvPr/>
        </p:nvSpPr>
        <p:spPr>
          <a:xfrm>
            <a:off x="3313176" y="2024725"/>
            <a:ext cx="2517600" cy="109800"/>
          </a:xfrm>
          <a:prstGeom prst="rect">
            <a:avLst/>
          </a:prstGeom>
          <a:solidFill>
            <a:srgbClr val="296862"/>
          </a:solidFill>
          <a:ln cap="flat" cmpd="sng" w="12700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4"/>
          <p:cNvSpPr/>
          <p:nvPr/>
        </p:nvSpPr>
        <p:spPr>
          <a:xfrm>
            <a:off x="3477768" y="1293205"/>
            <a:ext cx="218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C6BF"/>
              </a:buClr>
              <a:buSzPts val="750"/>
              <a:buFont typeface="Plus Jakarta Sans"/>
              <a:buNone/>
            </a:pPr>
            <a:r>
              <a:rPr b="1" i="0" lang="en-GB" sz="750" u="none" cap="none" strike="noStrike">
                <a:solidFill>
                  <a:srgbClr val="9CC6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EPIC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3477768" y="1466941"/>
            <a:ext cx="2188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Plus Jakarta Sans"/>
              <a:buNone/>
            </a:pPr>
            <a:r>
              <a:rPr b="1" i="0" lang="en-GB" sz="1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Uncertainty of Personal Health Risks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3477768" y="2299045"/>
            <a:ext cx="218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800"/>
              <a:buFont typeface="Plus Jakarta Sans"/>
              <a:buNone/>
            </a:pPr>
            <a:r>
              <a:rPr b="1" i="0" lang="en-GB" sz="80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 2.1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3477768" y="2472781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1050"/>
              <a:buFont typeface="Plus Jakarta Sans"/>
              <a:buNone/>
            </a:pPr>
            <a:r>
              <a:rPr b="1" i="0" lang="en-GB" sz="1050" u="none" cap="none" strike="noStrike">
                <a:solidFill>
                  <a:srgbClr val="2968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 My Health Results and Risks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3477768" y="3030565"/>
            <a:ext cx="2188500" cy="11100"/>
          </a:xfrm>
          <a:prstGeom prst="rect">
            <a:avLst/>
          </a:prstGeom>
          <a:solidFill>
            <a:srgbClr val="CFE5DF"/>
          </a:solidFill>
          <a:ln cap="flat" cmpd="sng" w="12700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"/>
          <p:cNvSpPr/>
          <p:nvPr/>
        </p:nvSpPr>
        <p:spPr>
          <a:xfrm>
            <a:off x="3477768" y="3268309"/>
            <a:ext cx="218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800"/>
              <a:buFont typeface="Plus Jakarta Sans"/>
              <a:buNone/>
            </a:pPr>
            <a:r>
              <a:rPr b="1" i="0" lang="en-GB" sz="80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 2.2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3477768" y="3442045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1050"/>
              <a:buFont typeface="Plus Jakarta Sans"/>
              <a:buNone/>
            </a:pPr>
            <a:r>
              <a:rPr b="1" i="0" lang="en-GB" sz="1050" u="none" cap="none" strike="noStrike">
                <a:solidFill>
                  <a:srgbClr val="2968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 My Health in the Malaysian Context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3477768" y="4072981"/>
            <a:ext cx="218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750"/>
              <a:buFont typeface="Plus Jakarta Sans"/>
              <a:buNone/>
            </a:pPr>
            <a:r>
              <a:rPr b="1" i="0" lang="en-GB" sz="75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MUST HAVE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6123432" y="1174333"/>
            <a:ext cx="2517600" cy="3227700"/>
          </a:xfrm>
          <a:prstGeom prst="roundRect">
            <a:avLst>
              <a:gd fmla="val 2906" name="adj"/>
            </a:avLst>
          </a:prstGeom>
          <a:solidFill>
            <a:srgbClr val="F0FCF3"/>
          </a:solidFill>
          <a:ln cap="flat" cmpd="sng" w="12700">
            <a:solidFill>
              <a:srgbClr val="F0FC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2A6862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/>
          <p:nvPr/>
        </p:nvSpPr>
        <p:spPr>
          <a:xfrm>
            <a:off x="6123432" y="1174333"/>
            <a:ext cx="2517600" cy="960000"/>
          </a:xfrm>
          <a:prstGeom prst="roundRect">
            <a:avLst>
              <a:gd fmla="val 7619" name="adj"/>
            </a:avLst>
          </a:prstGeom>
          <a:solidFill>
            <a:srgbClr val="296862"/>
          </a:solidFill>
          <a:ln cap="flat" cmpd="sng" w="12700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4"/>
          <p:cNvSpPr/>
          <p:nvPr/>
        </p:nvSpPr>
        <p:spPr>
          <a:xfrm>
            <a:off x="6123432" y="2024725"/>
            <a:ext cx="2517600" cy="109800"/>
          </a:xfrm>
          <a:prstGeom prst="rect">
            <a:avLst/>
          </a:prstGeom>
          <a:solidFill>
            <a:srgbClr val="296862"/>
          </a:solidFill>
          <a:ln cap="flat" cmpd="sng" w="12700">
            <a:solidFill>
              <a:srgbClr val="296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6288024" y="1293205"/>
            <a:ext cx="218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C6BF"/>
              </a:buClr>
              <a:buSzPts val="750"/>
              <a:buFont typeface="Plus Jakarta Sans"/>
              <a:buNone/>
            </a:pPr>
            <a:r>
              <a:rPr b="1" i="0" lang="en-GB" sz="750" u="none" cap="none" strike="noStrike">
                <a:solidFill>
                  <a:srgbClr val="9CC6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EPIC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6288024" y="1466941"/>
            <a:ext cx="2188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Plus Jakarta Sans"/>
              <a:buNone/>
            </a:pPr>
            <a:r>
              <a:rPr b="1" i="0" lang="en-GB" sz="1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Uncertainty of Prioritised Preventive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6288024" y="2299045"/>
            <a:ext cx="218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800"/>
              <a:buFont typeface="Plus Jakarta Sans"/>
              <a:buNone/>
            </a:pPr>
            <a:r>
              <a:rPr b="1" i="0" lang="en-GB" sz="80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 3.1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4"/>
          <p:cNvSpPr/>
          <p:nvPr/>
        </p:nvSpPr>
        <p:spPr>
          <a:xfrm>
            <a:off x="6288024" y="2472781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1050"/>
              <a:buFont typeface="Plus Jakarta Sans"/>
              <a:buNone/>
            </a:pPr>
            <a:r>
              <a:rPr b="1" i="0" lang="en-GB" sz="1050" u="none" cap="none" strike="noStrike">
                <a:solidFill>
                  <a:srgbClr val="2968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Receive Prioritised Preventive Actions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6288024" y="3030565"/>
            <a:ext cx="2188500" cy="11100"/>
          </a:xfrm>
          <a:prstGeom prst="rect">
            <a:avLst/>
          </a:prstGeom>
          <a:solidFill>
            <a:srgbClr val="CFE5DF"/>
          </a:solidFill>
          <a:ln cap="flat" cmpd="sng" w="12700">
            <a:solidFill>
              <a:srgbClr val="CF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4"/>
          <p:cNvSpPr/>
          <p:nvPr/>
        </p:nvSpPr>
        <p:spPr>
          <a:xfrm>
            <a:off x="6288024" y="3268309"/>
            <a:ext cx="21885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800"/>
              <a:buFont typeface="Plus Jakarta Sans"/>
              <a:buNone/>
            </a:pPr>
            <a:r>
              <a:rPr b="1" i="0" lang="en-GB" sz="80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 3.2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6288024" y="3442045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96862"/>
              </a:buClr>
              <a:buSzPts val="1050"/>
              <a:buFont typeface="Plus Jakarta Sans"/>
              <a:buNone/>
            </a:pPr>
            <a:r>
              <a:rPr b="1" i="0" lang="en-GB" sz="1050" u="none" cap="none" strike="noStrike">
                <a:solidFill>
                  <a:srgbClr val="2968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 Professional Follow-Up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6288024" y="4072981"/>
            <a:ext cx="218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49C"/>
              </a:buClr>
              <a:buSzPts val="750"/>
              <a:buFont typeface="Plus Jakarta Sans"/>
              <a:buNone/>
            </a:pPr>
            <a:r>
              <a:rPr b="1" i="0" lang="en-GB" sz="750" u="none" cap="none" strike="noStrike">
                <a:solidFill>
                  <a:srgbClr val="6BA49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MUST HAVE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/>
        </p:nvSpPr>
        <p:spPr>
          <a:xfrm>
            <a:off x="233475" y="2227075"/>
            <a:ext cx="845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Link to HealthFirst : </a:t>
            </a:r>
            <a:r>
              <a:rPr b="1" lang="en-GB" sz="1800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/>
              </a:rPr>
              <a:t>click here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/>
        </p:nvSpPr>
        <p:spPr>
          <a:xfrm>
            <a:off x="233475" y="1879050"/>
            <a:ext cx="1318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1 : Enter Health Screening Values</a:t>
            </a:r>
            <a:endParaRPr sz="1100"/>
          </a:p>
        </p:txBody>
      </p:sp>
      <p:pic>
        <p:nvPicPr>
          <p:cNvPr id="291" name="Google Shape;2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187" y="0"/>
            <a:ext cx="7407790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/>
        </p:nvSpPr>
        <p:spPr>
          <a:xfrm>
            <a:off x="130398" y="1955250"/>
            <a:ext cx="1530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2 : Review and Confirmation of User Input</a:t>
            </a:r>
            <a:endParaRPr sz="1100"/>
          </a:p>
        </p:txBody>
      </p:sp>
      <p:pic>
        <p:nvPicPr>
          <p:cNvPr id="297" name="Google Shape;2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050" y="57725"/>
            <a:ext cx="73869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/>
        </p:nvSpPr>
        <p:spPr>
          <a:xfrm>
            <a:off x="328143" y="1922062"/>
            <a:ext cx="377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3 : Personalized Risk Assessment with Malaysian Population Context</a:t>
            </a:r>
            <a:endParaRPr sz="1100"/>
          </a:p>
        </p:txBody>
      </p:sp>
      <p:pic>
        <p:nvPicPr>
          <p:cNvPr id="303" name="Google Shape;3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8167" y="0"/>
            <a:ext cx="45658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8FAFC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/>
          <p:nvPr/>
        </p:nvSpPr>
        <p:spPr>
          <a:xfrm>
            <a:off x="320040" y="13716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Data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320040" y="4389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9"/>
          <p:cNvSpPr/>
          <p:nvPr/>
        </p:nvSpPr>
        <p:spPr>
          <a:xfrm>
            <a:off x="274320" y="77724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9"/>
          <p:cNvSpPr/>
          <p:nvPr/>
        </p:nvSpPr>
        <p:spPr>
          <a:xfrm>
            <a:off x="384048" y="94183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9"/>
          <p:cNvSpPr/>
          <p:nvPr/>
        </p:nvSpPr>
        <p:spPr>
          <a:xfrm>
            <a:off x="384048" y="94183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822960" y="85039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Cardiovascular Disease (70k)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822960" y="112471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BP, cholesterol, glucose, BMI — main comparison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274320" y="150876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9"/>
          <p:cNvSpPr/>
          <p:nvPr/>
        </p:nvSpPr>
        <p:spPr>
          <a:xfrm>
            <a:off x="384048" y="167335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9"/>
          <p:cNvSpPr/>
          <p:nvPr/>
        </p:nvSpPr>
        <p:spPr>
          <a:xfrm>
            <a:off x="384048" y="167335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822960" y="158191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Diabetes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822960" y="185623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BMI, HbA1c, glucose, hypertension — diabetes risk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9"/>
          <p:cNvSpPr/>
          <p:nvPr/>
        </p:nvSpPr>
        <p:spPr>
          <a:xfrm>
            <a:off x="274320" y="224028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384048" y="240487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9"/>
          <p:cNvSpPr/>
          <p:nvPr/>
        </p:nvSpPr>
        <p:spPr>
          <a:xfrm>
            <a:off x="384048" y="240487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9"/>
          <p:cNvSpPr/>
          <p:nvPr/>
        </p:nvSpPr>
        <p:spPr>
          <a:xfrm>
            <a:off x="822960" y="231343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Heart Failure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822960" y="258775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RestingBP, Cholesterol, FastingBS — heart </a:t>
            </a:r>
            <a:r>
              <a:rPr lang="en-GB" sz="1100">
                <a:solidFill>
                  <a:srgbClr val="64748B"/>
                </a:solidFill>
              </a:rPr>
              <a:t>failure risk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274320" y="297180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/>
          <p:nvPr/>
        </p:nvSpPr>
        <p:spPr>
          <a:xfrm>
            <a:off x="384048" y="313639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"/>
          <p:cNvSpPr/>
          <p:nvPr/>
        </p:nvSpPr>
        <p:spPr>
          <a:xfrm>
            <a:off x="384048" y="313639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"/>
          <p:cNvSpPr/>
          <p:nvPr/>
        </p:nvSpPr>
        <p:spPr>
          <a:xfrm>
            <a:off x="822960" y="304495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Stroke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9"/>
          <p:cNvSpPr/>
          <p:nvPr/>
        </p:nvSpPr>
        <p:spPr>
          <a:xfrm>
            <a:off x="822960" y="331927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Hypertension, glucose, BMI — </a:t>
            </a:r>
            <a:r>
              <a:rPr lang="en-GB" sz="1100">
                <a:solidFill>
                  <a:srgbClr val="64748B"/>
                </a:solidFill>
              </a:rPr>
              <a:t>stroke risk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9"/>
          <p:cNvSpPr/>
          <p:nvPr/>
        </p:nvSpPr>
        <p:spPr>
          <a:xfrm>
            <a:off x="4663440" y="77724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9"/>
          <p:cNvSpPr/>
          <p:nvPr/>
        </p:nvSpPr>
        <p:spPr>
          <a:xfrm>
            <a:off x="4773168" y="94183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9"/>
          <p:cNvSpPr/>
          <p:nvPr/>
        </p:nvSpPr>
        <p:spPr>
          <a:xfrm>
            <a:off x="4773168" y="94183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5212080" y="85039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Causes of Death Malaysia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5212080" y="112471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Official leading causes by sex &amp; ethnicity — mortality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4663440" y="150876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9"/>
          <p:cNvSpPr/>
          <p:nvPr/>
        </p:nvSpPr>
        <p:spPr>
          <a:xfrm>
            <a:off x="4773168" y="167335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9"/>
          <p:cNvSpPr/>
          <p:nvPr/>
        </p:nvSpPr>
        <p:spPr>
          <a:xfrm>
            <a:off x="4773168" y="167335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9"/>
          <p:cNvSpPr/>
          <p:nvPr/>
        </p:nvSpPr>
        <p:spPr>
          <a:xfrm>
            <a:off x="5212080" y="158191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Deaths by District &amp; Sex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5212080" y="185623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District-level death counts &amp; rates — local demographic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4663440" y="2240280"/>
            <a:ext cx="41148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9"/>
          <p:cNvSpPr/>
          <p:nvPr/>
        </p:nvSpPr>
        <p:spPr>
          <a:xfrm>
            <a:off x="4773168" y="2404872"/>
            <a:ext cx="347400" cy="329100"/>
          </a:xfrm>
          <a:prstGeom prst="roundRect">
            <a:avLst>
              <a:gd fmla="val 11111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9"/>
          <p:cNvSpPr/>
          <p:nvPr/>
        </p:nvSpPr>
        <p:spPr>
          <a:xfrm>
            <a:off x="4773168" y="2404872"/>
            <a:ext cx="34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9"/>
          <p:cNvSpPr/>
          <p:nvPr/>
        </p:nvSpPr>
        <p:spPr>
          <a:xfrm>
            <a:off x="5212080" y="231343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Annual Deaths (National)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9"/>
          <p:cNvSpPr/>
          <p:nvPr/>
        </p:nvSpPr>
        <p:spPr>
          <a:xfrm>
            <a:off x="5212080" y="258775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National death totals</a:t>
            </a:r>
            <a:r>
              <a:rPr lang="en-GB" sz="1100">
                <a:solidFill>
                  <a:srgbClr val="64748B"/>
                </a:solidFill>
              </a:rPr>
              <a:t> </a:t>
            </a:r>
            <a:r>
              <a:rPr b="0" i="0" lang="en-GB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baseline mortality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9"/>
          <p:cNvSpPr/>
          <p:nvPr/>
        </p:nvSpPr>
        <p:spPr>
          <a:xfrm>
            <a:off x="4663375" y="2971800"/>
            <a:ext cx="4114800" cy="2081400"/>
          </a:xfrm>
          <a:prstGeom prst="roundRect">
            <a:avLst>
              <a:gd fmla="val 7500" name="adj"/>
            </a:avLst>
          </a:prstGeom>
          <a:solidFill>
            <a:srgbClr val="F8FBFB"/>
          </a:solidFill>
          <a:ln cap="flat" cmpd="sng" w="14275">
            <a:solidFill>
              <a:srgbClr val="CAD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USER INPUT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Manual values (MVP); report upload/OCR pending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NORMALISED FIELDS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Blood pressure, cholesterol, glucose, BMI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CONTEXT TABLES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Approved Kaggle datasets + Malaysian mortality sources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OUTPUT</a:t>
            </a:r>
            <a:endParaRPr i="1" sz="975">
              <a:solidFill>
                <a:srgbClr val="6B7C8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75">
                <a:solidFill>
                  <a:srgbClr val="6B7C8F"/>
                </a:solidFill>
              </a:rPr>
              <a:t>Risk signal -&gt; summary -&gt; action card</a:t>
            </a:r>
            <a:endParaRPr i="1" sz="975">
              <a:solidFill>
                <a:srgbClr val="6B7C8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75">
              <a:solidFill>
                <a:srgbClr val="6B7C8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/>
          <p:nvPr>
            <p:ph idx="1" type="subTitle"/>
          </p:nvPr>
        </p:nvSpPr>
        <p:spPr>
          <a:xfrm>
            <a:off x="311700" y="1294534"/>
            <a:ext cx="8409000" cy="2381100"/>
          </a:xfrm>
          <a:prstGeom prst="roundRect">
            <a:avLst>
              <a:gd fmla="val 7200" name="adj"/>
            </a:avLst>
          </a:prstGeom>
          <a:solidFill>
            <a:srgbClr val="E7F5F2"/>
          </a:solidFill>
          <a:ln cap="flat" cmpd="sng" w="9525">
            <a:solidFill>
              <a:srgbClr val="C7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28"/>
              </a:spcBef>
              <a:spcAft>
                <a:spcPts val="0"/>
              </a:spcAft>
              <a:buClr>
                <a:srgbClr val="2A9D8F"/>
              </a:buClr>
              <a:buSzPts val="1200"/>
              <a:buChar char="●"/>
            </a:pPr>
            <a:r>
              <a:rPr b="1" lang="en-GB" sz="1200">
                <a:solidFill>
                  <a:srgbClr val="2A9D8F"/>
                </a:solidFill>
              </a:rPr>
              <a:t>Department of Statistics Malaysia (DOSM). (2025). Statistics on Causes of Death, Malaysia 2025. https://www.dosm.gov.my/portal-main/release-content/statistics-on-causes-of-death-malaysia-2025</a:t>
            </a:r>
            <a:endParaRPr b="1" sz="1200">
              <a:solidFill>
                <a:srgbClr val="2A9D8F"/>
              </a:solidFill>
            </a:endParaRPr>
          </a:p>
          <a:p>
            <a:pPr indent="0" lvl="0" marL="457200" rtl="0" algn="l">
              <a:spcBef>
                <a:spcPts val="28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A9D8F"/>
              </a:solidFill>
            </a:endParaRPr>
          </a:p>
          <a:p>
            <a:pPr indent="-304800" lvl="0" marL="457200" rtl="0" algn="l">
              <a:spcBef>
                <a:spcPts val="28"/>
              </a:spcBef>
              <a:spcAft>
                <a:spcPts val="0"/>
              </a:spcAft>
              <a:buClr>
                <a:srgbClr val="2A9D8F"/>
              </a:buClr>
              <a:buSzPts val="1200"/>
              <a:buChar char="●"/>
            </a:pPr>
            <a:r>
              <a:rPr b="1" lang="en-GB" sz="1200">
                <a:solidFill>
                  <a:srgbClr val="2A9D8F"/>
                </a:solidFill>
              </a:rPr>
              <a:t>OpenDOSM. Deaths by District &amp; Sex. https://open.dosm.gov.my/data-catalogue/deaths_district_sex</a:t>
            </a:r>
            <a:endParaRPr b="1" sz="1200">
              <a:solidFill>
                <a:srgbClr val="2A9D8F"/>
              </a:solidFill>
            </a:endParaRPr>
          </a:p>
          <a:p>
            <a:pPr indent="0" lvl="0" marL="0" rtl="0" algn="l">
              <a:spcBef>
                <a:spcPts val="28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A9D8F"/>
              </a:solidFill>
            </a:endParaRPr>
          </a:p>
          <a:p>
            <a:pPr indent="-304800" lvl="0" marL="457200" rtl="0" algn="l">
              <a:spcBef>
                <a:spcPts val="28"/>
              </a:spcBef>
              <a:spcAft>
                <a:spcPts val="0"/>
              </a:spcAft>
              <a:buClr>
                <a:srgbClr val="2A9D8F"/>
              </a:buClr>
              <a:buSzPts val="1200"/>
              <a:buChar char="●"/>
            </a:pPr>
            <a:r>
              <a:rPr b="1" lang="en-GB" sz="1200">
                <a:solidFill>
                  <a:srgbClr val="2A9D8F"/>
                </a:solidFill>
              </a:rPr>
              <a:t>Kaggle datasets used in the project: cardiovascular disease, diabetes, heart failure and stroke. </a:t>
            </a:r>
            <a:r>
              <a:rPr b="1" lang="en-GB" sz="1200">
                <a:solidFill>
                  <a:srgbClr val="2A9D8F"/>
                </a:solidFill>
              </a:rPr>
              <a:t>Dataset source links are recorded in the project notes.</a:t>
            </a:r>
            <a:endParaRPr b="1" sz="1200">
              <a:solidFill>
                <a:srgbClr val="2A9D8F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28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200">
              <a:solidFill>
                <a:srgbClr val="2A9D8F"/>
              </a:solidFill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329184" y="393192"/>
            <a:ext cx="853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16324F"/>
                </a:solidFill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/>
          <p:nvPr/>
        </p:nvSpPr>
        <p:spPr>
          <a:xfrm>
            <a:off x="1714500" y="1857375"/>
            <a:ext cx="5715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rgbClr val="16324F"/>
                </a:solidFill>
              </a:rPr>
              <a:t>THANK YOU</a:t>
            </a:r>
            <a:endParaRPr/>
          </a:p>
          <a:p>
            <a:pPr indent="0" lvl="0" marL="0" marR="0" rtl="0" algn="ctr">
              <a:spcBef>
                <a:spcPts val="18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Questions &amp; </a:t>
            </a:r>
            <a:r>
              <a:rPr b="1" lang="en-GB" sz="1600">
                <a:solidFill>
                  <a:srgbClr val="2A9D8F"/>
                </a:solidFill>
              </a:rPr>
              <a:t>D</a:t>
            </a:r>
            <a:r>
              <a:rPr b="1" lang="en-GB" sz="16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