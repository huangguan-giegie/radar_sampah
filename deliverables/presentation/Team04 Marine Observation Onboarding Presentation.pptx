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477b6cb3f94e5f" /><Relationship Type="http://schemas.openxmlformats.org/officeDocument/2006/relationships/extended-properties" Target="/docProps/app.xml" Id="Red60b217f0744476" /><Relationship Type="http://schemas.openxmlformats.org/officeDocument/2006/relationships/officeDocument" Target="/ppt/presentation.xml" Id="R6b31bf51395f43f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190240d70545bf"/>
  </p:sldMasterIdLst>
  <p:notesMasterIdLst>
    <p:notesMasterId xmlns:r="http://schemas.openxmlformats.org/officeDocument/2006/relationships" r:id="Rc4aae7bd4067419d"/>
  </p:notesMasterIdLst>
  <p:sldIdLst>
    <p:sldId xmlns:r="http://schemas.openxmlformats.org/officeDocument/2006/relationships" id="256" r:id="R7b561bb0b91a4823"/>
    <p:sldId xmlns:r="http://schemas.openxmlformats.org/officeDocument/2006/relationships" id="257" r:id="Ra0456532327746ca"/>
    <p:sldId xmlns:r="http://schemas.openxmlformats.org/officeDocument/2006/relationships" id="258" r:id="Rdd13b7d801d64222"/>
    <p:sldId xmlns:r="http://schemas.openxmlformats.org/officeDocument/2006/relationships" id="259" r:id="R2be26b10359d4ade"/>
    <p:sldId xmlns:r="http://schemas.openxmlformats.org/officeDocument/2006/relationships" id="260" r:id="R36ee38d8072c4793"/>
    <p:sldId xmlns:r="http://schemas.openxmlformats.org/officeDocument/2006/relationships" id="261" r:id="Ra21f1bf565dc4a9a"/>
    <p:sldId xmlns:r="http://schemas.openxmlformats.org/officeDocument/2006/relationships" id="262" r:id="Reb2ade9950b24ed5"/>
    <p:sldId xmlns:r="http://schemas.openxmlformats.org/officeDocument/2006/relationships" id="263" r:id="R45e4870310a14d67"/>
    <p:sldId xmlns:r="http://schemas.openxmlformats.org/officeDocument/2006/relationships" id="264" r:id="Re8ba0bfb23b147aa"/>
    <p:sldId xmlns:r="http://schemas.openxmlformats.org/officeDocument/2006/relationships" id="265" r:id="R6f574dfc1abb467b"/>
    <p:sldId xmlns:r="http://schemas.openxmlformats.org/officeDocument/2006/relationships" id="266" r:id="R73f5553519794a8d"/>
    <p:sldId xmlns:r="http://schemas.openxmlformats.org/officeDocument/2006/relationships" id="267" r:id="R63b6f1f8c8544e54"/>
    <p:sldId xmlns:r="http://schemas.openxmlformats.org/officeDocument/2006/relationships" id="268" r:id="R1adf9d6626fe48eb"/>
    <p:sldId xmlns:r="http://schemas.openxmlformats.org/officeDocument/2006/relationships" id="269" r:id="Re6206685f3c146d8"/>
    <p:sldId xmlns:r="http://schemas.openxmlformats.org/officeDocument/2006/relationships" id="270" r:id="Rbba3fc3c5c8c429e"/>
    <p:sldId xmlns:r="http://schemas.openxmlformats.org/officeDocument/2006/relationships" id="271" r:id="R78f42a03473b4513"/>
    <p:sldId xmlns:r="http://schemas.openxmlformats.org/officeDocument/2006/relationships" id="272" r:id="Rabb8cd38ad714724"/>
    <p:sldId xmlns:r="http://schemas.openxmlformats.org/officeDocument/2006/relationships" id="273" r:id="Rfa3ce33361c742f4"/>
    <p:sldId xmlns:r="http://schemas.openxmlformats.org/officeDocument/2006/relationships" id="274" r:id="R74f31a754f5c40d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1e3896112a94b35" /><Relationship Type="http://schemas.openxmlformats.org/officeDocument/2006/relationships/slideMaster" Target="/ppt/slideMasters/slideMaster1.xml" Id="R2d190240d70545bf" /><Relationship Type="http://schemas.openxmlformats.org/officeDocument/2006/relationships/notesMaster" Target="/ppt/notesMasters/notesMaster1.xml" Id="Rc4aae7bd4067419d" /><Relationship Type="http://schemas.openxmlformats.org/officeDocument/2006/relationships/presProps" Target="/ppt/presProps.xml" Id="Rd6ab89dfb1684387" /><Relationship Type="http://schemas.openxmlformats.org/officeDocument/2006/relationships/tableStyles" Target="/ppt/tableStyles.xml" Id="R5c2ff01e19a1425d" /><Relationship Type="http://schemas.openxmlformats.org/officeDocument/2006/relationships/slide" Target="/ppt/slides/slide1.xml" Id="R7b561bb0b91a4823" /><Relationship Type="http://schemas.openxmlformats.org/officeDocument/2006/relationships/slide" Target="/ppt/slides/slide2.xml" Id="Ra0456532327746ca" /><Relationship Type="http://schemas.openxmlformats.org/officeDocument/2006/relationships/slide" Target="/ppt/slides/slide3.xml" Id="Rdd13b7d801d64222" /><Relationship Type="http://schemas.openxmlformats.org/officeDocument/2006/relationships/slide" Target="/ppt/slides/slide4.xml" Id="R2be26b10359d4ade" /><Relationship Type="http://schemas.openxmlformats.org/officeDocument/2006/relationships/slide" Target="/ppt/slides/slide5.xml" Id="R36ee38d8072c4793" /><Relationship Type="http://schemas.openxmlformats.org/officeDocument/2006/relationships/slide" Target="/ppt/slides/slide6.xml" Id="Ra21f1bf565dc4a9a" /><Relationship Type="http://schemas.openxmlformats.org/officeDocument/2006/relationships/slide" Target="/ppt/slides/slide7.xml" Id="Reb2ade9950b24ed5" /><Relationship Type="http://schemas.openxmlformats.org/officeDocument/2006/relationships/slide" Target="/ppt/slides/slide8.xml" Id="R45e4870310a14d67" /><Relationship Type="http://schemas.openxmlformats.org/officeDocument/2006/relationships/slide" Target="/ppt/slides/slide9.xml" Id="Re8ba0bfb23b147aa" /><Relationship Type="http://schemas.openxmlformats.org/officeDocument/2006/relationships/slide" Target="/ppt/slides/slide10.xml" Id="R6f574dfc1abb467b" /><Relationship Type="http://schemas.openxmlformats.org/officeDocument/2006/relationships/slide" Target="/ppt/slides/slide11.xml" Id="R73f5553519794a8d" /><Relationship Type="http://schemas.openxmlformats.org/officeDocument/2006/relationships/slide" Target="/ppt/slides/slide12.xml" Id="R63b6f1f8c8544e54" /><Relationship Type="http://schemas.openxmlformats.org/officeDocument/2006/relationships/slide" Target="/ppt/slides/slide13.xml" Id="R1adf9d6626fe48eb" /><Relationship Type="http://schemas.openxmlformats.org/officeDocument/2006/relationships/slide" Target="/ppt/slides/slide14.xml" Id="Re6206685f3c146d8" /><Relationship Type="http://schemas.openxmlformats.org/officeDocument/2006/relationships/slide" Target="/ppt/slides/slide15.xml" Id="Rbba3fc3c5c8c429e" /><Relationship Type="http://schemas.openxmlformats.org/officeDocument/2006/relationships/slide" Target="/ppt/slides/slide16.xml" Id="R78f42a03473b4513" /><Relationship Type="http://schemas.openxmlformats.org/officeDocument/2006/relationships/slide" Target="/ppt/slides/slide17.xml" Id="Rabb8cd38ad714724" /><Relationship Type="http://schemas.openxmlformats.org/officeDocument/2006/relationships/slide" Target="/ppt/slides/slide18.xml" Id="Rfa3ce33361c742f4" /><Relationship Type="http://schemas.openxmlformats.org/officeDocument/2006/relationships/slide" Target="/ppt/slides/slide19.xml" Id="R74f31a754f5c40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ffd9d9065f41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91570717a04098" /><Relationship Type="http://schemas.openxmlformats.org/officeDocument/2006/relationships/notesMaster" Target="/ppt/notesMasters/notesMaster1.xml" Id="R24d1c1312f0544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609b319f5c4a40" /><Relationship Type="http://schemas.openxmlformats.org/officeDocument/2006/relationships/notesMaster" Target="/ppt/notesMasters/notesMaster1.xml" Id="Re439cb63960e47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f0b6304eecd4873" /><Relationship Type="http://schemas.openxmlformats.org/officeDocument/2006/relationships/notesMaster" Target="/ppt/notesMasters/notesMaster1.xml" Id="Rcbdb988089bc456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920a73ac534d6a" /><Relationship Type="http://schemas.openxmlformats.org/officeDocument/2006/relationships/notesMaster" Target="/ppt/notesMasters/notesMaster1.xml" Id="R35b76f0a3e9643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9be7c575c14053" /><Relationship Type="http://schemas.openxmlformats.org/officeDocument/2006/relationships/notesMaster" Target="/ppt/notesMasters/notesMaster1.xml" Id="R86fe72fc837a464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b9b01648774a43" /><Relationship Type="http://schemas.openxmlformats.org/officeDocument/2006/relationships/notesMaster" Target="/ppt/notesMasters/notesMaster1.xml" Id="Rdcadb4f50219432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4ef6a242be7477c" /><Relationship Type="http://schemas.openxmlformats.org/officeDocument/2006/relationships/notesMaster" Target="/ppt/notesMasters/notesMaster1.xml" Id="R4ce07ed0385040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796597262d4011" /><Relationship Type="http://schemas.openxmlformats.org/officeDocument/2006/relationships/notesMaster" Target="/ppt/notesMasters/notesMaster1.xml" Id="R24e2a66d1c4a4e7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7834bc2ef8443f" /><Relationship Type="http://schemas.openxmlformats.org/officeDocument/2006/relationships/notesMaster" Target="/ppt/notesMasters/notesMaster1.xml" Id="Rc9fa10e57f0946d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7d4b306745e4284" /><Relationship Type="http://schemas.openxmlformats.org/officeDocument/2006/relationships/notesMaster" Target="/ppt/notesMasters/notesMaster1.xml" Id="R92a1b4cdef92460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895cd0775f64c61" /><Relationship Type="http://schemas.openxmlformats.org/officeDocument/2006/relationships/notesMaster" Target="/ppt/notesMasters/notesMaster1.xml" Id="R5a8cb53f0ace493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11a80113d96449a" /><Relationship Type="http://schemas.openxmlformats.org/officeDocument/2006/relationships/notesMaster" Target="/ppt/notesMasters/notesMaster1.xml" Id="R1b82f9629023420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096339946994cb5" /><Relationship Type="http://schemas.openxmlformats.org/officeDocument/2006/relationships/notesMaster" Target="/ppt/notesMasters/notesMaster1.xml" Id="R1d4fc9f0166a443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9cca388c558438f" /><Relationship Type="http://schemas.openxmlformats.org/officeDocument/2006/relationships/notesMaster" Target="/ppt/notesMasters/notesMaster1.xml" Id="R4657976f411143d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0642562b70a4518" /><Relationship Type="http://schemas.openxmlformats.org/officeDocument/2006/relationships/notesMaster" Target="/ppt/notesMasters/notesMaster1.xml" Id="Ref566114a12a4ff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ea7f9127aaf41da" /><Relationship Type="http://schemas.openxmlformats.org/officeDocument/2006/relationships/notesMaster" Target="/ppt/notesMasters/notesMaster1.xml" Id="R6eddaa71b59b4e1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25ecff463e14639" /><Relationship Type="http://schemas.openxmlformats.org/officeDocument/2006/relationships/notesMaster" Target="/ppt/notesMasters/notesMaster1.xml" Id="Rd89ad12c73e443c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3fac80ce5b7403f" /><Relationship Type="http://schemas.openxmlformats.org/officeDocument/2006/relationships/notesMaster" Target="/ppt/notesMasters/notesMaster1.xml" Id="R5aeb6261f8ce4bc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7d4678e4f264c4c" /><Relationship Type="http://schemas.openxmlformats.org/officeDocument/2006/relationships/notesMaster" Target="/ppt/notesMasters/notesMaster1.xml" Id="R2d1e5f6e2a2c44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source: actual-project/docs/PROJECT_SCOPE.md and actual-project/docs/DATA_MANAGEMENT_PLAN.md.</a:t>
            </a:r>
          </a:p>
          <a:p xmlns:a="http://schemas.openxmlformats.org/drawingml/2006/main">
            <a:r>
              <a:t>- OBIS public context: https://obis.org/</a:t>
            </a:r>
          </a:p>
          <a:p xmlns:a="http://schemas.openxmlformats.org/drawingml/2006/main">
            <a:r>
              <a:t>- OpenStreetMap tiles: https://www.openstreetmap.org/copyright</a:t>
            </a:r>
          </a:p>
          <a:p xmlns:a="http://schemas.openxmlformats.org/drawingml/2006/main">
            <a:r>
              <a:t>- GitHub source of truth: https://github.com/huangguan-giegie/team04-marine-observation-mvp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2457bd1047462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ef05c34c1814191" /><Relationship Type="http://schemas.openxmlformats.org/officeDocument/2006/relationships/slideLayout" Target="/ppt/slideLayouts/slideLayout1.xml" Id="R2dc4f24b56524b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c4f24b56524b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7a8a25e3a243c2" /><Relationship Type="http://schemas.openxmlformats.org/officeDocument/2006/relationships/notesSlide" Target="/ppt/notesSlides/notesSlide1.xml" Id="R36f4f8beb2d3423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99d93bb704876" /><Relationship Type="http://schemas.openxmlformats.org/officeDocument/2006/relationships/notesSlide" Target="/ppt/notesSlides/notesSlide2.xml" Id="Ra8af904a127441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1119c898414650" /><Relationship Type="http://schemas.openxmlformats.org/officeDocument/2006/relationships/notesSlide" Target="/ppt/notesSlides/notesSlide3.xml" Id="R71eb5dbd947849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9722cf0fcc47f5" /><Relationship Type="http://schemas.openxmlformats.org/officeDocument/2006/relationships/notesSlide" Target="/ppt/notesSlides/notesSlide4.xml" Id="R5c3af43e63f647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18d15499cb44bd" /><Relationship Type="http://schemas.openxmlformats.org/officeDocument/2006/relationships/notesSlide" Target="/ppt/notesSlides/notesSlide5.xml" Id="R35d96ca62f514ba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10854324a4fad" /><Relationship Type="http://schemas.openxmlformats.org/officeDocument/2006/relationships/notesSlide" Target="/ppt/notesSlides/notesSlide6.xml" Id="R6d64f8a3148b46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148e0486284e95" /><Relationship Type="http://schemas.openxmlformats.org/officeDocument/2006/relationships/notesSlide" Target="/ppt/notesSlides/notesSlide7.xml" Id="R2c27d59c74e549f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cae4c98cdc49ad" /><Relationship Type="http://schemas.openxmlformats.org/officeDocument/2006/relationships/notesSlide" Target="/ppt/notesSlides/notesSlide8.xml" Id="R2707ef353dd94b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13f897ac954ebe" /><Relationship Type="http://schemas.openxmlformats.org/officeDocument/2006/relationships/notesSlide" Target="/ppt/notesSlides/notesSlide9.xml" Id="Rfbf1db63c4b84c0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5db1ab45304f98" /><Relationship Type="http://schemas.openxmlformats.org/officeDocument/2006/relationships/notesSlide" Target="/ppt/notesSlides/notesSlide10.xml" Id="R7e6db47dab7d48b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a6c9e18faa46c6" /><Relationship Type="http://schemas.openxmlformats.org/officeDocument/2006/relationships/notesSlide" Target="/ppt/notesSlides/notesSlide11.xml" Id="Rc72ceb1e2f6b481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5873b4da244658" /><Relationship Type="http://schemas.openxmlformats.org/officeDocument/2006/relationships/notesSlide" Target="/ppt/notesSlides/notesSlide12.xml" Id="Rb94c18bb522e4f9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8b6e7d71d647c1" /><Relationship Type="http://schemas.openxmlformats.org/officeDocument/2006/relationships/notesSlide" Target="/ppt/notesSlides/notesSlide13.xml" Id="Rdff7a6b7c806465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c8078f54f54e49" /><Relationship Type="http://schemas.openxmlformats.org/officeDocument/2006/relationships/notesSlide" Target="/ppt/notesSlides/notesSlide14.xml" Id="R8c17480512c44b6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37ccd7bbeb4777" /><Relationship Type="http://schemas.openxmlformats.org/officeDocument/2006/relationships/notesSlide" Target="/ppt/notesSlides/notesSlide15.xml" Id="Rdbbf0ff9a2fb4a0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233636f03e4782" /><Relationship Type="http://schemas.openxmlformats.org/officeDocument/2006/relationships/notesSlide" Target="/ppt/notesSlides/notesSlide16.xml" Id="R90d9283d18af40f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b5b4b8f8b049c4" /><Relationship Type="http://schemas.openxmlformats.org/officeDocument/2006/relationships/notesSlide" Target="/ppt/notesSlides/notesSlide17.xml" Id="R47368482c2ec46b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be684419fc4c07" /><Relationship Type="http://schemas.openxmlformats.org/officeDocument/2006/relationships/notesSlide" Target="/ppt/notesSlides/notesSlide18.xml" Id="Rad9a96b7a15c46f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5b55eae7b94627" /><Relationship Type="http://schemas.openxmlformats.org/officeDocument/2006/relationships/notesSlide" Target="/ppt/notesSlides/notesSlide19.xml" Id="R2d31bbf7958b44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3B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B6E608-8C75-4DFA-97AE-2122CE5D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62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00" b="1">
                <a:solidFill>
                  <a:srgbClr val="A9DDD8"/>
                </a:solidFill>
              </a:defRPr>
            </a:pPr>
            <a:r>
              <a:rPr sz="1300" b="1">
                <a:solidFill>
                  <a:srgbClr val="A9DDD8"/>
                </a:solidFill>
              </a:rPr>
              <a:t>TEAM 04  |  FIT5120 2026 S2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F2EE23-607F-450F-A34E-ED8C25F0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90625"/>
            <a:ext cx="61912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600" b="1">
                <a:solidFill>
                  <a:srgbClr val="FFFFFF"/>
                </a:solidFill>
              </a:defRPr>
            </a:pPr>
            <a:r>
              <a:rPr sz="5600" b="1">
                <a:solidFill>
                  <a:srgbClr val="FFFFFF"/>
                </a:solidFill>
              </a:rPr>
              <a:t>Marine Observation</a:t>
            </a:r>
          </a:p>
          <a:p xmlns:a="http://schemas.openxmlformats.org/drawingml/2006/main">
            <a:pPr>
              <a:defRPr sz="5600" b="1">
                <a:solidFill>
                  <a:srgbClr val="FFFFFF"/>
                </a:solidFill>
              </a:defRPr>
            </a:pPr>
            <a:r>
              <a:rPr sz="5600" b="1">
                <a:solidFill>
                  <a:srgbClr val="FFFFFF"/>
                </a:solidFill>
              </a:rPr>
              <a:t>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3735D3-F752-4AEB-B20B-6E97176B4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14650"/>
            <a:ext cx="542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A9DDD8"/>
                </a:solidFill>
              </a:defRPr>
            </a:pPr>
            <a:r>
              <a:rPr sz="2400" b="0">
                <a:solidFill>
                  <a:srgbClr val="A9DDD8"/>
                </a:solidFill>
              </a:rPr>
              <a:t>A small, source-visible reporting flow for marine litter and ecological context.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0C960-8F48-494E-A78E-4E7EFF3F4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971550"/>
            <a:ext cx="3714750" cy="42862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A9DDD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A49428-5F16-4B05-8C39-A4112CF1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6687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3B4A"/>
                </a:solidFill>
              </a:defRPr>
            </a:pPr>
            <a:r>
              <a:rPr sz="2400" b="1">
                <a:solidFill>
                  <a:srgbClr val="103B4A"/>
                </a:solidFill>
              </a:rPr>
              <a:t>REPORT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5BB19D-A57C-49E5-B831-0A467B765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90750"/>
            <a:ext cx="9525" cy="76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47D8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BA54D8-649D-49A9-99FC-57054799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16230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3B4A"/>
                </a:solidFill>
              </a:defRPr>
            </a:pPr>
            <a:r>
              <a:rPr sz="2400" b="1">
                <a:solidFill>
                  <a:srgbClr val="103B4A"/>
                </a:solidFill>
              </a:rPr>
              <a:t>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BF2DE1-5A23-421D-BA50-9C573D85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695700"/>
            <a:ext cx="9525" cy="76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47D8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8A2972-354A-4D17-88B0-8F0C1CE6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47675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3B4A"/>
                </a:solidFill>
              </a:defRPr>
            </a:pPr>
            <a:r>
              <a:rPr sz="2400" b="1">
                <a:solidFill>
                  <a:srgbClr val="103B4A"/>
                </a:solidFill>
              </a:rPr>
              <a:t>RESULTS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9D536E-74E2-4139-AA0A-32B8BD37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00" b="0">
                <a:solidFill>
                  <a:srgbClr val="FFFFFF"/>
                </a:solidFill>
              </a:defRPr>
            </a:pPr>
            <a:r>
              <a:rPr sz="1400" b="0">
                <a:solidFill>
                  <a:srgbClr val="FFFFFF"/>
                </a:solidFill>
              </a:rPr>
              <a:t>Problem  |  User  |  Scope  |  Data  |  Workflow  |  Build  |  Safety  |  Innovation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CCF8F-B230-4686-9B6C-0610AC03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F1B70F-ADCA-4AA2-B121-28706D34C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62826F-CF08-44E3-81BA-743B9EE93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984262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078280-AB94-402F-B7E2-90C8C78B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TEAM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9E95B3-ADBB-4CE7-83E5-CBA67A12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Six roles, one small project slice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27D1BA-1372-4961-B329-0E4C3093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DD0BAB-FE3A-4EC6-9713-B9CF4A90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CC6C65-0C18-494F-B5CD-E67ED188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5AD138-0B0B-42D4-9F46-CF36BA92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05B22C-E3D7-41FD-827C-96D9E79C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95450"/>
            <a:ext cx="695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642"/>
                </a:solidFill>
              </a:defRPr>
            </a:pPr>
            <a:r>
              <a:rPr sz="2100" b="0">
                <a:solidFill>
                  <a:srgbClr val="193642"/>
                </a:solidFill>
              </a:rPr>
              <a:t>We keep the build moving by making ownership visible and keeping the reporting flow focused.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8DD668-96FF-4B77-A2B4-2D8089E7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3143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50283E-8427-4824-BE4C-02CF35DC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43200"/>
            <a:ext cx="2800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PM / INTEGRATION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EF8108-ABFD-4FA8-BABD-D87B901F8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4800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Huang Guan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D1678F-52EB-4D78-8748-F251C064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2800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One owner, one next action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6A750B-ACC4-43B8-A1CC-B9887E56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571750"/>
            <a:ext cx="3143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34BA3C-6DB8-4635-9A78-F363D65D8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743200"/>
            <a:ext cx="2800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DATA / 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0652C9-8CE9-48E8-9DCB-77E5E98E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4800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Darli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E7E6E5-FE39-4A5B-85C1-00C48491E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48050"/>
            <a:ext cx="2800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One owner, one next action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951BD8-4FFB-4A80-9747-15A1D9810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571750"/>
            <a:ext cx="3143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267A94-8AC3-4658-AEF2-33D4728C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43200"/>
            <a:ext cx="2800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UI / FRONTEND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A8AF85-F25D-485B-886D-3A39809D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4800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Qian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C5980A-08A0-4583-97B1-6ECBFB24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448050"/>
            <a:ext cx="2800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One owner, one next action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FBEBF1-E813-44BF-B1B2-2A31B3BEB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48125"/>
            <a:ext cx="3143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1DC4B5-DBC1-4389-AD0C-3A9101C3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9575"/>
            <a:ext cx="2800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BACKEND / API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6B13FD-E163-4ED6-9822-CF0A0069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24375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Hanxia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17BB9C-995F-453F-8364-A32F2116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24425"/>
            <a:ext cx="2800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One owner, one next action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870BFB-11ED-42AC-B810-C94A983C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048125"/>
            <a:ext cx="3143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308D8E-93C8-4D2F-983F-2634B1BB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19575"/>
            <a:ext cx="2800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DATABASE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37038C-EDCB-421A-BFC8-C2D53925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24375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Keith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EA3903-7B12-417B-BEBF-0E8AFB58D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924425"/>
            <a:ext cx="2800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One owner, one next action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F01DD61-68D8-4219-96E8-33EF83F2D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48125"/>
            <a:ext cx="31432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9F957D-CB1F-4311-B050-D4D598C0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219575"/>
            <a:ext cx="2800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RULES / AI BOUNDARY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880B61-84A6-4FE2-974B-A8112019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Su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F87B59-CAD2-48B2-BCC3-6703BA28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924425"/>
            <a:ext cx="2800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One owner, one next action</a:t>
            </a:r>
          </a:p>
        </p:txBody>
      </p:sp>
    </p:spTree>
    <p:extLst>
      <p:ext uri="{BB962C8B-B14F-4D97-AF65-F5344CB8AC3E}">
        <p14:creationId xmlns:p14="http://schemas.microsoft.com/office/powerpoint/2010/main" val="19720791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20FA43-7F5F-47BC-8223-FCA1BBB6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544C22-A676-4040-A94D-F6CC3E42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A useful observation can be hard to act 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862306-640D-4A65-ABF5-40587778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9149B5-DE69-4C09-9012-B9ADCC42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763E9F-D1E5-4782-8482-89631BA3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75E6C0-F179-4C22-9AE5-2078697ED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55D2D-B9B2-4798-B172-2B1CD640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90700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00" b="1">
                <a:solidFill>
                  <a:srgbClr val="103B4A"/>
                </a:solidFill>
              </a:defRPr>
            </a:pPr>
            <a:r>
              <a:rPr sz="2800" b="1">
                <a:solidFill>
                  <a:srgbClr val="103B4A"/>
                </a:solidFill>
              </a:rPr>
              <a:t>People may notice litter, but the report is often missing a shared category, place, time or next step.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FD1D2C-A7A8-4FB3-8542-2FD72801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0992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975602-B467-4E5B-8306-2CF39F0D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90875"/>
            <a:ext cx="6515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93642"/>
                </a:solidFill>
              </a:defRPr>
            </a:pPr>
            <a:r>
              <a:rPr sz="2000" b="0">
                <a:solidFill>
                  <a:srgbClr val="193642"/>
                </a:solidFill>
              </a:rPr>
              <a:t>Reports are hard to compare when fields are inconsistent.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088375-D127-4D89-8568-215FD393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8142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4532FE-3B65-403D-B94E-A0236AFC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62375"/>
            <a:ext cx="6515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93642"/>
                </a:solidFill>
              </a:defRPr>
            </a:pPr>
            <a:r>
              <a:rPr sz="2000" b="0">
                <a:solidFill>
                  <a:srgbClr val="193642"/>
                </a:solidFill>
              </a:rPr>
              <a:t>Public marine-life context is scattered across data sources.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138814-0451-4852-9C78-BA7B21BF6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5292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C5B193-E738-41D7-97E7-33539E628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33875"/>
            <a:ext cx="6515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93642"/>
                </a:solidFill>
              </a:defRPr>
            </a:pPr>
            <a:r>
              <a:rPr sz="2000" b="0">
                <a:solidFill>
                  <a:srgbClr val="193642"/>
                </a:solidFill>
              </a:rPr>
              <a:t>A simple demo must explain what it can and cannot prove.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7565F3-D2CA-4CB5-BF66-A75C6162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85950"/>
            <a:ext cx="2857500" cy="3333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58B9F6-826B-4F52-BB9E-129EA9B9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812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ONE REPORT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37ABA4-8CF9-4B9A-8F20-2DA064DB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952750"/>
            <a:ext cx="1905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1">
                <a:solidFill>
                  <a:srgbClr val="FFFFFF"/>
                </a:solidFill>
              </a:defRPr>
            </a:pPr>
            <a:r>
              <a:rPr sz="2000" b="1">
                <a:solidFill>
                  <a:srgbClr val="FFFFFF"/>
                </a:solidFill>
              </a:rPr>
              <a:t>&gt;</a:t>
            </a:r>
          </a:p>
          <a:p xmlns:a="http://schemas.openxmlformats.org/drawingml/2006/main">
            <a:pPr>
              <a:defRPr sz="2000" b="1">
                <a:solidFill>
                  <a:srgbClr val="FFFFFF"/>
                </a:solidFill>
              </a:defRPr>
            </a:pPr>
            <a:r>
              <a:rPr sz="2000" b="1">
                <a:solidFill>
                  <a:srgbClr val="FFFFFF"/>
                </a:solidFill>
              </a:rPr>
              <a:t>clear fields</a:t>
            </a:r>
          </a:p>
          <a:p xmlns:a="http://schemas.openxmlformats.org/drawingml/2006/main">
            <a:pPr>
              <a:defRPr sz="2000" b="1">
                <a:solidFill>
                  <a:srgbClr val="FFFFFF"/>
                </a:solidFill>
              </a:defRPr>
            </a:pPr>
            <a:r>
              <a:rPr sz="2000" b="1">
                <a:solidFill>
                  <a:srgbClr val="FFFFFF"/>
                </a:solidFill>
              </a:rPr>
              <a:t>&gt;</a:t>
            </a:r>
          </a:p>
          <a:p xmlns:a="http://schemas.openxmlformats.org/drawingml/2006/main">
            <a:pPr>
              <a:defRPr sz="2000" b="1">
                <a:solidFill>
                  <a:srgbClr val="FFFFFF"/>
                </a:solidFill>
              </a:defRPr>
            </a:pPr>
            <a:r>
              <a:rPr sz="2000" b="1">
                <a:solidFill>
                  <a:srgbClr val="FFFFFF"/>
                </a:solidFill>
              </a:rPr>
              <a:t>shared context</a:t>
            </a:r>
          </a:p>
          <a:p xmlns:a="http://schemas.openxmlformats.org/drawingml/2006/main">
            <a:pPr>
              <a:defRPr sz="2000" b="1">
                <a:solidFill>
                  <a:srgbClr val="FFFFFF"/>
                </a:solidFill>
              </a:defRPr>
            </a:pPr>
            <a:r>
              <a:rPr sz="2000" b="1">
                <a:solidFill>
                  <a:srgbClr val="FFFFFF"/>
                </a:solidFill>
              </a:rPr>
              <a:t>&gt;</a:t>
            </a:r>
          </a:p>
          <a:p xmlns:a="http://schemas.openxmlformats.org/drawingml/2006/main">
            <a:pPr>
              <a:defRPr sz="2000" b="1">
                <a:solidFill>
                  <a:srgbClr val="FFFFFF"/>
                </a:solidFill>
              </a:defRPr>
            </a:pPr>
            <a:r>
              <a:rPr sz="2000" b="1">
                <a:solidFill>
                  <a:srgbClr val="FFFFFF"/>
                </a:solidFill>
              </a:rPr>
              <a:t>next action</a:t>
            </a:r>
          </a:p>
        </p:txBody>
      </p:sp>
    </p:spTree>
    <p:extLst>
      <p:ext uri="{BB962C8B-B14F-4D97-AF65-F5344CB8AC3E}">
        <p14:creationId xmlns:p14="http://schemas.microsoft.com/office/powerpoint/2010/main" val="17346127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ECDDE4-92AF-455A-A131-9D6E59D9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USER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9CDCB9-B52D-4391-A46B-88498F9FC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The first user needs a clear place to start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16BB35-B6D7-4464-86F8-5DAC66D4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F4D2F4-FFE4-404E-9D49-A7573E5B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E33C0E-9A98-4088-B74F-341B2C16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DC926B-0D34-4511-A436-AF0A0EC9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B53415-85BA-4DBD-8B12-EB840D15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52625"/>
            <a:ext cx="40005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23E7E-9D76-4FE5-884D-D02ACC4E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3657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TARGET USER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661D3C-A11C-4DA8-BC44-BA059C54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28875"/>
            <a:ext cx="3657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A coastal visitor or community observer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87B948-9717-44E8-8AC6-C7342373E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57525"/>
            <a:ext cx="36576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They want to record what they saw without learning a complex data system. They need a short form, a review step and a clear explanation of the result.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966D6E-B522-436B-9485-D6E0D9C0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52625"/>
            <a:ext cx="2857500" cy="3048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AC062B-2C19-409C-98F7-CB52A1CCE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124075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NEED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168151-FD29-4C7B-95B4-F53711A72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428875"/>
            <a:ext cx="2514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Confidence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36C72-5D7A-4166-8DDF-334C9E8E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057525"/>
            <a:ext cx="25146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- What category should I choose?</a:t>
            </a:r>
          </a:p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- Did I enter the location correctly?</a:t>
            </a:r>
          </a:p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- What does this result mean?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8A8A8E-490B-47FF-AD4D-E9E3B07C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952625"/>
            <a:ext cx="2667000" cy="3048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E4D972-0641-4BC6-ACC6-1321C99A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124075"/>
            <a:ext cx="2324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BOUNDARY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CB6282-8C48-43F1-995F-064B093E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428875"/>
            <a:ext cx="2324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No false certainty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25AF35-3230-4AD4-BCAA-1F0722FD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057525"/>
            <a:ext cx="23241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The MVP does not identify a person, prove a source, verify a species or make an enforcement decision.</a:t>
            </a:r>
          </a:p>
        </p:txBody>
      </p:sp>
    </p:spTree>
    <p:extLst>
      <p:ext uri="{BB962C8B-B14F-4D97-AF65-F5344CB8AC3E}">
        <p14:creationId xmlns:p14="http://schemas.microsoft.com/office/powerpoint/2010/main" val="16687259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142C3E-BC41-469A-ACB1-3906E63CF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USER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31A2A6-1AB6-4597-A950-10764A2FB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One reporting path keeps the first release usable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871CA9-D6F3-4617-85AA-53B8E8A5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84AA54-72DA-4C12-91D4-08899C47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15DD1-5E84-46BE-887B-6BBE6270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2225ED-ED61-4391-891B-EBD89041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9E040D-8A11-40A2-835E-D5D3C5FF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16DA9A-8233-4BEF-89A5-F35A80F24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F915B5-7125-411D-A97E-EBE85E853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90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08FA9B-EC05-4AD0-8156-AD1E0913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76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1">
                <a:solidFill>
                  <a:srgbClr val="103B4A"/>
                </a:solidFill>
              </a:defRPr>
            </a:pPr>
            <a:r>
              <a:rPr sz="2000" b="1">
                <a:solidFill>
                  <a:srgbClr val="103B4A"/>
                </a:solidFill>
              </a:rPr>
              <a:t>Report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5A9842-C734-4BBD-AE78-F75F407C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747C"/>
                </a:solidFill>
              </a:defRPr>
            </a:pPr>
            <a:r>
              <a:rPr sz="1500" b="0">
                <a:solidFill>
                  <a:srgbClr val="5E747C"/>
                </a:solidFill>
              </a:rPr>
              <a:t>Enter category, area, time and coordinates.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D1F8CF-60AA-4368-8DA6-C08263F3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38500"/>
            <a:ext cx="285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634EA-2EE0-4947-B475-95E8A21B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33625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E3A60-ED19-46BE-8C18-C5695D19E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0507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D55729-2342-4052-A9FA-2BC59BE55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90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FCFB0E-2A63-445E-BBEE-4F560DA8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76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1">
                <a:solidFill>
                  <a:srgbClr val="103B4A"/>
                </a:solidFill>
              </a:defRPr>
            </a:pPr>
            <a:r>
              <a:rPr sz="2000" b="1">
                <a:solidFill>
                  <a:srgbClr val="103B4A"/>
                </a:solidFill>
              </a:rPr>
              <a:t>Review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44377D-8EB4-4A92-9203-95D7F6C3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38525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747C"/>
                </a:solidFill>
              </a:defRPr>
            </a:pPr>
            <a:r>
              <a:rPr sz="1500" b="0">
                <a:solidFill>
                  <a:srgbClr val="5E747C"/>
                </a:solidFill>
              </a:rPr>
              <a:t>Check the full record and edit mistakes.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EF374C-0E4C-4C7D-9EC2-9FB3A645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38500"/>
            <a:ext cx="285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0072CA-E11C-4ACC-9FB6-45AE90E0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3625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75042B-025A-45C5-95A6-A568AC042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0507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BBDA93-8190-4B1B-919C-BE2F0E268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90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B2DCF2-55D3-46FE-A995-D5E07962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76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1">
                <a:solidFill>
                  <a:srgbClr val="103B4A"/>
                </a:solidFill>
              </a:defRPr>
            </a:pPr>
            <a:r>
              <a:rPr sz="2000" b="1">
                <a:solidFill>
                  <a:srgbClr val="103B4A"/>
                </a:solidFill>
              </a:rPr>
              <a:t>Confirm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EECF3F-A068-4B53-A874-F6ECA312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38525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747C"/>
                </a:solidFill>
              </a:defRPr>
            </a:pPr>
            <a:r>
              <a:rPr sz="1500" b="0">
                <a:solidFill>
                  <a:srgbClr val="5E747C"/>
                </a:solidFill>
              </a:rPr>
              <a:t>Submit only after the user confirms.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5A03E9-B212-4694-B82F-BAD4F5FF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38500"/>
            <a:ext cx="285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9FF6BC-AE7F-477F-B46C-5AFBA3B1A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33625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E53FF1-B347-414D-9F83-000FAFAA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0507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20AC1B-47E8-48B3-9E63-FEC92907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C1AC3B-387C-4370-B1DE-194D7407A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76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1">
                <a:solidFill>
                  <a:srgbClr val="103B4A"/>
                </a:solidFill>
              </a:defRPr>
            </a:pPr>
            <a:r>
              <a:rPr sz="2000" b="1">
                <a:solidFill>
                  <a:srgbClr val="103B4A"/>
                </a:solidFill>
              </a:rPr>
              <a:t>Results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B958A5-1AA3-4361-824D-B9773FABD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438525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747C"/>
                </a:solidFill>
              </a:defRPr>
            </a:pPr>
            <a:r>
              <a:rPr sz="1500" b="0">
                <a:solidFill>
                  <a:srgbClr val="5E747C"/>
                </a:solidFill>
              </a:rPr>
              <a:t>See the record, context and limits.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F77E46-D2B7-4D3E-9DC2-D9DCE94E4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048250"/>
            <a:ext cx="895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5E747C"/>
                </a:solidFill>
              </a:defRPr>
            </a:pPr>
            <a:r>
              <a:rPr sz="2000" b="0">
                <a:solidFill>
                  <a:srgbClr val="5E747C"/>
                </a:solidFill>
              </a:rPr>
              <a:t>The map has a text list fallback, so the main story does not depend on one visual component.</a:t>
            </a:r>
          </a:p>
        </p:txBody>
      </p:sp>
    </p:spTree>
    <p:extLst>
      <p:ext uri="{BB962C8B-B14F-4D97-AF65-F5344CB8AC3E}">
        <p14:creationId xmlns:p14="http://schemas.microsoft.com/office/powerpoint/2010/main" val="100354598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32E4EE-F0FA-4C73-B64D-6D9D71F8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437BBB-083E-4D1D-A716-1BFAEE15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We froze one report flow for the 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2281E4-2FA8-4DA3-B97B-A3D409D01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CC80E7-A28A-448A-8334-EB5E430C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85E486-D86A-4E2D-B640-7245C4E3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EF24FA-3675-4E3F-BD82-372112CE5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4451D-E787-4BD5-AAA2-0A9B159A8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52625"/>
            <a:ext cx="4953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C8B5E-ECE0-4BD0-997E-B55CBF01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461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IN THIS RELEASE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3948D0-3AF6-4ECA-9964-ECE0FF68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28875"/>
            <a:ext cx="461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Marine litter report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4C1E96-5679-44E4-A204-7F31CBA6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57525"/>
            <a:ext cx="46101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Plastic packaging, fishing gear, glass, metal or other. One Malaysian coastal placeholder area. Synthetic/public records only.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ADDE79-2A1B-49E9-A846-61AEF5E3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52625"/>
            <a:ext cx="4953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BEF7FD-DA74-468A-9A75-93B10F5E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24075"/>
            <a:ext cx="461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CONTEXT LAYER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90971F-6B2E-482E-8784-BB5F4296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28875"/>
            <a:ext cx="461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OBIS marine-life sample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9E3423-5453-44C0-8447-92E7A6A3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57525"/>
            <a:ext cx="46101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A source-visible map layer helps show ecological context. Sensitive locations are masked or aggregated.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0E8098-E843-4B16-B833-CC925422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572125"/>
            <a:ext cx="7524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7A7"/>
          </a:solidFill>
          <a:ln xmlns:a="http://schemas.openxmlformats.org/drawingml/2006/main" w="11430">
            <a:solidFill>
              <a:srgbClr val="F3B7A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BA2BF6-0F74-4656-8F9B-C2D855A8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638800"/>
            <a:ext cx="7334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03B4A"/>
                </a:solidFill>
              </a:defRPr>
            </a:pPr>
            <a:r>
              <a:rPr sz="1200" b="1">
                <a:solidFill>
                  <a:srgbClr val="103B4A"/>
                </a:solidFill>
              </a:rPr>
              <a:t>OUT OF SCOPE: external AI/CV, real uploads, second animal-reporting flow</a:t>
            </a:r>
          </a:p>
        </p:txBody>
      </p:sp>
    </p:spTree>
    <p:extLst>
      <p:ext uri="{BB962C8B-B14F-4D97-AF65-F5344CB8AC3E}">
        <p14:creationId xmlns:p14="http://schemas.microsoft.com/office/powerpoint/2010/main" val="16713721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D1A9C7-65EA-421B-ABC3-4B60A5117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EPICS AND STORIES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EE8737-86B2-47D6-8D2B-C26E1283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The build is organised around a small set of testable outcomes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06EE4B-60A0-4529-91E1-B8B226C4B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3E672-F07E-46EB-9BBB-0EAA7CA8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3D4368-6044-4489-ABB8-DAD5B780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8EEF39-43AB-4A89-B8FA-1564D7F41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1EC3CD-8277-4811-BE7E-9A879DD77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52625"/>
            <a:ext cx="3286125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7AB76D-ACE5-4FDF-B449-875CFE2F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29432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EPIC 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7F2099-1E06-484E-872A-2A12E6A0D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2887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Report and confirm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45A16-4F9A-40B4-95FA-F66AD487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57525"/>
            <a:ext cx="2943225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As an observer, I can enter a supported record, review it and confirm it before saving.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202762-828A-4B4C-9942-CA68E94F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52625"/>
            <a:ext cx="3286125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5EF71A-3C78-486D-91EA-8BE0D0CD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24075"/>
            <a:ext cx="29432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EPIC 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39071C-A249-45FC-B9F2-E37EFC77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2887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Context and results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26BBD8-0AAF-4213-B3DA-C9027D7B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57525"/>
            <a:ext cx="2943225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As an observer, I can see a rule-based result, source-labelled context and an illustrative priority.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3FE655-75A5-4935-AAA5-CF80C5A8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52625"/>
            <a:ext cx="3286125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634BFF-C70C-4419-9EF7-E8933785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24075"/>
            <a:ext cx="29432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EPIC 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5FF57-8108-4985-A970-441EFAF4A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Traceable delivery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DA532C-A42A-4982-9E57-5159D59E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57525"/>
            <a:ext cx="2943225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As a team, we can connect code, decisions, tests, evidence and deployment without hidden scope.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5A423C-C17D-4F01-9B45-2E7A866B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34000"/>
            <a:ext cx="8953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00" b="1">
                <a:solidFill>
                  <a:srgbClr val="103B4A"/>
                </a:solidFill>
              </a:defRPr>
            </a:pPr>
            <a:r>
              <a:rPr sz="2200" b="1">
                <a:solidFill>
                  <a:srgbClr val="103B4A"/>
                </a:solidFill>
              </a:rPr>
              <a:t>Each card has a named owner and a visible next action.</a:t>
            </a:r>
          </a:p>
        </p:txBody>
      </p:sp>
    </p:spTree>
    <p:extLst>
      <p:ext uri="{BB962C8B-B14F-4D97-AF65-F5344CB8AC3E}">
        <p14:creationId xmlns:p14="http://schemas.microsoft.com/office/powerpoint/2010/main" val="14999792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CBC779-A1B4-486F-8FEA-8D2324ACC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ACCEPTANCE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66085B-B538-4ECF-BA2E-425C0769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We test the user journey, not just isolated screens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DE1E20-6E52-465A-BDE9-4DAEB134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756E1-5D7E-4A4A-ABB9-304B343D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FEB04D-169B-4E45-A342-06280CD5A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2942CE-F5F8-40F9-BC9B-4021D7680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9922E-9722-490F-8BE5-EEEE58C49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52625"/>
            <a:ext cx="314325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F22FC9-8E1B-4E55-9871-2DAF69A66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85"/>
                </a:solidFill>
              </a:defRPr>
            </a:pPr>
            <a:r>
              <a:rPr sz="2400" b="1">
                <a:solidFill>
                  <a:srgbClr val="147D85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AA1913-5BDF-4FD3-964F-CC313AF5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431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00" b="1">
                <a:solidFill>
                  <a:srgbClr val="103B4A"/>
                </a:solidFill>
              </a:defRPr>
            </a:pPr>
            <a:r>
              <a:rPr sz="1900" b="1">
                <a:solidFill>
                  <a:srgbClr val="103B4A"/>
                </a:solidFill>
              </a:rPr>
              <a:t>Input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73F642-7E80-4168-9027-4894A9E6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62225"/>
            <a:ext cx="2800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00" b="0">
                <a:solidFill>
                  <a:srgbClr val="193642"/>
                </a:solidFill>
              </a:defRPr>
            </a:pPr>
            <a:r>
              <a:rPr sz="1400" b="0">
                <a:solidFill>
                  <a:srgbClr val="193642"/>
                </a:solidFill>
              </a:rPr>
              <a:t>Valid fields are accepted and unsafe values are rejected.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BAE13C-A91D-4FE3-95D2-44549C86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952625"/>
            <a:ext cx="314325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509AC4-B0CE-4C31-B6BE-20263F6F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12407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85"/>
                </a:solidFill>
              </a:defRPr>
            </a:pPr>
            <a:r>
              <a:rPr sz="2400" b="1">
                <a:solidFill>
                  <a:srgbClr val="147D85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72827A-4BC7-41CB-A5E6-EEE5E0925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1431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00" b="1">
                <a:solidFill>
                  <a:srgbClr val="103B4A"/>
                </a:solidFill>
              </a:defRPr>
            </a:pPr>
            <a:r>
              <a:rPr sz="1900" b="1">
                <a:solidFill>
                  <a:srgbClr val="103B4A"/>
                </a:solidFill>
              </a:rPr>
              <a:t>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EFC19F-E436-4942-9C5C-7C21EA46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562225"/>
            <a:ext cx="2800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00" b="0">
                <a:solidFill>
                  <a:srgbClr val="193642"/>
                </a:solidFill>
              </a:defRPr>
            </a:pPr>
            <a:r>
              <a:rPr sz="1400" b="0">
                <a:solidFill>
                  <a:srgbClr val="193642"/>
                </a:solidFill>
              </a:rPr>
              <a:t>The user can edit before confirmation.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BE6B0-6F13-489C-8BBA-92D8A246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952625"/>
            <a:ext cx="314325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D82153-A7CC-4FAF-8790-24A6112E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2407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85"/>
                </a:solidFill>
              </a:defRPr>
            </a:pPr>
            <a:r>
              <a:rPr sz="2400" b="1">
                <a:solidFill>
                  <a:srgbClr val="147D85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4327E1-29BB-4D10-A850-6D74C0B2F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431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00" b="1">
                <a:solidFill>
                  <a:srgbClr val="103B4A"/>
                </a:solidFill>
              </a:defRPr>
            </a:pPr>
            <a:r>
              <a:rPr sz="1900" b="1">
                <a:solidFill>
                  <a:srgbClr val="103B4A"/>
                </a:solidFill>
              </a:rPr>
              <a:t>Save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A4915B-5691-4DF4-A6C9-23C69B43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562225"/>
            <a:ext cx="2800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00" b="0">
                <a:solidFill>
                  <a:srgbClr val="193642"/>
                </a:solidFill>
              </a:defRPr>
            </a:pPr>
            <a:r>
              <a:rPr sz="1400" b="0">
                <a:solidFill>
                  <a:srgbClr val="193642"/>
                </a:solidFill>
              </a:rPr>
              <a:t>The confirmed record is written and can be read back.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8A3D68-4B70-4DD9-A783-E531B5C3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71875"/>
            <a:ext cx="314325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F33B4E-1564-456F-B333-D7846029C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4332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85"/>
                </a:solidFill>
              </a:defRPr>
            </a:pPr>
            <a:r>
              <a:rPr sz="2400" b="1">
                <a:solidFill>
                  <a:srgbClr val="147D85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CE0F71-2BD8-47EB-BF08-7BB6A977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6237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00" b="1">
                <a:solidFill>
                  <a:srgbClr val="103B4A"/>
                </a:solidFill>
              </a:defRPr>
            </a:pPr>
            <a:r>
              <a:rPr sz="1900" b="1">
                <a:solidFill>
                  <a:srgbClr val="103B4A"/>
                </a:solidFill>
              </a:rPr>
              <a:t>Explain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E551D9-670B-4727-B701-BFD14C5C1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81475"/>
            <a:ext cx="2800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00" b="0">
                <a:solidFill>
                  <a:srgbClr val="193642"/>
                </a:solidFill>
              </a:defRPr>
            </a:pPr>
            <a:r>
              <a:rPr sz="1400" b="0">
                <a:solidFill>
                  <a:srgbClr val="193642"/>
                </a:solidFill>
              </a:rPr>
              <a:t>Rules, context and limits are visible.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3EEEC9-8E45-40AD-9B51-6E3AD3D5D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571875"/>
            <a:ext cx="3143250" cy="1285875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898854-C5CF-4CC6-BA4A-5B0ED44A3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43325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7D85"/>
                </a:solidFill>
              </a:defRPr>
            </a:pPr>
            <a:r>
              <a:rPr sz="2400" b="1">
                <a:solidFill>
                  <a:srgbClr val="147D85"/>
                </a:solidFill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7A41C8-60E5-491C-8963-F4D610E9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76237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00" b="1">
                <a:solidFill>
                  <a:srgbClr val="103B4A"/>
                </a:solidFill>
              </a:defRPr>
            </a:pPr>
            <a:r>
              <a:rPr sz="1900" b="1">
                <a:solidFill>
                  <a:srgbClr val="103B4A"/>
                </a:solidFill>
              </a:rPr>
              <a:t>Recover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0289F6-1192-4BA5-9761-90C245E1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181475"/>
            <a:ext cx="2800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00" b="0">
                <a:solidFill>
                  <a:srgbClr val="193642"/>
                </a:solidFill>
              </a:defRPr>
            </a:pPr>
            <a:r>
              <a:rPr sz="1400" b="0">
                <a:solidFill>
                  <a:srgbClr val="193642"/>
                </a:solidFill>
              </a:rPr>
              <a:t>API failure keeps the draft and offers retry.</a:t>
            </a:r>
          </a:p>
        </p:txBody>
      </p:sp>
    </p:spTree>
    <p:extLst>
      <p:ext uri="{BB962C8B-B14F-4D97-AF65-F5344CB8AC3E}">
        <p14:creationId xmlns:p14="http://schemas.microsoft.com/office/powerpoint/2010/main" val="14512785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F781F3-D96D-4C10-A261-A5093D9A8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OPEN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59DC34-5F3B-4AFF-BFD4-29E7C8909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Sources add context without pretending to be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C737B4-6A81-4DBC-BD20-310411CE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28A177-29BE-4A8A-9CF4-9F82E76A0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7BEFB0-A322-47CA-A866-BB89B399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B9F1F3-B663-40C2-BAF8-D752A0C33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72255C-8FCE-4261-93EF-FBD6FDB7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0250"/>
            <a:ext cx="4762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0692BA-19E8-4DAC-A172-D5CCB42CD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441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OBIS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19009E-F78B-44B6-821E-CF58A2E9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441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Marine-life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628A47-42A1-43B9-9198-4A28E41A0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05150"/>
            <a:ext cx="4419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Static public sample with source URL, retrieval date, attribution and sensitivity flag. Used as map context only.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334EC6-05BD-4CC3-A093-7758D826F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4762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C7E4F3-8928-4D57-8155-ACDFE238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71700"/>
            <a:ext cx="441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OPENSTREETMAP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E0EDCF-483B-4400-BA13-E991EFC8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76500"/>
            <a:ext cx="441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Map background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7119BD-880C-4242-AF2A-8395F258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05150"/>
            <a:ext cx="44196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Open map tiles support a simple view. The fallback list remains available if the map cannot load.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F8CADD-0886-4A69-B1E1-4AA9BDDF9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1">
                <a:solidFill>
                  <a:srgbClr val="103B4A"/>
                </a:solidFill>
              </a:defRPr>
            </a:pPr>
            <a:r>
              <a:rPr sz="2000" b="1">
                <a:solidFill>
                  <a:srgbClr val="103B4A"/>
                </a:solidFill>
              </a:rPr>
              <a:t>Versioned source file: actual-project/backend/data/obis_context.json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D32FAE-97AD-4E33-8134-84CBE6E97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72125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E747C"/>
                </a:solidFill>
              </a:defRPr>
            </a:pPr>
            <a:r>
              <a:rPr sz="1800" b="0">
                <a:solidFill>
                  <a:srgbClr val="5E747C"/>
                </a:solidFill>
              </a:rPr>
              <a:t>Source labels remain visible in the results view and project documents.</a:t>
            </a:r>
          </a:p>
        </p:txBody>
      </p:sp>
    </p:spTree>
    <p:extLst>
      <p:ext uri="{BB962C8B-B14F-4D97-AF65-F5344CB8AC3E}">
        <p14:creationId xmlns:p14="http://schemas.microsoft.com/office/powerpoint/2010/main" val="1956215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BAA95EA-0080-47A4-AB22-9E23BDC2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DATA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9E3771-B10F-4F24-B4AC-79F741FF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The system separates observations from derived guidance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85445E-56EC-4F58-B452-30BA93B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D1552C-832A-4BFC-92ED-7111DFCD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7799B0-C398-487C-8552-D9D15A43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6BAD67-43C2-4C6B-80EB-9F0E13B1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2577A7-C38D-4090-BF8E-7C2499987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A2F3D8-97FC-4ECE-AF6B-635BF5E4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0507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83048D-D8E7-4B3A-BE28-50762BDF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90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3BF268-7DC4-4648-976F-7600441D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76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1">
                <a:solidFill>
                  <a:srgbClr val="103B4A"/>
                </a:solidFill>
              </a:defRPr>
            </a:pPr>
            <a:r>
              <a:rPr sz="2000" b="1">
                <a:solidFill>
                  <a:srgbClr val="103B4A"/>
                </a:solidFill>
              </a:rPr>
              <a:t>Entry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94762D-233B-4C1E-B439-6C316A44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747C"/>
                </a:solidFill>
              </a:defRPr>
            </a:pPr>
            <a:r>
              <a:rPr sz="1500" b="0">
                <a:solidFill>
                  <a:srgbClr val="5E747C"/>
                </a:solidFill>
              </a:rPr>
              <a:t>Browser validates the draft.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7DBA99-A97B-4A40-8C74-DAFE6352C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238500"/>
            <a:ext cx="285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183A6A-9C59-476A-A13E-4F959883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333625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45757A-12B6-44EB-A61F-415D8CD4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0507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269597-5FDE-4E0D-AA66-5F748127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90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01C0B0-6CDA-4777-B9B9-C163DD9A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76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1">
                <a:solidFill>
                  <a:srgbClr val="103B4A"/>
                </a:solidFill>
              </a:defRPr>
            </a:pPr>
            <a:r>
              <a:rPr sz="2000" b="1">
                <a:solidFill>
                  <a:srgbClr val="103B4A"/>
                </a:solidFill>
              </a:rPr>
              <a:t>API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CA037D-9276-4672-B2D0-B55144CA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438525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747C"/>
                </a:solidFill>
              </a:defRPr>
            </a:pPr>
            <a:r>
              <a:rPr sz="1500" b="0">
                <a:solidFill>
                  <a:srgbClr val="5E747C"/>
                </a:solidFill>
              </a:rPr>
              <a:t>Flask validates again.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86BC93-510C-4A47-8590-E59F58A70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238500"/>
            <a:ext cx="285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D6CC55-031D-43A4-B33B-036E43D6F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3625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68A1E0-B4B1-43C8-A134-DC1197C2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0507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D2A281-7C7A-48D0-B1C9-4CB9CA13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90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5FF57B-F94E-4B35-A691-4E7B9E90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76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1">
                <a:solidFill>
                  <a:srgbClr val="103B4A"/>
                </a:solidFill>
              </a:defRPr>
            </a:pPr>
            <a:r>
              <a:rPr sz="2000" b="1">
                <a:solidFill>
                  <a:srgbClr val="103B4A"/>
                </a:solidFill>
              </a:rPr>
              <a:t>Database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8C9E1C-28DA-40DC-90A5-906EC8A3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38525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747C"/>
                </a:solidFill>
              </a:defRPr>
            </a:pPr>
            <a:r>
              <a:rPr sz="1500" b="0">
                <a:solidFill>
                  <a:srgbClr val="5E747C"/>
                </a:solidFill>
              </a:rPr>
              <a:t>PostgreSQL on Render; SQLite locally.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E59AAE-3DB0-4F0D-BA53-C22DFAD2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38500"/>
            <a:ext cx="285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4DE1FF-DA31-4996-8B71-5E7890C4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33625"/>
            <a:ext cx="2381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D2EB66-F2FD-4A95-826B-4B13F0BC6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0507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BACB43-9442-455F-B286-CC3D61238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5908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A0D2B6-92FC-4960-BFB4-EBD6B546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76575"/>
            <a:ext cx="2038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1">
                <a:solidFill>
                  <a:srgbClr val="103B4A"/>
                </a:solidFill>
              </a:defRPr>
            </a:pPr>
            <a:r>
              <a:rPr sz="2000" b="1">
                <a:solidFill>
                  <a:srgbClr val="103B4A"/>
                </a:solidFill>
              </a:rPr>
              <a:t>Results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35C01A-0876-4DA2-9DB8-D0391E00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438525"/>
            <a:ext cx="2038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747C"/>
                </a:solidFill>
              </a:defRPr>
            </a:pPr>
            <a:r>
              <a:rPr sz="1500" b="0">
                <a:solidFill>
                  <a:srgbClr val="5E747C"/>
                </a:solidFill>
              </a:rPr>
              <a:t>Rule output plus context.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49B556-93D4-4206-8F93-AF3E4ABD8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387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5E747C"/>
                </a:solidFill>
              </a:defRPr>
            </a:pPr>
            <a:r>
              <a:rPr sz="2000" b="0">
                <a:solidFill>
                  <a:srgbClr val="5E747C"/>
                </a:solidFill>
              </a:rPr>
              <a:t>Derived classification and priority are stored separately and marked illustrative.</a:t>
            </a:r>
          </a:p>
        </p:txBody>
      </p:sp>
    </p:spTree>
    <p:extLst>
      <p:ext uri="{BB962C8B-B14F-4D97-AF65-F5344CB8AC3E}">
        <p14:creationId xmlns:p14="http://schemas.microsoft.com/office/powerpoint/2010/main" val="17975681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90D594-DC20-42F8-B7BD-B9A0D3A8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RULES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93E1EE-2A4E-4387-AAF0-F93EFB4F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The first result is explainable by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CC295A-0656-4B67-A5C0-F0F58BCA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9A4B24-A8DF-4B6F-8FB0-03B2200C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713B61-B721-428D-AFFB-922C6B45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F27708-F751-4E67-8BF9-B318DC975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060266-EBCE-40BA-8B14-67191C57D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52625"/>
            <a:ext cx="4953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950625-F6CE-4B57-8102-5230C7E0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461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CLASSIFICATION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81BD8D-C1FB-4AAE-8256-472186F81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28875"/>
            <a:ext cx="461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Fixed category rules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4739F5-BCF0-4022-9D33-ADDB452E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57525"/>
            <a:ext cx="46101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The chosen category is retained after validation. The response states the rule name and method instead of hiding a model decision.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B63D39-9C5C-4019-9652-C100C543D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952625"/>
            <a:ext cx="495300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DC7FE6-1A5D-4500-8451-5C3D00EB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24075"/>
            <a:ext cx="4610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PRIORITY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C9C63D-7EBB-48A1-9A7C-4363BE2A1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28875"/>
            <a:ext cx="4610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Illustrative clean-up priority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619D5A-034D-4F27-B60A-4EB1B832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57525"/>
            <a:ext cx="46101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A small rule combines observation context and the selected area. It is a demonstration aid, not a pollution-source or enforcement conclusion.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9D9D94-43D6-4EFD-AB7B-65B5FC6E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5572125"/>
            <a:ext cx="6762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7A7"/>
          </a:solidFill>
          <a:ln xmlns:a="http://schemas.openxmlformats.org/drawingml/2006/main" w="11430">
            <a:solidFill>
              <a:srgbClr val="F3B7A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5FBBC0-F4BC-4755-9297-3BCB15BC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38800"/>
            <a:ext cx="657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03B4A"/>
                </a:solidFill>
              </a:defRPr>
            </a:pPr>
            <a:r>
              <a:rPr sz="1200" b="1">
                <a:solidFill>
                  <a:srgbClr val="103B4A"/>
                </a:solidFill>
              </a:rPr>
              <a:t>NO EXTERNAL AI / NO COMPUTER VISION IN THIS RELEASE</a:t>
            </a:r>
          </a:p>
        </p:txBody>
      </p:sp>
    </p:spTree>
    <p:extLst>
      <p:ext uri="{BB962C8B-B14F-4D97-AF65-F5344CB8AC3E}">
        <p14:creationId xmlns:p14="http://schemas.microsoft.com/office/powerpoint/2010/main" val="1624556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3BAE3C-51AE-48AF-931D-6987C8336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SECURITY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6D7E78-2C79-48C0-B543-7FD15154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The demo protects the boundary by limiting what it accepts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4C4A23-4D90-4BA7-B672-E2E30638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96DC18-5FD5-424F-8ED3-F4F5224A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5DE55A-A3CE-41F3-B536-15DD70DA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58C143-0C70-47DD-AF99-5584AEFA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952774-3135-465C-88F3-A58A0588C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7167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401AF8-1168-421A-A3F2-D5E75717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52625"/>
            <a:ext cx="7277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93642"/>
                </a:solidFill>
              </a:defRPr>
            </a:pPr>
            <a:r>
              <a:rPr sz="2000" b="0">
                <a:solidFill>
                  <a:srgbClr val="193642"/>
                </a:solidFill>
              </a:rPr>
              <a:t>No names, phone numbers, accounts or secrets in the observation schema.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616CC5-C364-44C7-AFA6-CC9D4477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4317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151CD-3A69-45C2-8F2D-B388FAC3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24125"/>
            <a:ext cx="7277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93642"/>
                </a:solidFill>
              </a:defRPr>
            </a:pPr>
            <a:r>
              <a:rPr sz="2000" b="0">
                <a:solidFill>
                  <a:srgbClr val="193642"/>
                </a:solidFill>
              </a:rPr>
              <a:t>PostgreSQL credentials stay in Render environment variables.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48A3B1-E926-4DE4-93CE-3A1FCC73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1467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F647DE-D4D9-49CE-87BE-D65BF619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95625"/>
            <a:ext cx="7277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93642"/>
                </a:solidFill>
              </a:defRPr>
            </a:pPr>
            <a:r>
              <a:rPr sz="2000" b="0">
                <a:solidFill>
                  <a:srgbClr val="193642"/>
                </a:solidFill>
              </a:rPr>
              <a:t>External AI and raw upload storage are disabled.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3F570B-A950-429B-B4E5-FCE173753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8617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ED3152-1DF2-4E75-9703-76F754CA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67125"/>
            <a:ext cx="7277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93642"/>
                </a:solidFill>
              </a:defRPr>
            </a:pPr>
            <a:r>
              <a:rPr sz="2000" b="0">
                <a:solidFill>
                  <a:srgbClr val="193642"/>
                </a:solidFill>
              </a:rPr>
              <a:t>Sensitive context locations are masked or aggregated.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073993-59D8-42AC-84CB-C6DF3FF5E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57675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E63FCC-AE24-46FE-9889-81BF4042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38625"/>
            <a:ext cx="7277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193642"/>
                </a:solidFill>
              </a:defRPr>
            </a:pPr>
            <a:r>
              <a:rPr sz="2000" b="0">
                <a:solidFill>
                  <a:srgbClr val="193642"/>
                </a:solidFill>
              </a:rPr>
              <a:t>Source labels and limitations stay visible to the user.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073A92-B3F7-4C90-BEF6-014F5CDC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90750"/>
            <a:ext cx="20955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03B4A"/>
          </a:solidFill>
          <a:ln xmlns:a="http://schemas.openxmlformats.org/drawingml/2006/main" w="11430">
            <a:solidFill>
              <a:srgbClr val="103B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C23CB0-CBBE-44B1-8CA0-0C2C3BF9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714625"/>
            <a:ext cx="161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00" b="1">
                <a:solidFill>
                  <a:srgbClr val="FFFFFF"/>
                </a:solidFill>
              </a:defRPr>
            </a:pPr>
            <a:r>
              <a:rPr sz="2500" b="1">
                <a:solidFill>
                  <a:srgbClr val="FFFFFF"/>
                </a:solidFill>
              </a:rPr>
              <a:t>DEMO</a:t>
            </a:r>
          </a:p>
          <a:p xmlns:a="http://schemas.openxmlformats.org/drawingml/2006/main">
            <a:pPr>
              <a:defRPr sz="2500" b="1">
                <a:solidFill>
                  <a:srgbClr val="FFFFFF"/>
                </a:solidFill>
              </a:defRPr>
            </a:pPr>
            <a:r>
              <a:rPr sz="2500" b="1">
                <a:solidFill>
                  <a:srgbClr val="FFFFFF"/>
                </a:solidFill>
              </a:rPr>
              <a:t>BOUNDARY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C337D9-AE94-41E9-9E1B-08E4F01B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71475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A9DDD8"/>
                </a:solidFill>
              </a:defRPr>
            </a:pPr>
            <a:r>
              <a:rPr sz="1800" b="1">
                <a:solidFill>
                  <a:srgbClr val="A9DDD8"/>
                </a:solidFill>
              </a:rPr>
              <a:t>public / synthetic</a:t>
            </a:r>
          </a:p>
          <a:p xmlns:a="http://schemas.openxmlformats.org/drawingml/2006/main">
            <a:pPr>
              <a:defRPr sz="1800" b="1">
                <a:solidFill>
                  <a:srgbClr val="A9DDD8"/>
                </a:solidFill>
              </a:defRPr>
            </a:pPr>
            <a:r>
              <a:rPr sz="1800" b="1">
                <a:solidFill>
                  <a:srgbClr val="A9DDD8"/>
                </a:solidFill>
              </a:rPr>
              <a:t>data only</a:t>
            </a:r>
          </a:p>
        </p:txBody>
      </p:sp>
    </p:spTree>
    <p:extLst>
      <p:ext uri="{BB962C8B-B14F-4D97-AF65-F5344CB8AC3E}">
        <p14:creationId xmlns:p14="http://schemas.microsoft.com/office/powerpoint/2010/main" val="132751776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D7690C-17B1-498E-AC90-F1CC0A96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E27C0C-0C2E-4162-BCAB-3C7A5212C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A small separation keeps integration understandable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EC0AF5-EC9C-4A2D-8DD8-D66225B8B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C1511E-8A51-4949-8196-F673AC54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43D8EE-B961-4667-A1BC-4FF5452B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E7D4C0-6475-4229-A64D-641084489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E2277B-2B36-4FE5-B6B5-4BC8C249E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2190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23F89A-A17F-4C8B-9EBC-EF52BB5B8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7146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3B4A"/>
                </a:solidFill>
              </a:defRPr>
            </a:pPr>
            <a:r>
              <a:rPr sz="1800" b="1">
                <a:solidFill>
                  <a:srgbClr val="103B4A"/>
                </a:solidFill>
              </a:rPr>
              <a:t>STATIC FRONTEND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CA4622-7AE3-4D4A-8C60-4A0D33A8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309562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747C"/>
                </a:solidFill>
              </a:defRPr>
            </a:pPr>
            <a:r>
              <a:rPr sz="1500" b="0">
                <a:solidFill>
                  <a:srgbClr val="5E747C"/>
                </a:solidFill>
              </a:rPr>
              <a:t>HTML / CSS / JS</a:t>
            </a:r>
          </a:p>
          <a:p xmlns:a="http://schemas.openxmlformats.org/drawingml/2006/main">
            <a:pPr>
              <a:defRPr sz="1500" b="0">
                <a:solidFill>
                  <a:srgbClr val="5E747C"/>
                </a:solidFill>
              </a:defRPr>
            </a:pPr>
            <a:r>
              <a:rPr sz="1500" b="0">
                <a:solidFill>
                  <a:srgbClr val="5E747C"/>
                </a:solidFill>
              </a:rPr>
              <a:t>Leaflet + list fallback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8B379A-95E9-49C0-9183-B86615BB2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048000"/>
            <a:ext cx="1143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4DB6BB-6D73-4535-93D0-4CBDC28EE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333625"/>
            <a:ext cx="2190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9F7CE6-5061-4E38-BC4C-D11564941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146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3B4A"/>
                </a:solidFill>
              </a:defRPr>
            </a:pPr>
            <a:r>
              <a:rPr sz="1800" b="1">
                <a:solidFill>
                  <a:srgbClr val="103B4A"/>
                </a:solidFill>
              </a:rPr>
              <a:t>FLASK API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3A7061-F028-44D1-94CD-0490CF40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9562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747C"/>
                </a:solidFill>
              </a:defRPr>
            </a:pPr>
            <a:r>
              <a:rPr sz="1500" b="0">
                <a:solidFill>
                  <a:srgbClr val="5E747C"/>
                </a:solidFill>
              </a:rPr>
              <a:t>validation</a:t>
            </a:r>
          </a:p>
          <a:p xmlns:a="http://schemas.openxmlformats.org/drawingml/2006/main">
            <a:pPr>
              <a:defRPr sz="1500" b="0">
                <a:solidFill>
                  <a:srgbClr val="5E747C"/>
                </a:solidFill>
              </a:defRPr>
            </a:pPr>
            <a:r>
              <a:rPr sz="1500" b="0">
                <a:solidFill>
                  <a:srgbClr val="5E747C"/>
                </a:solidFill>
              </a:rPr>
              <a:t>rules / 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D8474A-42C2-4AE0-A263-1041E1078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48000"/>
            <a:ext cx="11430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7A1799-CF03-4CFF-84A2-771E9772C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33625"/>
            <a:ext cx="2190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0FCD8-68A3-46B3-B14D-40514E16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71462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03B4A"/>
                </a:solidFill>
              </a:defRPr>
            </a:pPr>
            <a:r>
              <a:rPr sz="1800" b="1">
                <a:solidFill>
                  <a:srgbClr val="103B4A"/>
                </a:solidFill>
              </a:rPr>
              <a:t>DATABASE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C35791-56B4-4E89-B4C8-2B37A92E3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095625"/>
            <a:ext cx="1714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5E747C"/>
                </a:solidFill>
              </a:defRPr>
            </a:pPr>
            <a:r>
              <a:rPr sz="1500" b="0">
                <a:solidFill>
                  <a:srgbClr val="5E747C"/>
                </a:solidFill>
              </a:rPr>
              <a:t>PostgreSQL Render</a:t>
            </a:r>
          </a:p>
          <a:p xmlns:a="http://schemas.openxmlformats.org/drawingml/2006/main">
            <a:pPr>
              <a:defRPr sz="1500" b="0">
                <a:solidFill>
                  <a:srgbClr val="5E747C"/>
                </a:solidFill>
              </a:defRPr>
            </a:pPr>
            <a:r>
              <a:rPr sz="1500" b="0">
                <a:solidFill>
                  <a:srgbClr val="5E747C"/>
                </a:solidFill>
              </a:rPr>
              <a:t>SQLite local fallback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D867E3-6E71-47E2-A851-51BA58F9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958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00" b="1">
                <a:solidFill>
                  <a:srgbClr val="103B4A"/>
                </a:solidFill>
              </a:defRPr>
            </a:pPr>
            <a:r>
              <a:rPr sz="2200" b="1">
                <a:solidFill>
                  <a:srgbClr val="103B4A"/>
                </a:solidFill>
              </a:rPr>
              <a:t>GitHub main &gt; Render services &gt; PGP evidence</a:t>
            </a:r>
          </a:p>
        </p:txBody>
      </p:sp>
    </p:spTree>
    <p:extLst>
      <p:ext uri="{BB962C8B-B14F-4D97-AF65-F5344CB8AC3E}">
        <p14:creationId xmlns:p14="http://schemas.microsoft.com/office/powerpoint/2010/main" val="7319259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75D32F-08A6-4DF5-BE2A-F18ED4925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INTEGRATION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7C232D-96FC-49A0-AC69-9CB9806F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We improve the whole flow after each safe merge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44505F-3FDE-4489-B007-8E6685D4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1BE0DF-065C-44B5-9594-69F01353E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0A70AF-76BF-4E51-B4AA-F70988A1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97651-6222-479D-8578-7E405757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179BBD-CB7E-4E7D-880F-BEDB6BDD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4765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1">
                <a:solidFill>
                  <a:srgbClr val="103B4A"/>
                </a:solidFill>
              </a:defRPr>
            </a:pPr>
            <a:r>
              <a:rPr sz="2000" b="1">
                <a:solidFill>
                  <a:srgbClr val="103B4A"/>
                </a:solidFill>
              </a:rPr>
              <a:t>feature branch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B526BE-572F-46ED-B504-B5AB3168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619375"/>
            <a:ext cx="12382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86980-0FC6-4AE9-B47E-791028EB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4765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1">
                <a:solidFill>
                  <a:srgbClr val="103B4A"/>
                </a:solidFill>
              </a:defRPr>
            </a:pPr>
            <a:r>
              <a:rPr sz="2000" b="1">
                <a:solidFill>
                  <a:srgbClr val="103B4A"/>
                </a:solidFill>
              </a:rPr>
              <a:t>quick 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057F38-1D71-4582-9C31-5171E3C8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619375"/>
            <a:ext cx="12382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88C7EC-96EE-4B89-99AD-93AD0DC1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47650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1">
                <a:solidFill>
                  <a:srgbClr val="103B4A"/>
                </a:solidFill>
              </a:defRPr>
            </a:pPr>
            <a:r>
              <a:rPr sz="2000" b="1">
                <a:solidFill>
                  <a:srgbClr val="103B4A"/>
                </a:solidFill>
              </a:rPr>
              <a:t>merge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7D4948-7645-4D0B-8121-F2A0B642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19375"/>
            <a:ext cx="12382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D8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C116FD-3DC7-418A-9591-FA0337CCD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4765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1">
                <a:solidFill>
                  <a:srgbClr val="103B4A"/>
                </a:solidFill>
              </a:defRPr>
            </a:pPr>
            <a:r>
              <a:rPr sz="2000" b="1">
                <a:solidFill>
                  <a:srgbClr val="103B4A"/>
                </a:solidFill>
              </a:rPr>
              <a:t>integrated 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70C11D-B5ED-4053-8995-3A5F2B3A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714750"/>
            <a:ext cx="2571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B80223-9FC7-49EE-8414-BCCE2EDF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886200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6E20CA-6445-4FC0-AB17-7A011D1C1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191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Record the commit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D5CDD9-E528-4923-9B9A-97BE76E03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591050"/>
            <a:ext cx="2228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Keep the URL, date and result in the PGP.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B59885-F50F-45E5-89D4-03921E191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714750"/>
            <a:ext cx="2571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AE73D0-6506-4E53-BA32-10FF1DF8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886200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OWNERSHIP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EE5FB8-275B-4C9A-A07E-05A92BE4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191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Keep next actions visible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BABE18-06B4-4CF6-842F-6F4ED27E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591050"/>
            <a:ext cx="2228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One owner per task and one clear next step.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AB0F5E-403C-4E2A-AF6F-A2DD3298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14750"/>
            <a:ext cx="2571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1E28FB-0D47-47FA-8252-CAE1FE74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886200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RELEASE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F1FB6F-932B-40F1-B675-4F43AA52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91000"/>
            <a:ext cx="2228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Deploy from main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A9B922-34E2-4EE3-BD32-B6A8A57AF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2228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Preserve a rollback point before demos.</a:t>
            </a:r>
          </a:p>
        </p:txBody>
      </p:sp>
    </p:spTree>
    <p:extLst>
      <p:ext uri="{BB962C8B-B14F-4D97-AF65-F5344CB8AC3E}">
        <p14:creationId xmlns:p14="http://schemas.microsoft.com/office/powerpoint/2010/main" val="11300806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36E5FE-5A4A-4B95-8244-2DBD06C7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INNOVATION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016BC8-FCBD-4E0C-A7C0-617871AD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The value is a connected, explainable observation journey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93F335-09B3-4BA3-A4EB-851034F6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E09609-E2ED-4690-A0A6-0FC41A58B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5969BF-ECBA-429A-85DB-3EC6893C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EAE759-BF6E-48BF-B14F-AFBB66BCA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418393-684C-4551-8768-F66A247B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00250"/>
            <a:ext cx="3238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AAA179-3EBA-4DFE-8FAD-1D311816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289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EA01D1-212E-47C2-B176-DB592ADC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Report once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317990-CC62-4B0B-A1A5-46A055996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05150"/>
            <a:ext cx="28956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A short flow captures consistent fields instead of a loose message or photo only.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BCEE33-1716-49D7-B6C9-673F9837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00250"/>
            <a:ext cx="3238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112E0C-9D24-42F1-A374-2A7D97AE0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171700"/>
            <a:ext cx="289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C82B64-1482-44C5-9120-9D3CF7AF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7650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Context beside the record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8A579D-6703-49FA-B906-875BF9EE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105150"/>
            <a:ext cx="28956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OBIS context and sources stay near the observation, not hidden in a separate report.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EA4C91-6F61-4681-AFCE-72B491994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00250"/>
            <a:ext cx="323850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BB0D6E-445D-45C6-B4B6-163D4437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71700"/>
            <a:ext cx="289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DCEAA6-8FE3-4FA8-BC09-172CDEA2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476500"/>
            <a:ext cx="2895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Prioritise with limits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196A37-0DFA-49B1-A22E-E56188CE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105150"/>
            <a:ext cx="289560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A rule-based cue helps discussion while clearly avoiding enforcement or scientific claims.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8641F-8B14-40F7-9BB0-C78BAF06D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292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00" b="1">
                <a:solidFill>
                  <a:srgbClr val="103B4A"/>
                </a:solidFill>
              </a:defRPr>
            </a:pPr>
            <a:r>
              <a:rPr sz="2200" b="1">
                <a:solidFill>
                  <a:srgbClr val="103B4A"/>
                </a:solidFill>
              </a:rPr>
              <a:t>Small scope is a feature: it makes the result testable and honest.</a:t>
            </a:r>
          </a:p>
        </p:txBody>
      </p:sp>
    </p:spTree>
    <p:extLst>
      <p:ext uri="{BB962C8B-B14F-4D97-AF65-F5344CB8AC3E}">
        <p14:creationId xmlns:p14="http://schemas.microsoft.com/office/powerpoint/2010/main" val="194081759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70A560-4B1C-405B-B704-57840EAF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FUTURE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8F021E-E3DD-48D7-AFF1-9FA3BF39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Future ideas stay visible without weakening the first release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ADDDFD-87EC-44B6-979A-5EEE1E529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36D9D-685A-47BF-8A1E-9E67D5786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B727EC-90B0-4798-A266-E820235F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E54415-5065-41B2-902B-8786EC5A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C943C1-AEA4-4AE4-AE34-341AF0A6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14550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386D19-84E3-42AA-9E14-D3AC01BE3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095500"/>
            <a:ext cx="7277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642"/>
                </a:solidFill>
              </a:defRPr>
            </a:pPr>
            <a:r>
              <a:rPr sz="2100" b="0">
                <a:solidFill>
                  <a:srgbClr val="193642"/>
                </a:solidFill>
              </a:rPr>
              <a:t>More coastal areas after the single-area flow is tested.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262CD-5AA1-488D-85F9-D89811CA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05100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210489-7D89-421B-B1CC-468B76F5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7277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642"/>
                </a:solidFill>
              </a:defRPr>
            </a:pPr>
            <a:r>
              <a:rPr sz="2100" b="0">
                <a:solidFill>
                  <a:srgbClr val="193642"/>
                </a:solidFill>
              </a:rPr>
              <a:t>Careful image assistance only after a safe evaluation plan.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F5F8EF-546B-445D-A05E-E7BB97F4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95650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C126D3-0120-4B62-88BD-DA8277A77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76600"/>
            <a:ext cx="7277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642"/>
                </a:solidFill>
              </a:defRPr>
            </a:pPr>
            <a:r>
              <a:rPr sz="2100" b="0">
                <a:solidFill>
                  <a:srgbClr val="193642"/>
                </a:solidFill>
              </a:rPr>
              <a:t>Richer OBIS context with documented sensitivity handling.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6C424B-1562-4EFF-8D86-95A084CA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86200"/>
            <a:ext cx="190500" cy="190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D85"/>
          </a:solidFill>
          <a:ln xmlns:a="http://schemas.openxmlformats.org/drawingml/2006/main" w="11430">
            <a:solidFill>
              <a:srgbClr val="147D8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F1F517-7BD3-4ED8-B561-095E553E1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67150"/>
            <a:ext cx="7277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93642"/>
                </a:solidFill>
              </a:defRPr>
            </a:pPr>
            <a:r>
              <a:rPr sz="2100" b="0">
                <a:solidFill>
                  <a:srgbClr val="193642"/>
                </a:solidFill>
              </a:rPr>
              <a:t>Community review and usability testing with approved participants.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70D122-AD41-45FF-9413-4985D729B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66950"/>
            <a:ext cx="2190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103B4A"/>
          </a:solidFill>
          <a:ln xmlns:a="http://schemas.openxmlformats.org/drawingml/2006/main" w="11430">
            <a:solidFill>
              <a:srgbClr val="103B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ED9E4F-BB30-48B8-9BBD-781ADC21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7622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00" b="1">
                <a:solidFill>
                  <a:srgbClr val="A9DDD8"/>
                </a:solidFill>
              </a:defRPr>
            </a:pPr>
            <a:r>
              <a:rPr sz="2500" b="1">
                <a:solidFill>
                  <a:srgbClr val="A9DDD8"/>
                </a:solidFill>
              </a:rPr>
              <a:t>NOW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51FF-D6FD-464F-AE5B-2ECED220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38500"/>
            <a:ext cx="6667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9DD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79CA63-F47C-4AE5-8D80-827976BB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147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00" b="1">
                <a:solidFill>
                  <a:srgbClr val="FFFFFF"/>
                </a:solidFill>
              </a:defRPr>
            </a:pPr>
            <a:r>
              <a:rPr sz="2500" b="1">
                <a:solidFill>
                  <a:srgbClr val="FFFFFF"/>
                </a:solidFill>
              </a:rPr>
              <a:t>LATER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A234D1-6DEA-4BBC-B6DF-14AF1DF6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81625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00" b="0">
                <a:solidFill>
                  <a:srgbClr val="5E747C"/>
                </a:solidFill>
              </a:defRPr>
            </a:pPr>
            <a:r>
              <a:rPr sz="2000" b="0">
                <a:solidFill>
                  <a:srgbClr val="5E747C"/>
                </a:solidFill>
              </a:rPr>
              <a:t>Backlog is not a promise of current capability.</a:t>
            </a:r>
          </a:p>
        </p:txBody>
      </p:sp>
    </p:spTree>
    <p:extLst>
      <p:ext uri="{BB962C8B-B14F-4D97-AF65-F5344CB8AC3E}">
        <p14:creationId xmlns:p14="http://schemas.microsoft.com/office/powerpoint/2010/main" val="71561809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5AEBB7-9731-4B23-A56B-DE58ABEE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ED191A-C5D7-41CB-A38B-AD1D014C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Every important claim has a place to be checked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214AD1-E7A0-409B-ADA2-0CC70429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4BD2AF-46A2-45AE-B7D5-803CBB8A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BEF585-4835-4AF1-9535-C2A24754C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66244C-7F27-4906-A9FD-335B614FD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C7AC85-6D83-4E94-92D9-A58CBCFCA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52625"/>
            <a:ext cx="3286125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3E5424-5FAA-45F9-8808-07FA1A527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24075"/>
            <a:ext cx="29432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FD714F-B03B-4F77-A757-F59B3381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2887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GitHub main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27C692-4E97-4A25-812D-759C53FB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57525"/>
            <a:ext cx="294322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Source, PR review and commit history for the runtime.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F0C261-710C-41D9-BF7B-0113B80B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52625"/>
            <a:ext cx="3286125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452C8B-2C45-4F2A-8548-D82AB70B6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24075"/>
            <a:ext cx="29432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BUILD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731C1A-2E7D-45A3-8D94-F80E3B9E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2887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Render services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F19DD3-1A9A-4AE1-95B0-402FFB8B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57525"/>
            <a:ext cx="294322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Live frontend/API, database configuration and health check.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FEF542-6A7D-4C9E-B27F-5DFCE2CF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52625"/>
            <a:ext cx="3286125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B8D4D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E88716-9272-4956-966D-2C5DFBD1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24075"/>
            <a:ext cx="29432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PGP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33E189-EEF8-4D7A-A767-ADA8A9EC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9432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Decision and test record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12334A-5F16-44FE-B977-3957084AA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57525"/>
            <a:ext cx="294322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93642"/>
                </a:solidFill>
              </a:defRPr>
            </a:pPr>
            <a:r>
              <a:rPr sz="1500" b="0">
                <a:solidFill>
                  <a:srgbClr val="193642"/>
                </a:solidFill>
              </a:rPr>
              <a:t>Sources, limitations, screenshots and integrated test evidence.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EBAD79-35DD-4450-A0D3-3EFFC499B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3B4A"/>
                </a:solidFill>
              </a:defRPr>
            </a:pPr>
            <a:r>
              <a:rPr sz="2100" b="1">
                <a:solidFill>
                  <a:srgbClr val="103B4A"/>
                </a:solidFill>
              </a:rPr>
              <a:t>The new Drive structure keeps governance, scope, build and evidence connected.</a:t>
            </a:r>
          </a:p>
        </p:txBody>
      </p:sp>
    </p:spTree>
    <p:extLst>
      <p:ext uri="{BB962C8B-B14F-4D97-AF65-F5344CB8AC3E}">
        <p14:creationId xmlns:p14="http://schemas.microsoft.com/office/powerpoint/2010/main" val="33006347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98803E-ABDC-4299-A54D-C039F9EF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10934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00" b="1">
                <a:solidFill>
                  <a:srgbClr val="147D85"/>
                </a:solidFill>
              </a:defRPr>
            </a:pPr>
            <a:r>
              <a:rPr sz="1100" b="1">
                <a:solidFill>
                  <a:srgbClr val="147D85"/>
                </a:solidFill>
              </a:rPr>
              <a:t>REFERENCES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9612C5-7415-41AD-9415-769A5F81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723900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00" b="1">
                <a:solidFill>
                  <a:srgbClr val="103B4A"/>
                </a:solidFill>
              </a:defRPr>
            </a:pPr>
            <a:r>
              <a:rPr sz="3400" b="1">
                <a:solidFill>
                  <a:srgbClr val="103B4A"/>
                </a:solidFill>
              </a:rPr>
              <a:t>Sources and boundaries used in this 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EA0EC2-92E5-4775-BE3F-0750C0AF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7D8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754E6F-A612-489C-98A9-FC36CD3C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4C70FE-49E9-4178-9B4B-97DE41A3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D59B96-A3C6-4088-B626-576A2C03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23FC71-575F-43B6-BE81-EBC8B253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52625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7D85"/>
                </a:solidFill>
              </a:defRPr>
            </a:pPr>
            <a:r>
              <a:rPr sz="2100" b="1">
                <a:solidFill>
                  <a:srgbClr val="147D85"/>
                </a:solidFill>
              </a:rPr>
              <a:t>OBIS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D4C3E4-FFB6-40C8-AC8D-CCFE599E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05050"/>
            <a:ext cx="485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00" b="0">
                <a:solidFill>
                  <a:srgbClr val="193642"/>
                </a:solidFill>
              </a:defRPr>
            </a:pPr>
            <a:r>
              <a:rPr sz="1700" b="0">
                <a:solidFill>
                  <a:srgbClr val="193642"/>
                </a:solidFill>
              </a:rPr>
              <a:t>https://obis.org/</a:t>
            </a:r>
          </a:p>
          <a:p xmlns:a="http://schemas.openxmlformats.org/drawingml/2006/main">
            <a:pPr>
              <a:defRPr sz="1700" b="0">
                <a:solidFill>
                  <a:srgbClr val="193642"/>
                </a:solidFill>
              </a:defRPr>
            </a:pPr>
            <a:r>
              <a:rPr sz="1700" b="0">
                <a:solidFill>
                  <a:srgbClr val="193642"/>
                </a:solidFill>
              </a:rPr>
              <a:t>Public marine biodiversity context and attribution reference.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BD15A6-C0CD-4190-8EC1-37CD0470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52625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7D85"/>
                </a:solidFill>
              </a:defRPr>
            </a:pPr>
            <a:r>
              <a:rPr sz="2100" b="1">
                <a:solidFill>
                  <a:srgbClr val="147D85"/>
                </a:solidFill>
              </a:rPr>
              <a:t>OpenStreetMap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3BE644-E4E4-437D-B1CA-C0DB28A70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05050"/>
            <a:ext cx="485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00" b="0">
                <a:solidFill>
                  <a:srgbClr val="193642"/>
                </a:solidFill>
              </a:defRPr>
            </a:pPr>
            <a:r>
              <a:rPr sz="1700" b="0">
                <a:solidFill>
                  <a:srgbClr val="193642"/>
                </a:solidFill>
              </a:rPr>
              <a:t>https://www.openstreetmap.org/copyright</a:t>
            </a:r>
          </a:p>
          <a:p xmlns:a="http://schemas.openxmlformats.org/drawingml/2006/main">
            <a:pPr>
              <a:defRPr sz="1700" b="0">
                <a:solidFill>
                  <a:srgbClr val="193642"/>
                </a:solidFill>
              </a:defRPr>
            </a:pPr>
            <a:r>
              <a:rPr sz="1700" b="0">
                <a:solidFill>
                  <a:srgbClr val="193642"/>
                </a:solidFill>
              </a:rPr>
              <a:t>Map tiles and attribution guidance.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2564CE-E0A3-4897-A2AF-9798000B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195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47D85"/>
                </a:solidFill>
              </a:defRPr>
            </a:pPr>
            <a:r>
              <a:rPr sz="2100" b="1">
                <a:solidFill>
                  <a:srgbClr val="147D85"/>
                </a:solidFill>
              </a:rPr>
              <a:t>Project sources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BCA925-9C7A-406E-AFCF-D22C0D4C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81450"/>
            <a:ext cx="971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00" b="0">
                <a:solidFill>
                  <a:srgbClr val="193642"/>
                </a:solidFill>
              </a:defRPr>
            </a:pPr>
            <a:r>
              <a:rPr sz="1700" b="0">
                <a:solidFill>
                  <a:srgbClr val="193642"/>
                </a:solidFill>
              </a:rPr>
              <a:t>PROJECT_SCOPE.md  |  DATA_MANAGEMENT_PLAN.md  |  SECURITY_PLAN.md</a:t>
            </a:r>
          </a:p>
          <a:p xmlns:a="http://schemas.openxmlformats.org/drawingml/2006/main">
            <a:pPr>
              <a:defRPr sz="1700" b="0">
                <a:solidFill>
                  <a:srgbClr val="193642"/>
                </a:solidFill>
              </a:defRPr>
            </a:pPr>
            <a:r>
              <a:rPr sz="1700" b="0">
                <a:solidFill>
                  <a:srgbClr val="193642"/>
                </a:solidFill>
              </a:rPr>
              <a:t>API.md  |  INTEGRATION_CHECKLIST.md  |  DECISIONS.md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F50004-E9CD-4975-A072-5D8419E4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381625"/>
            <a:ext cx="5429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B7A7"/>
          </a:solidFill>
          <a:ln xmlns:a="http://schemas.openxmlformats.org/drawingml/2006/main" w="11430">
            <a:solidFill>
              <a:srgbClr val="F3B7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7DA5C9-89B2-496F-A94C-C28796B6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4483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03B4A"/>
                </a:solidFill>
              </a:defRPr>
            </a:pPr>
            <a:r>
              <a:rPr sz="1200" b="1">
                <a:solidFill>
                  <a:srgbClr val="103B4A"/>
                </a:solidFill>
              </a:rPr>
              <a:t>All results are illustrative and non-enforcement</a:t>
            </a:r>
          </a:p>
        </p:txBody>
      </p:sp>
    </p:spTree>
    <p:extLst>
      <p:ext uri="{BB962C8B-B14F-4D97-AF65-F5344CB8AC3E}">
        <p14:creationId xmlns:p14="http://schemas.microsoft.com/office/powerpoint/2010/main" val="74635652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03B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912CB-78B4-4AEF-86AC-23CE6637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71625"/>
            <a:ext cx="5905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FFFFFF"/>
                </a:solidFill>
              </a:defRPr>
            </a:pPr>
            <a:r>
              <a:rPr sz="54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596B83-7D39-4373-B799-6B2E9A7C9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6191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600" b="0">
                <a:solidFill>
                  <a:srgbClr val="A9DDD8"/>
                </a:solidFill>
              </a:defRPr>
            </a:pPr>
            <a:r>
              <a:rPr sz="2600" b="0">
                <a:solidFill>
                  <a:srgbClr val="A9DDD8"/>
                </a:solidFill>
              </a:rPr>
              <a:t>A smaller, source-visible flow gives the team a safer starting point.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D3B4AD-465C-4BB9-A330-4D5F2B64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19250"/>
            <a:ext cx="3333750" cy="2762250"/>
          </a:xfrm>
          <a:prstGeom xmlns:a="http://schemas.openxmlformats.org/drawingml/2006/main" prst="roundRect">
            <a:avLst>
              <a:gd name="adj" fmla="val 4138"/>
            </a:avLst>
          </a:prstGeom>
          <a:solidFill xmlns:a="http://schemas.openxmlformats.org/drawingml/2006/main">
            <a:srgbClr val="DDF1EE"/>
          </a:solidFill>
          <a:ln xmlns:a="http://schemas.openxmlformats.org/drawingml/2006/main" w="11430">
            <a:solidFill>
              <a:srgbClr val="A9DD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A77602-8500-440E-9868-CF373610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38375"/>
            <a:ext cx="2286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REPORT</a:t>
            </a:r>
          </a:p>
          <a:p xmlns:a="http://schemas.openxmlformats.org/drawingml/2006/main">
            <a:pPr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REVIEW</a:t>
            </a:r>
          </a:p>
          <a:p xmlns:a="http://schemas.openxmlformats.org/drawingml/2006/main">
            <a:pPr>
              <a:defRPr sz="3000" b="1">
                <a:solidFill>
                  <a:srgbClr val="103B4A"/>
                </a:solidFill>
              </a:defRPr>
            </a:pPr>
            <a:r>
              <a:rPr sz="3000" b="1">
                <a:solidFill>
                  <a:srgbClr val="103B4A"/>
                </a:solidFill>
              </a:rPr>
              <a:t>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29B1CA-B084-442A-8A3A-D6E6FFC9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29250"/>
            <a:ext cx="762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Questions and discussion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00908A-87C3-4A5B-A830-435C5121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457950"/>
            <a:ext cx="109347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D4D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A055D5-3D61-48EC-AC75-AE4E34D3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62725"/>
            <a:ext cx="428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TEAM 04  |  MARINE OBSERVATION MVP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CD9BA6-FAF3-4FFA-9B24-C3071A07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6272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00" b="1">
                <a:solidFill>
                  <a:srgbClr val="5E747C"/>
                </a:solidFill>
              </a:defRPr>
            </a:pPr>
            <a:r>
              <a:rPr sz="1000" b="1">
                <a:solidFill>
                  <a:srgbClr val="5E747C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559815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2026-08-14T05:43:17.1070000Z</dcterms:created>
  <dcterms:modified xsi:type="dcterms:W3CDTF">2026-08-14T05:43:17.1070000Z</dcterms:modified>
</coreProperties>
</file>